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44cebbd6-71b1-40cd-d2e3-f98020754825}">
          <p14:sldIdLst>
            <p14:sldId id="256"/>
            <p14:sldId id="257"/>
            <p14:sldId id="258"/>
            <p14:sldId id="259"/>
          </p14:sldIdLst>
        </p14:section>
        <p14:section name="Machine learning" id="{9c6eefb2-9980-cd83-7502-28fb300d00ec}">
          <p14:sldIdLst>
            <p14:sldId id="260"/>
            <p14:sldId id="261"/>
          </p14:sldIdLst>
        </p14:section>
        <p14:section name="Optimisation" id="{5c07d86b-5047-7145-fcc9-eab68a88abc3}">
          <p14:sldIdLst>
            <p14:sldId id="262"/>
            <p14:sldId id="263"/>
          </p14:sldIdLst>
        </p14:section>
        <p14:section name="Demo" id="{7e3788a5-621b-49dc-e455-8b67632fb961}">
          <p14:sldIdLst>
            <p14:sldId id="264"/>
          </p14:sldIdLst>
        </p14:section>
        <p14:section name="Results" id="{4e0d6069-cdb5-ec32-d68f-a78d67c32f1e}">
          <p14:sldIdLst>
            <p14:sldId id="265"/>
            <p14:sldId id="266"/>
            <p14:sldId id="267"/>
          </p14:sldIdLst>
        </p14:section>
        <p14:section name="Engineering and insights" id="{d3452ea6-9fad-50d4-1138-02e7dc93793c}">
          <p14:sldIdLst>
            <p14:sldId id="268"/>
            <p14:sldId id="269"/>
            <p14:sldId id="270"/>
            <p14:sldId id="271"/>
          </p14:sldIdLst>
        </p14:section>
        <p14:section name="Close" id="{81902bf9-af6c-e97f-ba21-0570967e4183}">
          <p14:sldIdLst>
            <p14:sldId id="272"/>
          </p14:sldIdLst>
        </p14:section>
        <p14:section name="Backup" id="{971bdd01-9828-e536-5869-2bfa6ee682d8}">
          <p14:sldIdLst>
            <p14:sldId id="273"/>
            <p14:sldId id="274"/>
            <p14:sldId id="275"/>
            <p14:sldId id="276"/>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Fixed 60 s (untuned)</c:v>
                </c:pt>
              </c:strCache>
            </c:strRef>
          </c:tx>
          <c:spPr>
            <a:solidFill>
              <a:srgbClr val="C5CCD3"/>
            </a:solidFill>
            <a:effectLst/>
          </c:spPr>
          <c:invertIfNegative val="0"/>
          <c:dLbls>
            <c:numFmt formatCode="0" sourceLinked="0"/>
            <c:txPr>
              <a:bodyPr/>
              <a:lstStyle/>
              <a:p>
                <a:pPr>
                  <a:defRPr b="0" i="0" strike="noStrike" sz="900" u="none">
                    <a:solidFill>
                      <a:srgbClr val="1F2933"/>
                    </a:solidFill>
                    <a:latin typeface="+mn-lt"/>
                  </a:defRPr>
                </a:pPr>
              </a:p>
            </c:txPr>
            <c:showLegendKey val="0"/>
            <c:showVal val="1"/>
            <c:showCatName val="0"/>
            <c:showSerName val="0"/>
            <c:showPercent val="0"/>
            <c:showBubbleSize val="0"/>
            <c:showLeaderLines val="0"/>
          </c:dLbls>
          <c:cat>
            <c:multiLvlStrRef>
              <c:f>Sheet1!$A$2:$A$6</c:f>
              <c:multiLvlStrCache>
                <c:ptCount val="5"/>
                <c:lvl>
                  <c:pt idx="0">
                    <c:v>Typical morning</c:v>
                  </c:pt>
                  <c:pt idx="1">
                    <c:v>Busy morning</c:v>
                  </c:pt>
                  <c:pt idx="2">
                    <c:v>Storm</c:v>
                  </c:pt>
                  <c:pt idx="3">
                    <c:v>Evening</c:v>
                  </c:pt>
                  <c:pt idx="4">
                    <c:v>Accident</c:v>
                  </c:pt>
                </c:lvl>
              </c:multiLvlStrCache>
            </c:multiLvlStrRef>
          </c:cat>
          <c:val>
            <c:numRef>
              <c:f>Sheet1!$B$2:$B$6</c:f>
              <c:numCache>
                <c:formatCode>General</c:formatCode>
                <c:ptCount val="5"/>
                <c:pt idx="0">
                  <c:v>82.6</c:v>
                </c:pt>
                <c:pt idx="1">
                  <c:v>265.5</c:v>
                </c:pt>
                <c:pt idx="2">
                  <c:v>294.7</c:v>
                </c:pt>
                <c:pt idx="3">
                  <c:v>245.4</c:v>
                </c:pt>
                <c:pt idx="4">
                  <c:v>290.4</c:v>
                </c:pt>
              </c:numCache>
            </c:numRef>
          </c:val>
        </c:ser>
        <c:ser>
          <c:idx val="1"/>
          <c:order val="1"/>
          <c:tx>
            <c:strRef>
              <c:f>Sheet1!$C$1</c:f>
              <c:strCache>
                <c:ptCount val="1"/>
                <c:pt idx="0">
                  <c:v>Fixed, tuned</c:v>
                </c:pt>
              </c:strCache>
            </c:strRef>
          </c:tx>
          <c:spPr>
            <a:solidFill>
              <a:srgbClr val="9AA5B1"/>
            </a:solidFill>
            <a:effectLst/>
          </c:spPr>
          <c:invertIfNegative val="0"/>
          <c:dLbls>
            <c:numFmt formatCode="0" sourceLinked="0"/>
            <c:txPr>
              <a:bodyPr/>
              <a:lstStyle/>
              <a:p>
                <a:pPr>
                  <a:defRPr b="0" i="0" strike="noStrike" sz="900" u="none">
                    <a:solidFill>
                      <a:srgbClr val="1F2933"/>
                    </a:solidFill>
                    <a:latin typeface="+mn-lt"/>
                  </a:defRPr>
                </a:pPr>
              </a:p>
            </c:txPr>
            <c:showLegendKey val="0"/>
            <c:showVal val="1"/>
            <c:showCatName val="0"/>
            <c:showSerName val="0"/>
            <c:showPercent val="0"/>
            <c:showBubbleSize val="0"/>
            <c:showLeaderLines val="0"/>
          </c:dLbls>
          <c:cat>
            <c:multiLvlStrRef>
              <c:f>Sheet1!$A$2:$A$6</c:f>
              <c:multiLvlStrCache>
                <c:ptCount val="5"/>
                <c:lvl>
                  <c:pt idx="0">
                    <c:v>Typical morning</c:v>
                  </c:pt>
                  <c:pt idx="1">
                    <c:v>Busy morning</c:v>
                  </c:pt>
                  <c:pt idx="2">
                    <c:v>Storm</c:v>
                  </c:pt>
                  <c:pt idx="3">
                    <c:v>Evening</c:v>
                  </c:pt>
                  <c:pt idx="4">
                    <c:v>Accident</c:v>
                  </c:pt>
                </c:lvl>
              </c:multiLvlStrCache>
            </c:multiLvlStrRef>
          </c:cat>
          <c:val>
            <c:numRef>
              <c:f>Sheet1!$C$2:$C$6</c:f>
              <c:numCache>
                <c:formatCode>General</c:formatCode>
                <c:ptCount val="5"/>
                <c:pt idx="0">
                  <c:v>59.9</c:v>
                </c:pt>
                <c:pt idx="1">
                  <c:v>142.1</c:v>
                </c:pt>
                <c:pt idx="2">
                  <c:v>199.6</c:v>
                </c:pt>
                <c:pt idx="3">
                  <c:v>95</c:v>
                </c:pt>
                <c:pt idx="4">
                  <c:v>199.8</c:v>
                </c:pt>
              </c:numCache>
            </c:numRef>
          </c:val>
        </c:ser>
        <c:ser>
          <c:idx val="2"/>
          <c:order val="2"/>
          <c:tx>
            <c:strRef>
              <c:f>Sheet1!$D$1</c:f>
              <c:strCache>
                <c:ptCount val="1"/>
                <c:pt idx="0">
                  <c:v>Time-of-day</c:v>
                </c:pt>
              </c:strCache>
            </c:strRef>
          </c:tx>
          <c:spPr>
            <a:solidFill>
              <a:srgbClr val="7B8794"/>
            </a:solidFill>
            <a:effectLst/>
          </c:spPr>
          <c:invertIfNegative val="0"/>
          <c:dLbls>
            <c:numFmt formatCode="0" sourceLinked="0"/>
            <c:txPr>
              <a:bodyPr/>
              <a:lstStyle/>
              <a:p>
                <a:pPr>
                  <a:defRPr b="0" i="0" strike="noStrike" sz="900" u="none">
                    <a:solidFill>
                      <a:srgbClr val="1F2933"/>
                    </a:solidFill>
                    <a:latin typeface="+mn-lt"/>
                  </a:defRPr>
                </a:pPr>
              </a:p>
            </c:txPr>
            <c:showLegendKey val="0"/>
            <c:showVal val="1"/>
            <c:showCatName val="0"/>
            <c:showSerName val="0"/>
            <c:showPercent val="0"/>
            <c:showBubbleSize val="0"/>
            <c:showLeaderLines val="0"/>
          </c:dLbls>
          <c:cat>
            <c:multiLvlStrRef>
              <c:f>Sheet1!$A$2:$A$6</c:f>
              <c:multiLvlStrCache>
                <c:ptCount val="5"/>
                <c:lvl>
                  <c:pt idx="0">
                    <c:v>Typical morning</c:v>
                  </c:pt>
                  <c:pt idx="1">
                    <c:v>Busy morning</c:v>
                  </c:pt>
                  <c:pt idx="2">
                    <c:v>Storm</c:v>
                  </c:pt>
                  <c:pt idx="3">
                    <c:v>Evening</c:v>
                  </c:pt>
                  <c:pt idx="4">
                    <c:v>Accident</c:v>
                  </c:pt>
                </c:lvl>
              </c:multiLvlStrCache>
            </c:multiLvlStrRef>
          </c:cat>
          <c:val>
            <c:numRef>
              <c:f>Sheet1!$D$2:$D$6</c:f>
              <c:numCache>
                <c:formatCode>General</c:formatCode>
                <c:ptCount val="5"/>
                <c:pt idx="0">
                  <c:v>55.5</c:v>
                </c:pt>
                <c:pt idx="1">
                  <c:v>140.7</c:v>
                </c:pt>
                <c:pt idx="2">
                  <c:v>197.9</c:v>
                </c:pt>
                <c:pt idx="3">
                  <c:v>92.7</c:v>
                </c:pt>
                <c:pt idx="4">
                  <c:v>197.1</c:v>
                </c:pt>
              </c:numCache>
            </c:numRef>
          </c:val>
        </c:ser>
        <c:ser>
          <c:idx val="3"/>
          <c:order val="3"/>
          <c:tx>
            <c:strRef>
              <c:f>Sheet1!$E$1</c:f>
              <c:strCache>
                <c:ptCount val="1"/>
                <c:pt idx="0">
                  <c:v>Max-pressure</c:v>
                </c:pt>
              </c:strCache>
            </c:strRef>
          </c:tx>
          <c:spPr>
            <a:solidFill>
              <a:srgbClr val="3E4C59"/>
            </a:solidFill>
            <a:effectLst/>
          </c:spPr>
          <c:invertIfNegative val="0"/>
          <c:dLbls>
            <c:numFmt formatCode="0" sourceLinked="0"/>
            <c:txPr>
              <a:bodyPr/>
              <a:lstStyle/>
              <a:p>
                <a:pPr>
                  <a:defRPr b="0" i="0" strike="noStrike" sz="900" u="none">
                    <a:solidFill>
                      <a:srgbClr val="1F2933"/>
                    </a:solidFill>
                    <a:latin typeface="+mn-lt"/>
                  </a:defRPr>
                </a:pPr>
              </a:p>
            </c:txPr>
            <c:showLegendKey val="0"/>
            <c:showVal val="1"/>
            <c:showCatName val="0"/>
            <c:showSerName val="0"/>
            <c:showPercent val="0"/>
            <c:showBubbleSize val="0"/>
            <c:showLeaderLines val="0"/>
          </c:dLbls>
          <c:cat>
            <c:multiLvlStrRef>
              <c:f>Sheet1!$A$2:$A$6</c:f>
              <c:multiLvlStrCache>
                <c:ptCount val="5"/>
                <c:lvl>
                  <c:pt idx="0">
                    <c:v>Typical morning</c:v>
                  </c:pt>
                  <c:pt idx="1">
                    <c:v>Busy morning</c:v>
                  </c:pt>
                  <c:pt idx="2">
                    <c:v>Storm</c:v>
                  </c:pt>
                  <c:pt idx="3">
                    <c:v>Evening</c:v>
                  </c:pt>
                  <c:pt idx="4">
                    <c:v>Accident</c:v>
                  </c:pt>
                </c:lvl>
              </c:multiLvlStrCache>
            </c:multiLvlStrRef>
          </c:cat>
          <c:val>
            <c:numRef>
              <c:f>Sheet1!$E$2:$E$6</c:f>
              <c:numCache>
                <c:formatCode>General</c:formatCode>
                <c:ptCount val="5"/>
                <c:pt idx="0">
                  <c:v>58.3</c:v>
                </c:pt>
                <c:pt idx="1">
                  <c:v>177.7</c:v>
                </c:pt>
                <c:pt idx="2">
                  <c:v>229.7</c:v>
                </c:pt>
                <c:pt idx="3">
                  <c:v>137.3</c:v>
                </c:pt>
                <c:pt idx="4">
                  <c:v>243.7</c:v>
                </c:pt>
              </c:numCache>
            </c:numRef>
          </c:val>
        </c:ser>
        <c:ser>
          <c:idx val="4"/>
          <c:order val="4"/>
          <c:tx>
            <c:strRef>
              <c:f>Sheet1!$F$1</c:f>
              <c:strCache>
                <c:ptCount val="1"/>
                <c:pt idx="0">
                  <c:v>Optimiser, live forecast</c:v>
                </c:pt>
              </c:strCache>
            </c:strRef>
          </c:tx>
          <c:spPr>
            <a:solidFill>
              <a:srgbClr val="F5A300"/>
            </a:solidFill>
            <a:effectLst/>
          </c:spPr>
          <c:invertIfNegative val="0"/>
          <c:dLbls>
            <c:numFmt formatCode="0" sourceLinked="0"/>
            <c:txPr>
              <a:bodyPr/>
              <a:lstStyle/>
              <a:p>
                <a:pPr>
                  <a:defRPr b="0" i="0" strike="noStrike" sz="900" u="none">
                    <a:solidFill>
                      <a:srgbClr val="1F2933"/>
                    </a:solidFill>
                    <a:latin typeface="+mn-lt"/>
                  </a:defRPr>
                </a:pPr>
              </a:p>
            </c:txPr>
            <c:showLegendKey val="0"/>
            <c:showVal val="1"/>
            <c:showCatName val="0"/>
            <c:showSerName val="0"/>
            <c:showPercent val="0"/>
            <c:showBubbleSize val="0"/>
            <c:showLeaderLines val="0"/>
          </c:dLbls>
          <c:cat>
            <c:multiLvlStrRef>
              <c:f>Sheet1!$A$2:$A$6</c:f>
              <c:multiLvlStrCache>
                <c:ptCount val="5"/>
                <c:lvl>
                  <c:pt idx="0">
                    <c:v>Typical morning</c:v>
                  </c:pt>
                  <c:pt idx="1">
                    <c:v>Busy morning</c:v>
                  </c:pt>
                  <c:pt idx="2">
                    <c:v>Storm</c:v>
                  </c:pt>
                  <c:pt idx="3">
                    <c:v>Evening</c:v>
                  </c:pt>
                  <c:pt idx="4">
                    <c:v>Accident</c:v>
                  </c:pt>
                </c:lvl>
              </c:multiLvlStrCache>
            </c:multiLvlStrRef>
          </c:cat>
          <c:val>
            <c:numRef>
              <c:f>Sheet1!$F$2:$F$6</c:f>
              <c:numCache>
                <c:formatCode>General</c:formatCode>
                <c:ptCount val="5"/>
                <c:pt idx="0">
                  <c:v>46.5</c:v>
                </c:pt>
                <c:pt idx="1">
                  <c:v>111.3</c:v>
                </c:pt>
                <c:pt idx="2">
                  <c:v>167.7</c:v>
                </c:pt>
                <c:pt idx="3">
                  <c:v>91.7</c:v>
                </c:pt>
                <c:pt idx="4">
                  <c:v>206.6</c:v>
                </c:pt>
              </c:numCache>
            </c:numRef>
          </c:val>
        </c:ser>
        <c:dLbls>
          <c:numFmt formatCode="0" sourceLinked="0"/>
          <c:txPr>
            <a:bodyPr/>
            <a:lstStyle/>
            <a:p>
              <a:pPr>
                <a:defRPr b="0" i="0" strike="noStrike" sz="900" u="none">
                  <a:solidFill>
                    <a:srgbClr val="1F2933"/>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E4C59"/>
                </a:solidFill>
                <a:latin typeface="+mn-lt"/>
              </a:defRPr>
            </a:pPr>
            <a:endParaRPr lang="en-US"/>
          </a:p>
        </c:txPr>
        <c:crossAx val="2094734552"/>
        <c:crosses val="autoZero"/>
        <c:auto val="1"/>
        <c:lblAlgn val="ctr"/>
        <c:noMultiLvlLbl val="1"/>
      </c:catAx>
      <c:valAx>
        <c:axId val="2094734552"/>
        <c:scaling>
          <c:orientation val="minMax"/>
          <c:max val="300"/>
          <c:min val="0"/>
        </c:scaling>
        <c:delete val="0"/>
        <c:axPos val="l"/>
        <c:majorGridlines>
          <c:spPr>
            <a:ln w="6350" cap="flat">
              <a:solidFill>
                <a:srgbClr val="E4E7EB"/>
              </a:solidFill>
              <a:prstDash val="solid"/>
              <a:round/>
            </a:ln>
          </c:spPr>
        </c:majorGridlines>
        <c:title>
          <c:tx>
            <c:rich>
              <a:bodyPr/>
              <a:lstStyle/>
              <a:p>
                <a:pPr>
                  <a:defRPr sz="1200" b="0" i="0" u="none" strike="noStrike">
                    <a:solidFill>
                      <a:srgbClr val="3E4C59"/>
                    </a:solidFill>
                    <a:latin typeface="+mn-lt"/>
                  </a:defRPr>
                </a:pPr>
                <a:r>
                  <a:rPr sz="1200" b="0" i="0" u="none" strike="noStrike">
                    <a:solidFill>
                      <a:srgbClr val="3E4C59"/>
                    </a:solidFill>
                    <a:latin typeface="+mn-lt"/>
                  </a:rPr>
                  <a:t>Mean delay per car (s)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E4C59"/>
                </a:solidFill>
                <a:latin typeface="+mn-lt"/>
              </a:defRPr>
            </a:pPr>
            <a:endParaRPr lang="en-US"/>
          </a:p>
        </c:txPr>
        <c:crossAx val="2094734554"/>
        <c:crosses val="autoZero"/>
        <c:crossBetween val="between"/>
        <c:majorUnit val="50"/>
      </c:valAx>
      <c:spPr>
        <a:noFill/>
        <a:ln>
          <a:noFill/>
        </a:ln>
        <a:effectLst/>
      </c:spPr>
    </c:plotArea>
    <c:legend>
      <c:legendPos val="b"/>
      <c:overlay val="0"/>
      <c:txPr>
        <a:bodyPr/>
        <a:lstStyle/>
        <a:p>
          <a:pPr>
            <a:defRPr sz="1200">
              <a:solidFill>
                <a:srgbClr val="3E4C5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Mean solve time (ms)</c:v>
                </c:pt>
              </c:strCache>
            </c:strRef>
          </c:tx>
          <c:spPr>
            <a:solidFill>
              <a:srgbClr val="F5A300"/>
            </a:solidFill>
            <a:effectLst/>
          </c:spPr>
          <c:invertIfNegative val="0"/>
          <c:dLbls>
            <c:numFmt formatCode="#,##0" sourceLinked="0"/>
            <c:txPr>
              <a:bodyPr/>
              <a:lstStyle/>
              <a:p>
                <a:pPr>
                  <a:defRPr b="0" i="0" strike="noStrike" sz="1200" u="none">
                    <a:solidFill>
                      <a:srgbClr val="1F2933"/>
                    </a:solidFill>
                    <a:latin typeface="+mn-lt"/>
                  </a:defRPr>
                </a:pPr>
              </a:p>
            </c:txPr>
            <c:showLegendKey val="0"/>
            <c:showVal val="1"/>
            <c:showCatName val="0"/>
            <c:showSerName val="0"/>
            <c:showPercent val="0"/>
            <c:showBubbleSize val="0"/>
            <c:showLeaderLines val="0"/>
          </c:dLbls>
          <c:cat>
            <c:multiLvlStrRef>
              <c:f>Sheet1!$A$2:$A$5</c:f>
              <c:multiLvlStrCache>
                <c:ptCount val="4"/>
                <c:lvl>
                  <c:pt idx="0">
                    <c:v>2×2 (4)</c:v>
                  </c:pt>
                  <c:pt idx="1">
                    <c:v>4×4 (16)</c:v>
                  </c:pt>
                  <c:pt idx="2">
                    <c:v>6×6 (36)</c:v>
                  </c:pt>
                  <c:pt idx="3">
                    <c:v>10×10 (100)</c:v>
                  </c:pt>
                </c:lvl>
              </c:multiLvlStrCache>
            </c:multiLvlStrRef>
          </c:cat>
          <c:val>
            <c:numRef>
              <c:f>Sheet1!$B$2:$B$5</c:f>
              <c:numCache>
                <c:formatCode>General</c:formatCode>
                <c:ptCount val="4"/>
                <c:pt idx="0">
                  <c:v>50</c:v>
                </c:pt>
                <c:pt idx="1">
                  <c:v>231</c:v>
                </c:pt>
                <c:pt idx="2">
                  <c:v>568</c:v>
                </c:pt>
                <c:pt idx="3">
                  <c:v>1946</c:v>
                </c:pt>
              </c:numCache>
            </c:numRef>
          </c:val>
        </c:ser>
        <c:dLbls>
          <c:numFmt formatCode="#,##0" sourceLinked="0"/>
          <c:txPr>
            <a:bodyPr/>
            <a:lstStyle/>
            <a:p>
              <a:pPr>
                <a:defRPr b="0" i="0" strike="noStrike" sz="1200" u="none">
                  <a:solidFill>
                    <a:srgbClr val="1F2933"/>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title>
          <c:tx>
            <c:rich>
              <a:bodyPr/>
              <a:lstStyle/>
              <a:p>
                <a:pPr>
                  <a:defRPr sz="1200" b="0" i="0" u="none" strike="noStrike">
                    <a:solidFill>
                      <a:srgbClr val="3E4C59"/>
                    </a:solidFill>
                    <a:latin typeface="+mn-lt"/>
                  </a:defRPr>
                </a:pPr>
                <a:r>
                  <a:rPr sz="1200" b="0" i="0" u="none" strike="noStrike">
                    <a:solidFill>
                      <a:srgbClr val="3E4C59"/>
                    </a:solidFill>
                    <a:latin typeface="+mn-lt"/>
                  </a:rPr>
                  <a:t>Grid (intersections)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E4C59"/>
                </a:solidFill>
                <a:latin typeface="+mn-lt"/>
              </a:defRPr>
            </a:pPr>
            <a:endParaRPr lang="en-US"/>
          </a:p>
        </c:txPr>
        <c:crossAx val="2094734552"/>
        <c:crosses val="autoZero"/>
        <c:auto val="1"/>
        <c:lblAlgn val="ctr"/>
        <c:noMultiLvlLbl val="1"/>
      </c:catAx>
      <c:valAx>
        <c:axId val="2094734552"/>
        <c:scaling>
          <c:orientation val="minMax"/>
          <c:max val="2500"/>
          <c:min val="0"/>
        </c:scaling>
        <c:delete val="0"/>
        <c:axPos val="l"/>
        <c:majorGridlines>
          <c:spPr>
            <a:ln w="6350" cap="flat">
              <a:solidFill>
                <a:srgbClr val="E4E7EB"/>
              </a:solidFill>
              <a:prstDash val="solid"/>
              <a:round/>
            </a:ln>
          </c:spPr>
        </c:majorGridlines>
        <c:title>
          <c:tx>
            <c:rich>
              <a:bodyPr/>
              <a:lstStyle/>
              <a:p>
                <a:pPr>
                  <a:defRPr sz="1200" b="0" i="0" u="none" strike="noStrike">
                    <a:solidFill>
                      <a:srgbClr val="3E4C59"/>
                    </a:solidFill>
                    <a:latin typeface="+mn-lt"/>
                  </a:defRPr>
                </a:pPr>
                <a:r>
                  <a:rPr sz="1200" b="0" i="0" u="none" strike="noStrike">
                    <a:solidFill>
                      <a:srgbClr val="3E4C59"/>
                    </a:solidFill>
                    <a:latin typeface="+mn-lt"/>
                  </a:rPr>
                  <a:t>Mean solve time per decision (ms)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E4C59"/>
                </a:solidFill>
                <a:latin typeface="+mn-lt"/>
              </a:defRPr>
            </a:pPr>
            <a:endParaRPr lang="en-US"/>
          </a:p>
        </c:txPr>
        <c:crossAx val="2094734554"/>
        <c:crosses val="autoZero"/>
        <c:crossBetween val="between"/>
        <c:majorUnit val="50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Smart Traffic Signal Control: a forecast plus a convex optimisation on a simulated city grid. I chose Problem 1.
Timing for the 15 minutes, following the brief: about 2 minutes on the problem and approach, 5 minutes live demo, 5 minutes on results, 3 minutes on insights. Then 15 minutes of questions.
Each slide has a small tag in the corner saying which rubric item it covers, and slide 16 maps the whole rubric to the deck and the code. Backup slides after the end slide cover the details I expect to be asked about: the car-following equation, Webster's formula, the censoring guard, seed conventions, how the baselines were tuned, AI use and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for a traffic-signal system on a network of at least four intersections that simulates traffic, predicts congestion with ML, optimises signal timing, and reacts to events. Four success criteria, and here is where each stands.
One: 20% or more improvement over fixed timing. Against the untuned 60-second plan it is met in every scenario, 29 to 63 percent. Against a fixed cycle I tuned myself it is met on the typical and busy mornings, 22 percent each, close on the storm at 16, and not met in the evening or the accident. I tuned the baselines deliberately hard, so I treat the tuned comparison as the honest one.
Two: four or more intersections. The network is 2 by 2, generated from the grid size, and I timed the optimiser up to 10 by 10.
Three: real-time visualisation. It is a replay viewer, not a live feed, which I show in the demo.
Four: response to accidents. This is the weakest: the controller limits damage but cannot remove the blockage. Slide 12 has the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system on one slide. The simulator is the fixed testbed. It generates historical days; the forecaster is fitted on those days; the optimiser uses the forecast plus the live queue counts to plan the signals; the signals act on the simulator.
The architecture runs on three timescales. Every second there is reactive actuation: phase switching, minimum green, lost time, and a gap-out that ends a green early when its approaches are empty and the cross street is waiting. Every minute the strategy layer solves a quadratic program for cycle length and green splits over a 15-minute horizon, using the forecast of the next three 5-minute windows plus current state. Every day the forecaster is refitted on history.
The forecaster only predicts arrival rates at the 8 entry roads. Interior flows come from the model and from neighbour messages. The loop at the bottom is the live state: camera counts within 150 metres of each stop line, and sensors at the entries and exits.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wrote the simulator rather than use the starter code, because I wanted queues, spillback and saturation flow to emerge from vehicle dynamics instead of being hard-coded.
Cars follow the Intelligent Driver Model from Treiber, Hennecke and Helbing, 2000, stepped every half second. That gives gradual start-up and braking. Saturation flow is not an input: I measured it at 0.40 vehicles per second, and in full rain it falls to 0.33, a 17 percent drop, because rain cuts free speed, adds headway and lowers acceleration.
The network is a 2 by 2 grid, one lane per approach, 200-metre internal links and 400-metre entry roads. Cars turn 70 percent straight, 15 left, 15 right.
Demand is Poisson with a time-varying rate: time-of-day profile, weather and events. The rain and accident rates are assumptions, not calibrated to data, and I say so on the limitations slide.
Common random numbers: each vehicle's arrival and turns are drawn from seeded streams, so every controller sees identical demand. That is what makes the paired comparisons later meaningful.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forecaster predicts the arrival rate at each of the 8 entry roads for the next three 5-minute windows. It runs once per window, not per second, because at a half-second step arrivals are pure Poisson noise and nothing downstream could act on a per-second forecast.
This is the model ladder, error measured as mean absolute error over the mean true rate, 5 to 30 minutes ahead, on held-out days. An hour-of-day profile gets 9.8 percent. Adding a two-parameter rain effect gets 9.6. A Poisson GLM with entry-by-clock interactions plus recent sensor counts and a censoring guard gets 6.8. Gradient boosting with Poisson loss gets the same 6.8, which is why I kept the simpler, more explainable GLM and used boosting as a check. The last row is an oracle for 'now', carrying the current true rate forward; it also gets 6.8.
Feature engineering: clock, weekday or weekend, a noisy rain forecast and recent entry-sensor counts. The ablation on the next slide shows all the skill comes from the live counts, about 0.50 against the profile. Entry-road occupancy added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is by whole days in time order, never random rows: 40 training days, 10 validation, 10 test, plus 10 fresh days never used for any decision. Random rows would leak a day's level into training.
The chart shows skill against the hour-of-day profile on three sets of days. On validation days the live-count models look great, around 0.5. Then on the first test days, the unguarded GLM drops to minus 1.23 and boosting to minus 2.10: worse than the plain profile.
That was my original mistake, in two parts. First, I muddled labels and inputs: the README said 'trained on observed counts' while the design trained on the true rate. The plain statement is: labels are the true rate, available only because this is a simulator, and inputs are only what a deployed system could see. Second, censoring: when an entry road fills, the sensor reports the blockage, not the demand. On test day 51, a gridlock, every learned model collapsed.
The fix is a guard. When any entry road holds 55 or more cars, capacity about 61, fall back to the profile times a multiplier built from uncensored data. I chose 55 after seeing the failure, so I confirmed it on 10 fresh days: guarded 6.6 to 6.8 percent, unguarded 8.4 to 8.5. Limits: it is our own demand model, so this shows recovery of a process we wrote, not real-world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formulation, worth ten points, so let me go through it carefully.
Decision variable: x for each intersection and step, the north-south green share; the east-west share is one minus x. State: q, the cars queued on each link, initialised from the camera counts right now. Dynamics: store-and-forward, queue next step equals queue plus arrivals minus discharge. Discharge is capped two ways: by the saturation flow s times the step length D times the green fraction, and by the cars actually there. Arrivals are the forecast on entry links, plus turning-weighted discharge from upstream links.
Constraints: green between 8 and 60 seconds, and a 4-second lost time per switch, which bound x. Queues must fit the storage, as a soft constraint with a spillback slack.
Objective: total queue as delay, plus a quadratic queue term that acts as fairness by penalising long queues, plus a terminal queue weight, a spillback penalty, and a switching penalty on changes in x.
Cycle length is not optimised in the QP; it comes from Webster's formula on the smoothed forecast flows, clamped to 40 to 120 seconds and rounded to 5. The controller is receding horizon: 15 steps of 60 seconds, apply the first step, re-plan.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 convex quadratic program, and why not something fancier.
First, it is convex, so each solve is globally optimal and fast: about 50 milliseconds for the four-intersection grid, and 1.9 seconds for 100 intersections, against a 60-second decision interval. It is easy to explain, and every number can be traced.
Second, no mixed-integer program is needed. Discrete alternatives like phase sequencing, matching, or path search as in the warehouse problem are not required, because the only decisions are continuous green shares.
Third, model-based control rather than reinforcement learning. The queue model is known and linear, so I do not have to learn it. I did not attempt RL, and I say that plainly. Multi-agent RL is the natural next step if the queue model stops being accurate, for example with richer geometry or lanes.
The solver stack is CVXPY with the Clarabel solver; both are in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browser now: outputs/demo_viewer.html. About 5 minutes.
The viewer shows four clips: a normal hour, the morning rush, the storm and the accident. In each, the tuned fixed plan and the optimiser run side by side on identical traffic, because of the common random numbers. The clip windows were chosen by a stated rule, the worst quarter-hour of the fixed plan across the held-out seeds, so I am not cherry-picking flattering moments. Each clip is one random day, and the viewer shows the 3-run scenario average next to it, so do not read too much into a single clip.
What to point at: same cars, only the logic differs. In the morning rush the queues and delay charts diverge as demand climbs. In the storm, rain cuts saturation flow by about 17 percent. In the accident, both controllers suffer; the blockage dominates, and the optimiser is about level with fixed timing. That is the honest picture, and I will come back to it in the results.
If the viewer fails, the file is pre-built in the outputs folder; or go straight to the results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Held-out results, seeds 200 to 202, mean delay per car in seconds, lower is better. Five controllers, five scenarios. The amber bars are the optimiser with the live forecast.
Against the untuned 60-second plan the optimiser improves 44 percent on the typical morning, 58 on the busy morning, 43 on the storm, 63 in the evening and 29 in the accident, so the brief's 20 percent target is met everywhere against that baseline.
Against my tuned fixed cycle, the honest comparison, it is 22, 22, 16, 3 and minus 3 percent. Typical and busy mornings meet the target, the storm is close, the evening and the accident do not. The tuned baselines are deliberately strong; real fixed plans are rarely tuned this well.
The caveat that matters: three seeds per scenario is small. In the paired differences against the tuned plan, only the typical and storm intervals exclude zero. On ten seeds the typical-morning saving is 17.3 seconds, 24 percent.
Throughput is unchanged between controllers; they all clear the same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experiments isolate where the gain comes from, and the answer is not the one the brief expects.
First, an ablation. The optimiser also has a reactive gap-out layer that fixed plans lack. Turning it off gives 13, 20, 13, 2 and minus 18 percent against the tuned fixed cycle, versus 22, 22, 16, 3 and minus 3 with it. In light traffic about 40 percent of the gain is the reactive layer; at the peak almost all of it is the QP. Gap-out also matters in the accident.
Second, a value-of-information ladder. I gave the optimiser four information levels: last window repeated, calendar and weather only, the live learned forecast, and a perfect oracle. Persistence, the learned forecast and the oracle are within noise of each other. Only the patterns-only version is worse, and only in the accident, 245 against 207 seconds.
So the message, stated plainly: the gain comes from planning on live queue counts with a queue model. The learned forecast is much better as a forecast, 6.8 against 9.8 percent error, but adds little to control at a 15-minute horizon, because demand is already visible in the queues. I do not want to oversell the 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Accidents are where I was most careful, because three seeds proved too few. This uses ten seeds, 200 to 209. The accident scenario is the typical morning plus the accident with identical demand per seed, so the accident's own cost is the difference between the two runs.
Result: the accident adds about 170 to 194 seconds per car under the tuned plans and the optimiser, and 199 under max-pressure. That is 70 to 78 percent of all delay in that scenario. Cars behind a 15-minute single-lane blockage wait for it to clear, and there is no rerouting, so no signal plan can remove that. The controller's job is damage limitation. The optimiser with the live forecast is 6.4 plus or minus 18.6 seconds worse than the tuned fixed cycle, which is not significant: level at best.
Gridlock is the main robustness risk. On one seed each, five controllers locked the network: the untuned fixed plan and four optimiser variants. The default optimiser did not on these ten seeds, which may be luck, and nothing guarantees it cannot.
I also tried two add-ons: measured per-road capacity and a hard space limit. Together they looked good on seeds 200 to 202, 206.6 down to 198.2 seconds, but on seeds 203 to 209 they were much worse, 420 against 267, and the space limit gridlocked seed 207. They stay in the code, off by default. That is a lesson about three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Scalability: one central QP per decision. Mean solve time is 50 milliseconds for the 2 by 2 grid, 231 for 4 by 4, 568 for 6 by 6 and 1.9 seconds for 10 by 10, with a maximum of 2.5 seconds. That is roughly 20 milliseconds per intersection against a 60-second decision interval, so even 100 intersections fit with a wide margin.
One honest caveat: the larger-grid runs used the model-free persistence forecast, because the learned forecaster is fitted to the 2 by 2 grid's eight entry roads. On those grids delay was about equal to the fixed plan, since nothing was tuned for them. This slide shows the solver scales, not that the gains transfer.
Testing: 26 tests. Conservation of vehicles, common random numbers, that features use only the past, that splits are by whole days, optimiser constraints and bounds, accident behaviour, and an end-to-end smoke test.
Reproducibility: one entry point, main.py, with commands for each experiment and fixed seed conventions: tuning 100 to 104, held-out evaluation 200 and up, demo clips 300. The layout is src/traffic with the simulator, controllers, forecasting, experiments and viz.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findings, each paired with a decision I made or a next step, not an apology.
One: the forecast adds little to control. The decision was to keep the live-count forecaster but not oversell it. The next step is robust optimisation over forecast uncertainty, the only obvious way to make the forecast useful.
Two: tail delay is worse in the evening and the accident. The 95th percentile goes from 272 to 353 seconds in the evening and 924 to 1108 in the accident, because lowering the average means serving heavy approaches. I report it next to the mean; the quadratic queue weight is the lever.
Three: three seeds is thin, and the accident proved it. I used ten seeds where it mattered, reported intervals, and the next step is more seeds everywhere.
Four: the data is synthetic. Storms are synthetic with a noisy rain forecast, not the live weather feed the brief mentions, and the rain and accident rates are assumed. The forecast results show recovery of a process I wrote.
Five: no rerouting, so an accident is a closure. Planned closures with diversions are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next steps, each tied to something I found rather than a generic wish list.
One: robust optimisation over forecast uncertainty. That is the only obvious way to make the forecast useful to control, given that the point forecast adds little.
Two: coordination offsets between neighbouring intersections. Today there is one central solver and no offsets.
Three: incident detection. Accident handling is damage limitation only, and four attempts to improve it were not adopted: capping queue length, stalled-road detection, measured capacity, and a hard space limit.
Four: planned closures with diversions. There the optimiser could update its turning model and a fixed plan cannot, which is where a model-based controller should show a real advantage.
Five: multi-agent reinforcement learning, the natural next step if the queue model stops being accurate, and conveniently aligned with the bonus item in the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the panel, not for speaking time. It maps every rubric item to the slide where it is shown and to the code or output where it lives, so you can jump straight to what you want to probe.
Machine learning, 25 points: model selection and features on slide 5, validation and the censoring failure on slide 6, test performance across 5, 6 and 11. The code is in src/traffic/forecasting and tests/test_forecasting.py.
Optimisation, 25 points: formulation on slide 7, algorithm choice on slides 8 and 13, constraint handling on 7 and 12, solution quality on 10 to 12. The code is controllers/optimiser.py.
Software engineering, 25 points: structure on 3 and 4, the demo on 9, scalability and testing on 13.
Presentation, 25 points: this deck, its speaker notes, and the backup slides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to remember.
One: planning on live queue counts with a queue model drives the gain: 22 percent better than the tuned fixed cycle on the typical and busy mornings, 16 on the storm, and 29 to 63 percent against the untuned plan.
Two: the learned forecast is accurate, 6.8 against 9.8 percent error, but adds little to control. I would rather say that than oversell the ML.
Three: accidents are damage limitation. The blockage costs 170 to 199 seconds per car whatever the lights do, and I have a precise account of what I tried and why it was not adopted.
Now questions. The backup slides cover the car-following equation, Webster's formula, the censoring guard, the seed conventions, how the baselines were tuned, AI use, and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the simulator. The Intelligent Driver Model gives each car an acceleration from its speed v, the gap s to the car ahead, and the speed difference. The free-road term is one minus v over v0 to the fourth; the interaction term uses the desired gap s-star, which is the standstill gap plus a headway term plus a braking term.
Parameters: desired speed 13.9 metres per second, headway 1.5 seconds, maximum acceleration 1.5, comfortable deceleration 2.0, standstill gap 2 metres, car length 4.5 metres, so 6.5 metres per queued car and about 30 cars on a 200-metre link.
Saturation flow is emergent and calibrated, not hard-coded: I measured 0.40 vehicles per second, falling to 0.33 in full rain.
Reference: Treiber, Hennecke and Helbing 2000, and Treiber and Kesting 2013 for parameter ranges and the ballistic 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cycle length. The QP chooses green shares, but not the cycle length. The cycle comes from Webster's formula: C equals 1.5 L plus 5, over one minus Y, where L is the total lost time per cycle and Y is the sum of the critical flow ratios, here computed on the smoothed forecast flows.
I clamp the result to 40 to 120 seconds and round to 5 seconds. The plan is executed as green durations: switch when the time in phase reaches the cycle times the share, minus lost time. A reactive gap-out ends a green early if its approaches are empty and the cross street is waiting. Lost time is 4 seconds per switch, and greens are bounded between 8 and 60 seconds.
Reference: Webster 1958, Road Research Technical Paper 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the censoring guard. Entry sensors count cars that actually passed, which diverges from demand once an entry road is full: the sensor reports the blockage, not the demand.
The guard: if any entry road holds 55 or more cars, capacity is about 61, ignore the live counts and use the profile times a multiplier built from uncensored data only. Otherwise use the live-count GLM.
I chose 55 from the road's capacity after seeing the failure on test day 51, a gridlock where every learned model was worse than the plain profile. Because I chose it after the fact, I confirmed it on 10 fresh days never used for any decision: guarded 6.6 to 6.8 percent error, unguarded 8.4 to 8.5.
There is a unit test that the guard flags full entry roads and that the multiplier ignores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leakage and seeds. Every purpose has its own range, and the same scenario with the same seed gives identical demand to every controller, via common random numbers.
Tuning of the baselines and the optimiser uses seeds 100 to 104; baselines are tuned on seeds 100 to 103. Held-out evaluation uses 200 to 202, with the accident and typical morning also run on 203 to 209. Demo clips use 300. Forecaster training days use their own seeds, 0 to 59, plus fresh days from 5000.
One thing to flag: the old steady-state comparison, seeds 0 to 19, shares seeds with the forecaster's history days. It is not used for any headline claim. All headline numbers use seeds 200 and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whether the baselines were a fair fight. There are four baselines: an untuned 60-second fixed plan, a fixed cycle tuned on the typical morning, a two-band time-of-day plan, and max-pressure.
All were tuned on the nominal day only, seeds 100 to 103, then applied unchanged to the disturbed scenarios, so the busy, storm, evening and accident scenarios are a fair test of robustness. Cycle length is capped at 180 seconds and max-pressure hold at 40 seconds, which are practical maxima; several tuned values sit at those caps.
The optimiser's hyper-parameters were also tuned on nominal days and tuning seeds only: a 24-configuration random search over look-ahead, decision interval, cycle bounds and five weights. The top three configurations were within noise, and the defaults were best on confirmation seeds: 84.7 seconds against 86.3 and 87.1.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AI-use question. The brief encourages AI assistants as long as I can explain everything, and I can.
Anthropic's Claude, via Claude Code, was used throughout as a pair-programmer. It wrote or drafted most of the simulator, forecasting pipeline, optimiser, tests, viewer and the README, working from the brief and my direction.
I set the problem framing and made the decisions recorded in the writeup: forecasting true rates rather than sensor counts, keeping the live-count model with a patterns fallback, the time-stepped simulation choice, the headline baseline, and how the limits are presented.
Every reported number comes from code in the repository, and the held-out results can be regenerated with the commands in the README Setup. Correctness is supported by the test suite and by running the experiments.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for the simulator and the control methods: the Intelligent Driver Model, the dilemma-zone amber rule, common random numbers, Webster's cycle formula, the store-and-forward model and its quadratic-programming form, receding-horizon control, max-pressure, and the FHWA signal timing manual. The starter code was read but not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for the forecasting methods and software: Poisson generalised linear models, histogram gradient boosting following LightGBM, whole-day time-ordered validation and benchmark methods from Hyndman and Athanasopoulos, then CVXPY, the Clarabel solver, scikit-learn, NumPy, SciPy, pandas and matplotlib.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8288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r>
              <a:rPr lang="en-US" sz="4400" b="1" dirty="0">
                <a:solidFill>
                  <a:schemeClr val="bg1"/>
                </a:solidFill>
              </a:rPr>
              <a:t>Title</a:t>
            </a:r>
            <a:endParaRPr lang="en-US" sz="4400" dirty="0"/>
          </a:p>
        </p:txBody>
      </p:sp>
      <p:sp>
        <p:nvSpPr>
          <p:cNvPr id="3" name="Text 0"/>
          <p:cNvSpPr/>
          <p:nvPr>
            <p:ph idx="101" type="body" hasCustomPrompt="1"/>
          </p:nvPr>
        </p:nvSpPr>
        <p:spPr>
          <a:xfrm>
            <a:off x="731520" y="3886200"/>
            <a:ext cx="10241280" cy="1097280"/>
          </a:xfrm>
          <a:prstGeom prst="rect">
            <a:avLst/>
          </a:prstGeom>
          <a:noFill/>
          <a:ln/>
        </p:spPr>
        <p:txBody>
          <a:bodyPr wrap="square" rtlCol="0"/>
          <a:lstStyle>
            <a:lvl1pPr algn="l" indent="0" marL="0">
              <a:buNone/>
              <a:defRPr lang="en-US" sz="2200" dirty="0">
                <a:solidFill>
                  <a:schemeClr val="bg2"/>
                </a:solidFill>
              </a:defRPr>
            </a:lvl1pPr>
          </a:lstStyle>
          <a:p>
            <a:pPr algn="l" indent="0" marL="0">
              <a:buNone/>
            </a:pPr>
            <a:r>
              <a:rPr lang="en-US" sz="2200" dirty="0">
                <a:solidFill>
                  <a:schemeClr val="bg2"/>
                </a:solidFill>
              </a:rPr>
              <a:t>Subtitle</a:t>
            </a: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Smart traffic signal control  |  Quant case study, Problem 1</a:t>
            </a:r>
            <a:endParaRPr lang="en-US" sz="1000" dirty="0"/>
          </a:p>
        </p:txBody>
      </p:sp>
      <p:sp>
        <p:nvSpPr>
          <p:cNvPr id="3" name="Text 1"/>
          <p:cNvSpPr/>
          <p:nvPr>
            <p:ph idx="101" type="title" hasCustomPrompt="1"/>
          </p:nvPr>
        </p:nvSpPr>
        <p:spPr>
          <a:xfrm>
            <a:off x="548640" y="320040"/>
            <a:ext cx="7406640"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r>
              <a:rPr lang="en-US" sz="3200" b="1" dirty="0">
                <a:solidFill>
                  <a:schemeClr val="tx1"/>
                </a:solidFill>
              </a:rPr>
              <a:t>Title</a:t>
            </a:r>
            <a:endParaRPr lang="en-US" sz="32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7406640" cy="6858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r>
              <a:rPr lang="en-US" sz="3200" b="1" dirty="0">
                <a:solidFill>
                  <a:schemeClr val="bg1"/>
                </a:solidFill>
              </a:rPr>
              <a:t>Title</a:t>
            </a:r>
            <a:endParaRPr lang="en-US" sz="32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828800"/>
          </a:xfrm>
          <a:prstGeom prst="rect">
            <a:avLst/>
          </a:prstGeom>
          <a:noFill/>
          <a:ln/>
        </p:spPr>
        <p:txBody>
          <a:bodyPr wrap="square" lIns="0" tIns="0" rIns="0" bIns="0" rtlCol="0" anchor="b"/>
          <a:lstStyle/>
          <a:p>
            <a:pPr algn="l" indent="0" marL="0">
              <a:buNone/>
            </a:pPr>
            <a:r>
              <a:rPr lang="en-US" sz="4400" b="1" dirty="0">
                <a:solidFill>
                  <a:schemeClr val="bg1"/>
                </a:solidFill>
              </a:rPr>
              <a:t>Smart Traffic Signal Control</a:t>
            </a:r>
            <a:endParaRPr lang="en-US" sz="4400" dirty="0"/>
          </a:p>
        </p:txBody>
      </p:sp>
      <p:sp>
        <p:nvSpPr>
          <p:cNvPr id="3" name="Text 0"/>
          <p:cNvSpPr/>
          <p:nvPr>
            <p:ph idx="101" type="body" hasCustomPrompt="1"/>
          </p:nvPr>
        </p:nvSpPr>
        <p:spPr>
          <a:xfrm>
            <a:off x="731520" y="3886200"/>
            <a:ext cx="10241280" cy="1097280"/>
          </a:xfrm>
          <a:prstGeom prst="rect">
            <a:avLst/>
          </a:prstGeom>
          <a:noFill/>
          <a:ln/>
        </p:spPr>
        <p:txBody>
          <a:bodyPr wrap="square" lIns="0" tIns="0" rIns="0" bIns="0" rtlCol="0" anchor="t"/>
          <a:lstStyle/>
          <a:p>
            <a:pPr algn="l" indent="0" marL="0">
              <a:buNone/>
            </a:pPr>
            <a:r>
              <a:rPr lang="en-US" sz="2200" dirty="0">
                <a:solidFill>
                  <a:schemeClr val="bg2"/>
                </a:solidFill>
              </a:rPr>
              <a:t>Forecast + convex optimisation on a simulated city grid</a:t>
            </a:r>
            <a:endParaRPr lang="en-US" sz="2200" dirty="0"/>
          </a:p>
          <a:p>
            <a:pPr algn="l" indent="0" marL="0">
              <a:buNone/>
            </a:pPr>
            <a:r>
              <a:rPr lang="en-US" sz="2200" dirty="0">
                <a:solidFill>
                  <a:schemeClr val="bg2"/>
                </a:solidFill>
              </a:rPr>
              <a:t>Senior Quant case study, Problem 1  |  Glen McKenzie</a:t>
            </a:r>
            <a:endParaRPr lang="en-US" sz="2200" dirty="0"/>
          </a:p>
        </p:txBody>
      </p:sp>
      <p:sp>
        <p:nvSpPr>
          <p:cNvPr id="4" name="Signal lamp"/>
          <p:cNvSpPr/>
          <p:nvPr/>
        </p:nvSpPr>
        <p:spPr>
          <a:xfrm>
            <a:off x="10241280" y="731520"/>
            <a:ext cx="411480" cy="411480"/>
          </a:xfrm>
          <a:prstGeom prst="ellipse">
            <a:avLst/>
          </a:prstGeom>
          <a:solidFill>
            <a:schemeClr val="accent1"/>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7406640" cy="685800"/>
          </a:xfrm>
          <a:prstGeom prst="rect">
            <a:avLst/>
          </a:prstGeom>
          <a:noFill/>
          <a:ln/>
        </p:spPr>
        <p:txBody>
          <a:bodyPr wrap="square" lIns="0" tIns="0" rIns="0" bIns="0" rtlCol="0" anchor="ctr"/>
          <a:lstStyle/>
          <a:p>
            <a:pPr algn="l" indent="0" marL="0">
              <a:buNone/>
            </a:pPr>
            <a:r>
              <a:rPr lang="en-US" sz="3200" b="1" dirty="0">
                <a:solidFill>
                  <a:schemeClr val="tx1"/>
                </a:solidFill>
              </a:rPr>
              <a:t>Problem and success criteria</a:t>
            </a:r>
            <a:endParaRPr lang="en-US" sz="3200" dirty="0"/>
          </a:p>
        </p:txBody>
      </p:sp>
      <p:sp>
        <p:nvSpPr>
          <p:cNvPr id="3" name="Message"/>
          <p:cNvSpPr txBox="1"/>
          <p:nvPr/>
        </p:nvSpPr>
        <p:spPr>
          <a:xfrm>
            <a:off x="548640" y="1005840"/>
            <a:ext cx="11091672" cy="411480"/>
          </a:xfrm>
          <a:prstGeom prst="rect">
            <a:avLst/>
          </a:prstGeom>
          <a:noFill/>
          <a:ln/>
        </p:spPr>
        <p:txBody>
          <a:bodyPr wrap="square" lIns="0" tIns="0" rIns="0" bIns="0" rtlCol="0" anchor="t"/>
          <a:lstStyle/>
          <a:p>
            <a:pPr indent="0" marL="0">
              <a:buNone/>
            </a:pPr>
            <a:r>
              <a:rPr lang="en-US" sz="1800" dirty="0">
                <a:solidFill>
                  <a:schemeClr val="accent5"/>
                </a:solidFill>
              </a:rPr>
              <a:t>Four criteria in the brief, each with an honest status</a:t>
            </a:r>
            <a:endParaRPr lang="en-US" sz="1800" dirty="0"/>
          </a:p>
        </p:txBody>
      </p:sp>
      <p:sp>
        <p:nvSpPr>
          <p:cNvPr id="4" name="Rubric tag"/>
          <p:cNvSpPr/>
          <p:nvPr/>
        </p:nvSpPr>
        <p:spPr>
          <a:xfrm>
            <a:off x="8074152" y="457200"/>
            <a:ext cx="3566160" cy="310896"/>
          </a:xfrm>
          <a:prstGeom prst="roundRect">
            <a:avLst>
              <a:gd name="adj" fmla="val 50000"/>
            </a:avLst>
          </a:prstGeom>
          <a:solidFill>
            <a:schemeClr val="bg2"/>
          </a:solidFill>
          <a:ln/>
        </p:spPr>
      </p:sp>
      <p:sp>
        <p:nvSpPr>
          <p:cNvPr id="5" name="Rubric tag text"/>
          <p:cNvSpPr txBox="1"/>
          <p:nvPr/>
        </p:nvSpPr>
        <p:spPr>
          <a:xfrm>
            <a:off x="8074152" y="457200"/>
            <a:ext cx="3566160" cy="310896"/>
          </a:xfrm>
          <a:prstGeom prst="rect">
            <a:avLst/>
          </a:prstGeom>
          <a:noFill/>
          <a:ln/>
        </p:spPr>
        <p:txBody>
          <a:bodyPr wrap="square" lIns="0" tIns="0" rIns="0" bIns="0" rtlCol="0" anchor="ctr"/>
          <a:lstStyle/>
          <a:p>
            <a:pPr algn="ctr" indent="0" marL="0">
              <a:buNone/>
            </a:pPr>
            <a:r>
              <a:rPr lang="en-US" sz="1100" dirty="0">
                <a:solidFill>
                  <a:schemeClr val="accent5"/>
                </a:solidFill>
              </a:rPr>
              <a:t>Rubric: Presentation – clear explanation</a:t>
            </a:r>
            <a:endParaRPr lang="en-US" sz="1100" dirty="0"/>
          </a:p>
        </p:txBody>
      </p:sp>
      <p:sp>
        <p:nvSpPr>
          <p:cNvPr id="7" name="Criterion card 1"/>
          <p:cNvSpPr/>
          <p:nvPr/>
        </p:nvSpPr>
        <p:spPr>
          <a:xfrm>
            <a:off x="548640" y="1645920"/>
            <a:ext cx="5440680" cy="2011680"/>
          </a:xfrm>
          <a:prstGeom prst="roundRect">
            <a:avLst>
              <a:gd name="adj" fmla="val 3636"/>
            </a:avLst>
          </a:prstGeom>
          <a:solidFill>
            <a:schemeClr val="bg2"/>
          </a:solidFill>
          <a:ln/>
        </p:spPr>
      </p:sp>
      <p:sp>
        <p:nvSpPr>
          <p:cNvPr id="8" name="Criterion 1"/>
          <p:cNvSpPr txBox="1"/>
          <p:nvPr/>
        </p:nvSpPr>
        <p:spPr>
          <a:xfrm>
            <a:off x="822960" y="1874520"/>
            <a:ext cx="4892040" cy="36576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20%+ better than fixed timing</a:t>
            </a:r>
            <a:endParaRPr lang="en-US" sz="2000" dirty="0"/>
          </a:p>
        </p:txBody>
      </p:sp>
      <p:sp>
        <p:nvSpPr>
          <p:cNvPr id="9" name="Criterion text 1"/>
          <p:cNvSpPr txBox="1"/>
          <p:nvPr/>
        </p:nvSpPr>
        <p:spPr>
          <a:xfrm>
            <a:off x="822960" y="2377440"/>
            <a:ext cx="4892040" cy="777240"/>
          </a:xfrm>
          <a:prstGeom prst="rect">
            <a:avLst/>
          </a:prstGeom>
          <a:noFill/>
          <a:ln/>
        </p:spPr>
        <p:txBody>
          <a:bodyPr wrap="square" lIns="0" tIns="0" rIns="0" bIns="0" rtlCol="0" anchor="t"/>
          <a:lstStyle/>
          <a:p>
            <a:pPr indent="0" marL="0">
              <a:buNone/>
            </a:pPr>
            <a:r>
              <a:rPr lang="en-US" sz="1400" dirty="0">
                <a:solidFill>
                  <a:schemeClr val="accent4"/>
                </a:solidFill>
              </a:rPr>
              <a:t>Untuned fixed plan: 29–63% in every scenario. Tuned fixed plan: 22% typical, 22% busy, 16% storm, 3% evening, −3% accident.</a:t>
            </a:r>
            <a:endParaRPr lang="en-US" sz="1400" dirty="0"/>
          </a:p>
        </p:txBody>
      </p:sp>
      <p:sp>
        <p:nvSpPr>
          <p:cNvPr id="10" name="Status chip 1"/>
          <p:cNvSpPr/>
          <p:nvPr/>
        </p:nvSpPr>
        <p:spPr>
          <a:xfrm>
            <a:off x="822960" y="3182112"/>
            <a:ext cx="3200400" cy="329184"/>
          </a:xfrm>
          <a:prstGeom prst="roundRect">
            <a:avLst>
              <a:gd name="adj" fmla="val 50000"/>
            </a:avLst>
          </a:prstGeom>
          <a:solidFill>
            <a:schemeClr val="accent1"/>
          </a:solidFill>
          <a:ln/>
        </p:spPr>
      </p:sp>
      <p:sp>
        <p:nvSpPr>
          <p:cNvPr id="11" name="Status text 1"/>
          <p:cNvSpPr txBox="1"/>
          <p:nvPr/>
        </p:nvSpPr>
        <p:spPr>
          <a:xfrm>
            <a:off x="822960" y="3182112"/>
            <a:ext cx="3200400" cy="329184"/>
          </a:xfrm>
          <a:prstGeom prst="rect">
            <a:avLst/>
          </a:prstGeom>
          <a:noFill/>
          <a:ln/>
        </p:spPr>
        <p:txBody>
          <a:bodyPr wrap="square" lIns="0" tIns="0" rIns="0" bIns="0" rtlCol="0" anchor="ctr"/>
          <a:lstStyle/>
          <a:p>
            <a:pPr algn="ctr" indent="0" marL="0">
              <a:buNone/>
            </a:pPr>
            <a:r>
              <a:rPr lang="en-US" sz="1300" b="1" dirty="0">
                <a:solidFill>
                  <a:schemeClr val="tx1"/>
                </a:solidFill>
              </a:rPr>
              <a:t>Met vs untuned · partly vs tuned</a:t>
            </a:r>
            <a:endParaRPr lang="en-US" sz="1300" dirty="0"/>
          </a:p>
        </p:txBody>
      </p:sp>
      <p:sp>
        <p:nvSpPr>
          <p:cNvPr id="12" name="Criterion card 2"/>
          <p:cNvSpPr/>
          <p:nvPr/>
        </p:nvSpPr>
        <p:spPr>
          <a:xfrm>
            <a:off x="6199632" y="1645920"/>
            <a:ext cx="5440680" cy="2011680"/>
          </a:xfrm>
          <a:prstGeom prst="roundRect">
            <a:avLst>
              <a:gd name="adj" fmla="val 3636"/>
            </a:avLst>
          </a:prstGeom>
          <a:solidFill>
            <a:schemeClr val="bg2"/>
          </a:solidFill>
          <a:ln/>
        </p:spPr>
      </p:sp>
      <p:sp>
        <p:nvSpPr>
          <p:cNvPr id="13" name="Criterion 2"/>
          <p:cNvSpPr txBox="1"/>
          <p:nvPr/>
        </p:nvSpPr>
        <p:spPr>
          <a:xfrm>
            <a:off x="6473952" y="1874520"/>
            <a:ext cx="4892040" cy="36576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Network of 4+ intersections</a:t>
            </a:r>
            <a:endParaRPr lang="en-US" sz="2000" dirty="0"/>
          </a:p>
        </p:txBody>
      </p:sp>
      <p:sp>
        <p:nvSpPr>
          <p:cNvPr id="14" name="Criterion text 2"/>
          <p:cNvSpPr txBox="1"/>
          <p:nvPr/>
        </p:nvSpPr>
        <p:spPr>
          <a:xfrm>
            <a:off x="6473952" y="2377440"/>
            <a:ext cx="4892040" cy="777240"/>
          </a:xfrm>
          <a:prstGeom prst="rect">
            <a:avLst/>
          </a:prstGeom>
          <a:noFill/>
          <a:ln/>
        </p:spPr>
        <p:txBody>
          <a:bodyPr wrap="square" lIns="0" tIns="0" rIns="0" bIns="0" rtlCol="0" anchor="t"/>
          <a:lstStyle/>
          <a:p>
            <a:pPr indent="0" marL="0">
              <a:buNone/>
            </a:pPr>
            <a:r>
              <a:rPr lang="en-US" sz="1400" dirty="0">
                <a:solidFill>
                  <a:schemeClr val="accent4"/>
                </a:solidFill>
              </a:rPr>
              <a:t>2×2 grid, generated from the grid size. Optimiser timed up to 10×10 (100 intersections).</a:t>
            </a:r>
            <a:endParaRPr lang="en-US" sz="1400" dirty="0"/>
          </a:p>
        </p:txBody>
      </p:sp>
      <p:sp>
        <p:nvSpPr>
          <p:cNvPr id="15" name="Status chip 2"/>
          <p:cNvSpPr/>
          <p:nvPr/>
        </p:nvSpPr>
        <p:spPr>
          <a:xfrm>
            <a:off x="6473952" y="3182112"/>
            <a:ext cx="914400" cy="329184"/>
          </a:xfrm>
          <a:prstGeom prst="roundRect">
            <a:avLst>
              <a:gd name="adj" fmla="val 50000"/>
            </a:avLst>
          </a:prstGeom>
          <a:solidFill>
            <a:schemeClr val="accent1"/>
          </a:solidFill>
          <a:ln/>
        </p:spPr>
      </p:sp>
      <p:sp>
        <p:nvSpPr>
          <p:cNvPr id="16" name="Status text 2"/>
          <p:cNvSpPr txBox="1"/>
          <p:nvPr/>
        </p:nvSpPr>
        <p:spPr>
          <a:xfrm>
            <a:off x="6473952" y="3182112"/>
            <a:ext cx="914400" cy="329184"/>
          </a:xfrm>
          <a:prstGeom prst="rect">
            <a:avLst/>
          </a:prstGeom>
          <a:noFill/>
          <a:ln/>
        </p:spPr>
        <p:txBody>
          <a:bodyPr wrap="square" lIns="0" tIns="0" rIns="0" bIns="0" rtlCol="0" anchor="ctr"/>
          <a:lstStyle/>
          <a:p>
            <a:pPr algn="ctr" indent="0" marL="0">
              <a:buNone/>
            </a:pPr>
            <a:r>
              <a:rPr lang="en-US" sz="1300" b="1" dirty="0">
                <a:solidFill>
                  <a:schemeClr val="tx1"/>
                </a:solidFill>
              </a:rPr>
              <a:t>Met</a:t>
            </a:r>
            <a:endParaRPr lang="en-US" sz="1300" dirty="0"/>
          </a:p>
        </p:txBody>
      </p:sp>
      <p:sp>
        <p:nvSpPr>
          <p:cNvPr id="17" name="Criterion card 3"/>
          <p:cNvSpPr/>
          <p:nvPr/>
        </p:nvSpPr>
        <p:spPr>
          <a:xfrm>
            <a:off x="548640" y="3840480"/>
            <a:ext cx="5440680" cy="2011680"/>
          </a:xfrm>
          <a:prstGeom prst="roundRect">
            <a:avLst>
              <a:gd name="adj" fmla="val 3636"/>
            </a:avLst>
          </a:prstGeom>
          <a:solidFill>
            <a:schemeClr val="bg2"/>
          </a:solidFill>
          <a:ln/>
        </p:spPr>
      </p:sp>
      <p:sp>
        <p:nvSpPr>
          <p:cNvPr id="18" name="Criterion 3"/>
          <p:cNvSpPr txBox="1"/>
          <p:nvPr/>
        </p:nvSpPr>
        <p:spPr>
          <a:xfrm>
            <a:off x="822960" y="4069080"/>
            <a:ext cx="4892040" cy="36576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Real-time visualisation</a:t>
            </a:r>
            <a:endParaRPr lang="en-US" sz="2000" dirty="0"/>
          </a:p>
        </p:txBody>
      </p:sp>
      <p:sp>
        <p:nvSpPr>
          <p:cNvPr id="19" name="Criterion text 3"/>
          <p:cNvSpPr txBox="1"/>
          <p:nvPr/>
        </p:nvSpPr>
        <p:spPr>
          <a:xfrm>
            <a:off x="822960" y="4572000"/>
            <a:ext cx="4892040" cy="777240"/>
          </a:xfrm>
          <a:prstGeom prst="rect">
            <a:avLst/>
          </a:prstGeom>
          <a:noFill/>
          <a:ln/>
        </p:spPr>
        <p:txBody>
          <a:bodyPr wrap="square" lIns="0" tIns="0" rIns="0" bIns="0" rtlCol="0" anchor="t"/>
          <a:lstStyle/>
          <a:p>
            <a:pPr indent="0" marL="0">
              <a:buNone/>
            </a:pPr>
            <a:r>
              <a:rPr lang="en-US" sz="1400" dirty="0">
                <a:solidFill>
                  <a:schemeClr val="accent4"/>
                </a:solidFill>
              </a:rPr>
              <a:t>Replay viewer: fixed plan against optimiser on identical traffic, with rain, an accident marker and live delay charts.</a:t>
            </a:r>
            <a:endParaRPr lang="en-US" sz="1400" dirty="0"/>
          </a:p>
        </p:txBody>
      </p:sp>
      <p:sp>
        <p:nvSpPr>
          <p:cNvPr id="20" name="Status chip 3"/>
          <p:cNvSpPr/>
          <p:nvPr/>
        </p:nvSpPr>
        <p:spPr>
          <a:xfrm>
            <a:off x="822960" y="5376672"/>
            <a:ext cx="1463040" cy="329184"/>
          </a:xfrm>
          <a:prstGeom prst="roundRect">
            <a:avLst>
              <a:gd name="adj" fmla="val 50000"/>
            </a:avLst>
          </a:prstGeom>
          <a:solidFill>
            <a:schemeClr val="accent1"/>
          </a:solidFill>
          <a:ln/>
        </p:spPr>
      </p:sp>
      <p:sp>
        <p:nvSpPr>
          <p:cNvPr id="21" name="Status text 3"/>
          <p:cNvSpPr txBox="1"/>
          <p:nvPr/>
        </p:nvSpPr>
        <p:spPr>
          <a:xfrm>
            <a:off x="822960" y="5376672"/>
            <a:ext cx="1463040" cy="329184"/>
          </a:xfrm>
          <a:prstGeom prst="rect">
            <a:avLst/>
          </a:prstGeom>
          <a:noFill/>
          <a:ln/>
        </p:spPr>
        <p:txBody>
          <a:bodyPr wrap="square" lIns="0" tIns="0" rIns="0" bIns="0" rtlCol="0" anchor="ctr"/>
          <a:lstStyle/>
          <a:p>
            <a:pPr algn="ctr" indent="0" marL="0">
              <a:buNone/>
            </a:pPr>
            <a:r>
              <a:rPr lang="en-US" sz="1300" b="1" dirty="0">
                <a:solidFill>
                  <a:schemeClr val="tx1"/>
                </a:solidFill>
              </a:rPr>
              <a:t>Met (replay)</a:t>
            </a:r>
            <a:endParaRPr lang="en-US" sz="1300" dirty="0"/>
          </a:p>
        </p:txBody>
      </p:sp>
      <p:sp>
        <p:nvSpPr>
          <p:cNvPr id="22" name="Criterion card 4"/>
          <p:cNvSpPr/>
          <p:nvPr/>
        </p:nvSpPr>
        <p:spPr>
          <a:xfrm>
            <a:off x="6199632" y="3840480"/>
            <a:ext cx="5440680" cy="2011680"/>
          </a:xfrm>
          <a:prstGeom prst="roundRect">
            <a:avLst>
              <a:gd name="adj" fmla="val 3636"/>
            </a:avLst>
          </a:prstGeom>
          <a:solidFill>
            <a:schemeClr val="bg2"/>
          </a:solidFill>
          <a:ln/>
        </p:spPr>
      </p:sp>
      <p:sp>
        <p:nvSpPr>
          <p:cNvPr id="23" name="Criterion 4"/>
          <p:cNvSpPr txBox="1"/>
          <p:nvPr/>
        </p:nvSpPr>
        <p:spPr>
          <a:xfrm>
            <a:off x="6473952" y="4069080"/>
            <a:ext cx="4892040" cy="36576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Responds to accidents and closures</a:t>
            </a:r>
            <a:endParaRPr lang="en-US" sz="2000" dirty="0"/>
          </a:p>
        </p:txBody>
      </p:sp>
      <p:sp>
        <p:nvSpPr>
          <p:cNvPr id="24" name="Criterion text 4"/>
          <p:cNvSpPr txBox="1"/>
          <p:nvPr/>
        </p:nvSpPr>
        <p:spPr>
          <a:xfrm>
            <a:off x="6473952" y="4572000"/>
            <a:ext cx="4892040" cy="777240"/>
          </a:xfrm>
          <a:prstGeom prst="rect">
            <a:avLst/>
          </a:prstGeom>
          <a:noFill/>
          <a:ln/>
        </p:spPr>
        <p:txBody>
          <a:bodyPr wrap="square" lIns="0" tIns="0" rIns="0" bIns="0" rtlCol="0" anchor="t"/>
          <a:lstStyle/>
          <a:p>
            <a:pPr indent="0" marL="0">
              <a:buNone/>
            </a:pPr>
            <a:r>
              <a:rPr lang="en-US" sz="1400" dirty="0">
                <a:solidFill>
                  <a:schemeClr val="accent4"/>
                </a:solidFill>
              </a:rPr>
              <a:t>Damage limitation only: an accident costs 170–194 s per car whatever the lights do. No rerouting.</a:t>
            </a:r>
            <a:endParaRPr lang="en-US" sz="1400" dirty="0"/>
          </a:p>
        </p:txBody>
      </p:sp>
      <p:sp>
        <p:nvSpPr>
          <p:cNvPr id="25" name="Status chip 4"/>
          <p:cNvSpPr/>
          <p:nvPr/>
        </p:nvSpPr>
        <p:spPr>
          <a:xfrm>
            <a:off x="6473952" y="5376672"/>
            <a:ext cx="1371600" cy="329184"/>
          </a:xfrm>
          <a:prstGeom prst="roundRect">
            <a:avLst>
              <a:gd name="adj" fmla="val 50000"/>
            </a:avLst>
          </a:prstGeom>
          <a:solidFill>
            <a:schemeClr val="accent3"/>
          </a:solidFill>
          <a:ln/>
        </p:spPr>
      </p:sp>
      <p:sp>
        <p:nvSpPr>
          <p:cNvPr id="26" name="Status text 4"/>
          <p:cNvSpPr txBox="1"/>
          <p:nvPr/>
        </p:nvSpPr>
        <p:spPr>
          <a:xfrm>
            <a:off x="6473952" y="5376672"/>
            <a:ext cx="1371600" cy="329184"/>
          </a:xfrm>
          <a:prstGeom prst="rect">
            <a:avLst/>
          </a:prstGeom>
          <a:noFill/>
          <a:ln/>
        </p:spPr>
        <p:txBody>
          <a:bodyPr wrap="square" lIns="0" tIns="0" rIns="0" bIns="0" rtlCol="0" anchor="ctr"/>
          <a:lstStyle/>
          <a:p>
            <a:pPr algn="ctr" indent="0" marL="0">
              <a:buNone/>
            </a:pPr>
            <a:r>
              <a:rPr lang="en-US" sz="1300" b="1" dirty="0">
                <a:solidFill>
                  <a:schemeClr val="tx1"/>
                </a:solidFill>
              </a:rPr>
              <a:t>Partly met</a:t>
            </a:r>
            <a:endParaRPr lang="en-US" sz="13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7406640" cy="685800"/>
          </a:xfrm>
          <a:prstGeom prst="rect">
            <a:avLst/>
          </a:prstGeom>
          <a:noFill/>
          <a:ln/>
        </p:spPr>
        <p:txBody>
          <a:bodyPr wrap="square" lIns="0" tIns="0" rIns="0" bIns="0" rtlCol="0" anchor="ctr"/>
          <a:lstStyle/>
          <a:p>
            <a:pPr algn="l" indent="0" marL="0">
              <a:buNone/>
            </a:pPr>
            <a:r>
              <a:rPr lang="en-US" sz="3200" b="1" dirty="0">
                <a:solidFill>
                  <a:schemeClr val="tx1"/>
                </a:solidFill>
              </a:rPr>
              <a:t>Architecture</a:t>
            </a:r>
            <a:endParaRPr lang="en-US" sz="3200" dirty="0"/>
          </a:p>
        </p:txBody>
      </p:sp>
      <p:sp>
        <p:nvSpPr>
          <p:cNvPr id="3" name="Message"/>
          <p:cNvSpPr txBox="1"/>
          <p:nvPr/>
        </p:nvSpPr>
        <p:spPr>
          <a:xfrm>
            <a:off x="548640" y="1005840"/>
            <a:ext cx="11091672" cy="411480"/>
          </a:xfrm>
          <a:prstGeom prst="rect">
            <a:avLst/>
          </a:prstGeom>
          <a:noFill/>
          <a:ln/>
        </p:spPr>
        <p:txBody>
          <a:bodyPr wrap="square" lIns="0" tIns="0" rIns="0" bIns="0" rtlCol="0" anchor="t"/>
          <a:lstStyle/>
          <a:p>
            <a:pPr indent="0" marL="0">
              <a:buNone/>
            </a:pPr>
            <a:r>
              <a:rPr lang="en-US" sz="1800" dirty="0">
                <a:solidFill>
                  <a:schemeClr val="accent5"/>
                </a:solidFill>
              </a:rPr>
              <a:t>Simulator → history → forecaster → optimiser → signals, on three timescales</a:t>
            </a:r>
            <a:endParaRPr lang="en-US" sz="1800" dirty="0"/>
          </a:p>
        </p:txBody>
      </p:sp>
      <p:sp>
        <p:nvSpPr>
          <p:cNvPr id="4" name="Rubric tag"/>
          <p:cNvSpPr/>
          <p:nvPr/>
        </p:nvSpPr>
        <p:spPr>
          <a:xfrm>
            <a:off x="8074152" y="457200"/>
            <a:ext cx="3566160" cy="310896"/>
          </a:xfrm>
          <a:prstGeom prst="roundRect">
            <a:avLst>
              <a:gd name="adj" fmla="val 50000"/>
            </a:avLst>
          </a:prstGeom>
          <a:solidFill>
            <a:schemeClr val="bg2"/>
          </a:solidFill>
          <a:ln/>
        </p:spPr>
      </p:sp>
      <p:sp>
        <p:nvSpPr>
          <p:cNvPr id="5" name="Rubric tag text"/>
          <p:cNvSpPr txBox="1"/>
          <p:nvPr/>
        </p:nvSpPr>
        <p:spPr>
          <a:xfrm>
            <a:off x="8074152" y="457200"/>
            <a:ext cx="3566160" cy="310896"/>
          </a:xfrm>
          <a:prstGeom prst="rect">
            <a:avLst/>
          </a:prstGeom>
          <a:noFill/>
          <a:ln/>
        </p:spPr>
        <p:txBody>
          <a:bodyPr wrap="square" lIns="0" tIns="0" rIns="0" bIns="0" rtlCol="0" anchor="ctr"/>
          <a:lstStyle/>
          <a:p>
            <a:pPr algn="ctr" indent="0" marL="0">
              <a:buNone/>
            </a:pPr>
            <a:r>
              <a:rPr lang="en-US" sz="1100" dirty="0">
                <a:solidFill>
                  <a:schemeClr val="accent5"/>
                </a:solidFill>
              </a:rPr>
              <a:t>Rubric: Software eng. – structure</a:t>
            </a:r>
            <a:endParaRPr lang="en-US" sz="1100" dirty="0"/>
          </a:p>
        </p:txBody>
      </p:sp>
      <p:sp>
        <p:nvSpPr>
          <p:cNvPr id="7" name="Box Simulator"/>
          <p:cNvSpPr/>
          <p:nvPr/>
        </p:nvSpPr>
        <p:spPr>
          <a:xfrm>
            <a:off x="521208" y="1691640"/>
            <a:ext cx="1828800" cy="960120"/>
          </a:xfrm>
          <a:prstGeom prst="roundRect">
            <a:avLst>
              <a:gd name="adj" fmla="val 9524"/>
            </a:avLst>
          </a:prstGeom>
          <a:solidFill>
            <a:schemeClr val="bg2"/>
          </a:solidFill>
          <a:ln/>
        </p:spPr>
      </p:sp>
      <p:sp>
        <p:nvSpPr>
          <p:cNvPr id="8" name="Box text Simulator"/>
          <p:cNvSpPr txBox="1"/>
          <p:nvPr/>
        </p:nvSpPr>
        <p:spPr>
          <a:xfrm>
            <a:off x="612648" y="1691640"/>
            <a:ext cx="1645920" cy="960120"/>
          </a:xfrm>
          <a:prstGeom prst="rect">
            <a:avLst/>
          </a:prstGeom>
          <a:noFill/>
          <a:ln/>
        </p:spPr>
        <p:txBody>
          <a:bodyPr wrap="square" lIns="0" tIns="0" rIns="0" bIns="0" rtlCol="0" anchor="ctr"/>
          <a:lstStyle/>
          <a:p>
            <a:pPr algn="ctr" indent="0" marL="0">
              <a:buNone/>
            </a:pPr>
            <a:r>
              <a:rPr lang="en-US" sz="1800" b="1" dirty="0">
                <a:solidFill>
                  <a:schemeClr val="tx1"/>
                </a:solidFill>
              </a:rPr>
              <a:t>Simulator</a:t>
            </a:r>
            <a:endParaRPr lang="en-US" sz="1400" dirty="0"/>
          </a:p>
          <a:p>
            <a:pPr algn="ctr" indent="0" marL="0">
              <a:buNone/>
            </a:pPr>
            <a:r>
              <a:rPr lang="en-US" sz="1200" dirty="0">
                <a:solidFill>
                  <a:schemeClr val="accent4"/>
                </a:solidFill>
              </a:rPr>
              <a:t>vehicle-level, 0.5 s steps</a:t>
            </a:r>
            <a:endParaRPr lang="en-US" sz="1400" dirty="0"/>
          </a:p>
        </p:txBody>
      </p:sp>
      <p:sp>
        <p:nvSpPr>
          <p:cNvPr id="9" name="Arrow 1"/>
          <p:cNvSpPr/>
          <p:nvPr/>
        </p:nvSpPr>
        <p:spPr>
          <a:xfrm>
            <a:off x="2386584" y="2171700"/>
            <a:ext cx="429768" cy="0"/>
          </a:xfrm>
          <a:prstGeom prst="line">
            <a:avLst/>
          </a:prstGeom>
          <a:noFill/>
          <a:ln w="25400">
            <a:solidFill>
              <a:srgbClr val="3E4C59"/>
            </a:solidFill>
            <a:prstDash val="solid"/>
            <a:tailEnd type="triangle"/>
          </a:ln>
        </p:spPr>
      </p:sp>
      <p:sp>
        <p:nvSpPr>
          <p:cNvPr id="10" name="Box Historical days"/>
          <p:cNvSpPr/>
          <p:nvPr/>
        </p:nvSpPr>
        <p:spPr>
          <a:xfrm>
            <a:off x="2852928" y="1691640"/>
            <a:ext cx="1828800" cy="960120"/>
          </a:xfrm>
          <a:prstGeom prst="roundRect">
            <a:avLst>
              <a:gd name="adj" fmla="val 9524"/>
            </a:avLst>
          </a:prstGeom>
          <a:solidFill>
            <a:schemeClr val="bg2"/>
          </a:solidFill>
          <a:ln/>
        </p:spPr>
      </p:sp>
      <p:sp>
        <p:nvSpPr>
          <p:cNvPr id="11" name="Box text Historical days"/>
          <p:cNvSpPr txBox="1"/>
          <p:nvPr/>
        </p:nvSpPr>
        <p:spPr>
          <a:xfrm>
            <a:off x="2944368" y="1691640"/>
            <a:ext cx="1645920" cy="960120"/>
          </a:xfrm>
          <a:prstGeom prst="rect">
            <a:avLst/>
          </a:prstGeom>
          <a:noFill/>
          <a:ln/>
        </p:spPr>
        <p:txBody>
          <a:bodyPr wrap="square" lIns="0" tIns="0" rIns="0" bIns="0" rtlCol="0" anchor="ctr"/>
          <a:lstStyle/>
          <a:p>
            <a:pPr algn="ctr" indent="0" marL="0">
              <a:buNone/>
            </a:pPr>
            <a:r>
              <a:rPr lang="en-US" sz="1800" b="1" dirty="0">
                <a:solidFill>
                  <a:schemeClr val="tx1"/>
                </a:solidFill>
              </a:rPr>
              <a:t>Historical days</a:t>
            </a:r>
            <a:endParaRPr lang="en-US" sz="1400" dirty="0"/>
          </a:p>
          <a:p>
            <a:pPr algn="ctr" indent="0" marL="0">
              <a:buNone/>
            </a:pPr>
            <a:r>
              <a:rPr lang="en-US" sz="1200" dirty="0">
                <a:solidFill>
                  <a:schemeClr val="accent4"/>
                </a:solidFill>
              </a:rPr>
              <a:t>60 simulated days</a:t>
            </a:r>
            <a:endParaRPr lang="en-US" sz="1400" dirty="0"/>
          </a:p>
        </p:txBody>
      </p:sp>
      <p:sp>
        <p:nvSpPr>
          <p:cNvPr id="12" name="Arrow 2"/>
          <p:cNvSpPr/>
          <p:nvPr/>
        </p:nvSpPr>
        <p:spPr>
          <a:xfrm>
            <a:off x="4718304" y="2171700"/>
            <a:ext cx="429768" cy="0"/>
          </a:xfrm>
          <a:prstGeom prst="line">
            <a:avLst/>
          </a:prstGeom>
          <a:noFill/>
          <a:ln w="25400">
            <a:solidFill>
              <a:srgbClr val="3E4C59"/>
            </a:solidFill>
            <a:prstDash val="solid"/>
            <a:tailEnd type="triangle"/>
          </a:ln>
        </p:spPr>
      </p:sp>
      <p:sp>
        <p:nvSpPr>
          <p:cNvPr id="13" name="Box Forecaster"/>
          <p:cNvSpPr/>
          <p:nvPr/>
        </p:nvSpPr>
        <p:spPr>
          <a:xfrm>
            <a:off x="5184648" y="1691640"/>
            <a:ext cx="1828800" cy="960120"/>
          </a:xfrm>
          <a:prstGeom prst="roundRect">
            <a:avLst>
              <a:gd name="adj" fmla="val 9524"/>
            </a:avLst>
          </a:prstGeom>
          <a:solidFill>
            <a:schemeClr val="bg2"/>
          </a:solidFill>
          <a:ln/>
        </p:spPr>
      </p:sp>
      <p:sp>
        <p:nvSpPr>
          <p:cNvPr id="14" name="Box text Forecaster"/>
          <p:cNvSpPr txBox="1"/>
          <p:nvPr/>
        </p:nvSpPr>
        <p:spPr>
          <a:xfrm>
            <a:off x="5276088" y="1691640"/>
            <a:ext cx="1645920" cy="960120"/>
          </a:xfrm>
          <a:prstGeom prst="rect">
            <a:avLst/>
          </a:prstGeom>
          <a:noFill/>
          <a:ln/>
        </p:spPr>
        <p:txBody>
          <a:bodyPr wrap="square" lIns="0" tIns="0" rIns="0" bIns="0" rtlCol="0" anchor="ctr"/>
          <a:lstStyle/>
          <a:p>
            <a:pPr algn="ctr" indent="0" marL="0">
              <a:buNone/>
            </a:pPr>
            <a:r>
              <a:rPr lang="en-US" sz="1800" b="1" dirty="0">
                <a:solidFill>
                  <a:schemeClr val="tx1"/>
                </a:solidFill>
              </a:rPr>
              <a:t>Forecaster</a:t>
            </a:r>
            <a:endParaRPr lang="en-US" sz="1400" dirty="0"/>
          </a:p>
          <a:p>
            <a:pPr algn="ctr" indent="0" marL="0">
              <a:buNone/>
            </a:pPr>
            <a:r>
              <a:rPr lang="en-US" sz="1200" dirty="0">
                <a:solidFill>
                  <a:schemeClr val="accent4"/>
                </a:solidFill>
              </a:rPr>
              <a:t>Poisson GLM + live counts</a:t>
            </a:r>
            <a:endParaRPr lang="en-US" sz="1400" dirty="0"/>
          </a:p>
        </p:txBody>
      </p:sp>
      <p:sp>
        <p:nvSpPr>
          <p:cNvPr id="15" name="Arrow 3"/>
          <p:cNvSpPr/>
          <p:nvPr/>
        </p:nvSpPr>
        <p:spPr>
          <a:xfrm>
            <a:off x="7050024" y="2171700"/>
            <a:ext cx="429768" cy="0"/>
          </a:xfrm>
          <a:prstGeom prst="line">
            <a:avLst/>
          </a:prstGeom>
          <a:noFill/>
          <a:ln w="25400">
            <a:solidFill>
              <a:srgbClr val="3E4C59"/>
            </a:solidFill>
            <a:prstDash val="solid"/>
            <a:tailEnd type="triangle"/>
          </a:ln>
        </p:spPr>
      </p:sp>
      <p:sp>
        <p:nvSpPr>
          <p:cNvPr id="16" name="Box Optimiser"/>
          <p:cNvSpPr/>
          <p:nvPr/>
        </p:nvSpPr>
        <p:spPr>
          <a:xfrm>
            <a:off x="7516368" y="1691640"/>
            <a:ext cx="1828800" cy="960120"/>
          </a:xfrm>
          <a:prstGeom prst="roundRect">
            <a:avLst>
              <a:gd name="adj" fmla="val 9524"/>
            </a:avLst>
          </a:prstGeom>
          <a:solidFill>
            <a:schemeClr val="accent1"/>
          </a:solidFill>
          <a:ln/>
        </p:spPr>
      </p:sp>
      <p:sp>
        <p:nvSpPr>
          <p:cNvPr id="17" name="Box text Optimiser"/>
          <p:cNvSpPr txBox="1"/>
          <p:nvPr/>
        </p:nvSpPr>
        <p:spPr>
          <a:xfrm>
            <a:off x="7607808" y="1691640"/>
            <a:ext cx="1645920" cy="960120"/>
          </a:xfrm>
          <a:prstGeom prst="rect">
            <a:avLst/>
          </a:prstGeom>
          <a:noFill/>
          <a:ln/>
        </p:spPr>
        <p:txBody>
          <a:bodyPr wrap="square" lIns="0" tIns="0" rIns="0" bIns="0" rtlCol="0" anchor="ctr"/>
          <a:lstStyle/>
          <a:p>
            <a:pPr algn="ctr" indent="0" marL="0">
              <a:buNone/>
            </a:pPr>
            <a:r>
              <a:rPr lang="en-US" sz="1800" b="1" dirty="0">
                <a:solidFill>
                  <a:schemeClr val="tx1"/>
                </a:solidFill>
              </a:rPr>
              <a:t>Optimiser</a:t>
            </a:r>
            <a:endParaRPr lang="en-US" sz="1400" dirty="0"/>
          </a:p>
          <a:p>
            <a:pPr algn="ctr" indent="0" marL="0">
              <a:buNone/>
            </a:pPr>
            <a:r>
              <a:rPr lang="en-US" sz="1200" dirty="0">
                <a:solidFill>
                  <a:schemeClr val="tx1"/>
                </a:solidFill>
              </a:rPr>
              <a:t>convex QP, 15-min horizon</a:t>
            </a:r>
            <a:endParaRPr lang="en-US" sz="1400" dirty="0"/>
          </a:p>
        </p:txBody>
      </p:sp>
      <p:sp>
        <p:nvSpPr>
          <p:cNvPr id="18" name="Arrow 4"/>
          <p:cNvSpPr/>
          <p:nvPr/>
        </p:nvSpPr>
        <p:spPr>
          <a:xfrm>
            <a:off x="9381744" y="2171700"/>
            <a:ext cx="429768" cy="0"/>
          </a:xfrm>
          <a:prstGeom prst="line">
            <a:avLst/>
          </a:prstGeom>
          <a:noFill/>
          <a:ln w="25400">
            <a:solidFill>
              <a:srgbClr val="3E4C59"/>
            </a:solidFill>
            <a:prstDash val="solid"/>
            <a:tailEnd type="triangle"/>
          </a:ln>
        </p:spPr>
      </p:sp>
      <p:sp>
        <p:nvSpPr>
          <p:cNvPr id="19" name="Box Signals"/>
          <p:cNvSpPr/>
          <p:nvPr/>
        </p:nvSpPr>
        <p:spPr>
          <a:xfrm>
            <a:off x="9848088" y="1691640"/>
            <a:ext cx="1828800" cy="960120"/>
          </a:xfrm>
          <a:prstGeom prst="roundRect">
            <a:avLst>
              <a:gd name="adj" fmla="val 9524"/>
            </a:avLst>
          </a:prstGeom>
          <a:solidFill>
            <a:schemeClr val="bg2"/>
          </a:solidFill>
          <a:ln/>
        </p:spPr>
      </p:sp>
      <p:sp>
        <p:nvSpPr>
          <p:cNvPr id="20" name="Box text Signals"/>
          <p:cNvSpPr txBox="1"/>
          <p:nvPr/>
        </p:nvSpPr>
        <p:spPr>
          <a:xfrm>
            <a:off x="9939528" y="1691640"/>
            <a:ext cx="1645920" cy="960120"/>
          </a:xfrm>
          <a:prstGeom prst="rect">
            <a:avLst/>
          </a:prstGeom>
          <a:noFill/>
          <a:ln/>
        </p:spPr>
        <p:txBody>
          <a:bodyPr wrap="square" lIns="0" tIns="0" rIns="0" bIns="0" rtlCol="0" anchor="ctr"/>
          <a:lstStyle/>
          <a:p>
            <a:pPr algn="ctr" indent="0" marL="0">
              <a:buNone/>
            </a:pPr>
            <a:r>
              <a:rPr lang="en-US" sz="1800" b="1" dirty="0">
                <a:solidFill>
                  <a:schemeClr val="tx1"/>
                </a:solidFill>
              </a:rPr>
              <a:t>Signals</a:t>
            </a:r>
            <a:endParaRPr lang="en-US" sz="1400" dirty="0"/>
          </a:p>
          <a:p>
            <a:pPr algn="ctr" indent="0" marL="0">
              <a:buNone/>
            </a:pPr>
            <a:r>
              <a:rPr lang="en-US" sz="1200" dirty="0">
                <a:solidFill>
                  <a:schemeClr val="accent4"/>
                </a:solidFill>
              </a:rPr>
              <a:t>phase switching</a:t>
            </a:r>
            <a:endParaRPr lang="en-US" sz="1400" dirty="0"/>
          </a:p>
        </p:txBody>
      </p:sp>
      <p:sp>
        <p:nvSpPr>
          <p:cNvPr id="21" name="Loop down"/>
          <p:cNvSpPr/>
          <p:nvPr/>
        </p:nvSpPr>
        <p:spPr>
          <a:xfrm>
            <a:off x="1435608" y="2651760"/>
            <a:ext cx="0" cy="274320"/>
          </a:xfrm>
          <a:prstGeom prst="line">
            <a:avLst/>
          </a:prstGeom>
          <a:noFill/>
          <a:ln w="19050">
            <a:solidFill>
              <a:srgbClr val="7B8794"/>
            </a:solidFill>
            <a:prstDash val="solid"/>
          </a:ln>
        </p:spPr>
      </p:sp>
      <p:sp>
        <p:nvSpPr>
          <p:cNvPr id="22" name="Loop across"/>
          <p:cNvSpPr/>
          <p:nvPr/>
        </p:nvSpPr>
        <p:spPr>
          <a:xfrm>
            <a:off x="1435608" y="2926080"/>
            <a:ext cx="6995160" cy="0"/>
          </a:xfrm>
          <a:prstGeom prst="line">
            <a:avLst/>
          </a:prstGeom>
          <a:noFill/>
          <a:ln w="19050">
            <a:solidFill>
              <a:srgbClr val="7B8794"/>
            </a:solidFill>
            <a:prstDash val="solid"/>
          </a:ln>
        </p:spPr>
      </p:sp>
      <p:sp>
        <p:nvSpPr>
          <p:cNvPr id="23" name="Loop up"/>
          <p:cNvSpPr/>
          <p:nvPr/>
        </p:nvSpPr>
        <p:spPr>
          <a:xfrm flipV="1">
            <a:off x="8430768" y="2926080"/>
            <a:ext cx="0" cy="-274320"/>
          </a:xfrm>
          <a:prstGeom prst="line">
            <a:avLst/>
          </a:prstGeom>
          <a:noFill/>
          <a:ln w="19050">
            <a:solidFill>
              <a:srgbClr val="7B8794"/>
            </a:solidFill>
            <a:prstDash val="solid"/>
            <a:tailEnd type="triangle"/>
          </a:ln>
        </p:spPr>
      </p:sp>
      <p:sp>
        <p:nvSpPr>
          <p:cNvPr id="24" name="Loop label"/>
          <p:cNvSpPr txBox="1"/>
          <p:nvPr/>
        </p:nvSpPr>
        <p:spPr>
          <a:xfrm>
            <a:off x="1709928" y="2971800"/>
            <a:ext cx="5669280" cy="256032"/>
          </a:xfrm>
          <a:prstGeom prst="rect">
            <a:avLst/>
          </a:prstGeom>
          <a:noFill/>
          <a:ln/>
        </p:spPr>
        <p:txBody>
          <a:bodyPr wrap="square" lIns="0" tIns="0" rIns="0" bIns="0" rtlCol="0" anchor="t"/>
          <a:lstStyle/>
          <a:p>
            <a:pPr indent="0" marL="0">
              <a:buNone/>
            </a:pPr>
            <a:r>
              <a:rPr lang="en-US" sz="1200" dirty="0">
                <a:solidFill>
                  <a:schemeClr val="accent5"/>
                </a:solidFill>
              </a:rPr>
              <a:t>live queue counts: cameras (150 m) and entry sensors</a:t>
            </a:r>
            <a:endParaRPr lang="en-US" sz="1200" dirty="0"/>
          </a:p>
        </p:txBody>
      </p:sp>
      <p:sp>
        <p:nvSpPr>
          <p:cNvPr id="25" name="Timescale card 1"/>
          <p:cNvSpPr/>
          <p:nvPr/>
        </p:nvSpPr>
        <p:spPr>
          <a:xfrm>
            <a:off x="548640" y="3840480"/>
            <a:ext cx="3611880" cy="2148840"/>
          </a:xfrm>
          <a:prstGeom prst="roundRect">
            <a:avLst>
              <a:gd name="adj" fmla="val 3404"/>
            </a:avLst>
          </a:prstGeom>
          <a:solidFill>
            <a:schemeClr val="bg2"/>
          </a:solidFill>
          <a:ln/>
        </p:spPr>
      </p:sp>
      <p:sp>
        <p:nvSpPr>
          <p:cNvPr id="26" name="Timescale label 1"/>
          <p:cNvSpPr txBox="1"/>
          <p:nvPr/>
        </p:nvSpPr>
        <p:spPr>
          <a:xfrm>
            <a:off x="777240" y="4023360"/>
            <a:ext cx="3154680" cy="256032"/>
          </a:xfrm>
          <a:prstGeom prst="rect">
            <a:avLst/>
          </a:prstGeom>
          <a:noFill/>
          <a:ln/>
        </p:spPr>
        <p:txBody>
          <a:bodyPr wrap="square" lIns="0" tIns="0" rIns="0" bIns="0" rtlCol="0" anchor="t"/>
          <a:lstStyle/>
          <a:p>
            <a:pPr indent="0" marL="0">
              <a:buNone/>
            </a:pPr>
            <a:r>
              <a:rPr lang="en-US" sz="1200" b="1" dirty="0">
                <a:solidFill>
                  <a:schemeClr val="accent5"/>
                </a:solidFill>
              </a:rPr>
              <a:t>EVERY SECOND</a:t>
            </a:r>
            <a:endParaRPr lang="en-US" sz="1200" dirty="0"/>
          </a:p>
        </p:txBody>
      </p:sp>
      <p:sp>
        <p:nvSpPr>
          <p:cNvPr id="27" name="Timescale title 1"/>
          <p:cNvSpPr txBox="1"/>
          <p:nvPr/>
        </p:nvSpPr>
        <p:spPr>
          <a:xfrm>
            <a:off x="777240" y="4297680"/>
            <a:ext cx="3154680" cy="36576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Reactive actuation</a:t>
            </a:r>
            <a:endParaRPr lang="en-US" sz="2000" dirty="0"/>
          </a:p>
        </p:txBody>
      </p:sp>
      <p:sp>
        <p:nvSpPr>
          <p:cNvPr id="28" name="Timescale bullets 1"/>
          <p:cNvSpPr txBox="1"/>
          <p:nvPr/>
        </p:nvSpPr>
        <p:spPr>
          <a:xfrm>
            <a:off x="777240" y="4800600"/>
            <a:ext cx="3154680" cy="109728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tx1"/>
                </a:solidFill>
              </a:rPr>
              <a:t>Phase switching</a:t>
            </a:r>
            <a:endParaRPr lang="en-US" sz="1400" dirty="0"/>
          </a:p>
          <a:p>
            <a:pPr marL="203200" indent="-203200">
              <a:spcAft>
                <a:spcPts val="800"/>
              </a:spcAft>
              <a:buSzPct val="100000"/>
              <a:buChar char="•"/>
            </a:pPr>
            <a:r>
              <a:rPr lang="en-US" sz="1400" dirty="0">
                <a:solidFill>
                  <a:schemeClr val="tx1"/>
                </a:solidFill>
              </a:rPr>
              <a:t>Min green and lost time</a:t>
            </a:r>
            <a:endParaRPr lang="en-US" sz="1400" dirty="0"/>
          </a:p>
          <a:p>
            <a:pPr marL="203200" indent="-203200">
              <a:spcAft>
                <a:spcPts val="800"/>
              </a:spcAft>
              <a:buSzPct val="100000"/>
              <a:buChar char="•"/>
            </a:pPr>
            <a:r>
              <a:rPr lang="en-US" sz="1400" dirty="0">
                <a:solidFill>
                  <a:schemeClr val="tx1"/>
                </a:solidFill>
              </a:rPr>
              <a:t>Gap-out ends empty greens</a:t>
            </a:r>
            <a:endParaRPr lang="en-US" sz="1400" dirty="0"/>
          </a:p>
        </p:txBody>
      </p:sp>
      <p:sp>
        <p:nvSpPr>
          <p:cNvPr id="29" name="Timescale card 2"/>
          <p:cNvSpPr/>
          <p:nvPr/>
        </p:nvSpPr>
        <p:spPr>
          <a:xfrm>
            <a:off x="4274820" y="3840480"/>
            <a:ext cx="3611880" cy="2148840"/>
          </a:xfrm>
          <a:prstGeom prst="roundRect">
            <a:avLst>
              <a:gd name="adj" fmla="val 3404"/>
            </a:avLst>
          </a:prstGeom>
          <a:solidFill>
            <a:schemeClr val="bg2"/>
          </a:solidFill>
          <a:ln/>
        </p:spPr>
      </p:sp>
      <p:sp>
        <p:nvSpPr>
          <p:cNvPr id="30" name="Timescale label 2"/>
          <p:cNvSpPr txBox="1"/>
          <p:nvPr/>
        </p:nvSpPr>
        <p:spPr>
          <a:xfrm>
            <a:off x="4503420" y="4023360"/>
            <a:ext cx="3154680" cy="256032"/>
          </a:xfrm>
          <a:prstGeom prst="rect">
            <a:avLst/>
          </a:prstGeom>
          <a:noFill/>
          <a:ln/>
        </p:spPr>
        <p:txBody>
          <a:bodyPr wrap="square" lIns="0" tIns="0" rIns="0" bIns="0" rtlCol="0" anchor="t"/>
          <a:lstStyle/>
          <a:p>
            <a:pPr indent="0" marL="0">
              <a:buNone/>
            </a:pPr>
            <a:r>
              <a:rPr lang="en-US" sz="1200" b="1" dirty="0">
                <a:solidFill>
                  <a:schemeClr val="accent5"/>
                </a:solidFill>
              </a:rPr>
              <a:t>EVERY MINUTE</a:t>
            </a:r>
            <a:endParaRPr lang="en-US" sz="1200" dirty="0"/>
          </a:p>
        </p:txBody>
      </p:sp>
      <p:sp>
        <p:nvSpPr>
          <p:cNvPr id="31" name="Timescale title 2"/>
          <p:cNvSpPr txBox="1"/>
          <p:nvPr/>
        </p:nvSpPr>
        <p:spPr>
          <a:xfrm>
            <a:off x="4503420" y="4297680"/>
            <a:ext cx="3154680" cy="36576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Strategy: the QP plan</a:t>
            </a:r>
            <a:endParaRPr lang="en-US" sz="2000" dirty="0"/>
          </a:p>
        </p:txBody>
      </p:sp>
      <p:sp>
        <p:nvSpPr>
          <p:cNvPr id="32" name="Timescale bullets 2"/>
          <p:cNvSpPr txBox="1"/>
          <p:nvPr/>
        </p:nvSpPr>
        <p:spPr>
          <a:xfrm>
            <a:off x="4503420" y="4800600"/>
            <a:ext cx="3154680" cy="109728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tx1"/>
                </a:solidFill>
              </a:rPr>
              <a:t>Cycle length and green splits</a:t>
            </a:r>
            <a:endParaRPr lang="en-US" sz="1400" dirty="0"/>
          </a:p>
          <a:p>
            <a:pPr marL="203200" indent="-203200">
              <a:spcAft>
                <a:spcPts val="800"/>
              </a:spcAft>
              <a:buSzPct val="100000"/>
              <a:buChar char="•"/>
            </a:pPr>
            <a:r>
              <a:rPr lang="en-US" sz="1400" dirty="0">
                <a:solidFill>
                  <a:schemeClr val="tx1"/>
                </a:solidFill>
              </a:rPr>
              <a:t>15-minute look-ahead</a:t>
            </a:r>
            <a:endParaRPr lang="en-US" sz="1400" dirty="0"/>
          </a:p>
          <a:p>
            <a:pPr marL="203200" indent="-203200">
              <a:spcAft>
                <a:spcPts val="800"/>
              </a:spcAft>
              <a:buSzPct val="100000"/>
              <a:buChar char="•"/>
            </a:pPr>
            <a:r>
              <a:rPr lang="en-US" sz="1400" dirty="0">
                <a:solidFill>
                  <a:schemeClr val="tx1"/>
                </a:solidFill>
              </a:rPr>
              <a:t>Forecast refreshed every 5 min</a:t>
            </a:r>
            <a:endParaRPr lang="en-US" sz="1400" dirty="0"/>
          </a:p>
        </p:txBody>
      </p:sp>
      <p:sp>
        <p:nvSpPr>
          <p:cNvPr id="33" name="Timescale card 3"/>
          <p:cNvSpPr/>
          <p:nvPr/>
        </p:nvSpPr>
        <p:spPr>
          <a:xfrm>
            <a:off x="8001000" y="3840480"/>
            <a:ext cx="3611880" cy="2148840"/>
          </a:xfrm>
          <a:prstGeom prst="roundRect">
            <a:avLst>
              <a:gd name="adj" fmla="val 3404"/>
            </a:avLst>
          </a:prstGeom>
          <a:solidFill>
            <a:schemeClr val="bg2"/>
          </a:solidFill>
          <a:ln/>
        </p:spPr>
      </p:sp>
      <p:sp>
        <p:nvSpPr>
          <p:cNvPr id="34" name="Timescale label 3"/>
          <p:cNvSpPr txBox="1"/>
          <p:nvPr/>
        </p:nvSpPr>
        <p:spPr>
          <a:xfrm>
            <a:off x="8229600" y="4023360"/>
            <a:ext cx="3154680" cy="256032"/>
          </a:xfrm>
          <a:prstGeom prst="rect">
            <a:avLst/>
          </a:prstGeom>
          <a:noFill/>
          <a:ln/>
        </p:spPr>
        <p:txBody>
          <a:bodyPr wrap="square" lIns="0" tIns="0" rIns="0" bIns="0" rtlCol="0" anchor="t"/>
          <a:lstStyle/>
          <a:p>
            <a:pPr indent="0" marL="0">
              <a:buNone/>
            </a:pPr>
            <a:r>
              <a:rPr lang="en-US" sz="1200" b="1" dirty="0">
                <a:solidFill>
                  <a:schemeClr val="accent5"/>
                </a:solidFill>
              </a:rPr>
              <a:t>EVERY DAY</a:t>
            </a:r>
            <a:endParaRPr lang="en-US" sz="1200" dirty="0"/>
          </a:p>
        </p:txBody>
      </p:sp>
      <p:sp>
        <p:nvSpPr>
          <p:cNvPr id="35" name="Timescale title 3"/>
          <p:cNvSpPr txBox="1"/>
          <p:nvPr/>
        </p:nvSpPr>
        <p:spPr>
          <a:xfrm>
            <a:off x="8229600" y="4297680"/>
            <a:ext cx="3154680" cy="36576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Learning</a:t>
            </a:r>
            <a:endParaRPr lang="en-US" sz="2000" dirty="0"/>
          </a:p>
        </p:txBody>
      </p:sp>
      <p:sp>
        <p:nvSpPr>
          <p:cNvPr id="36" name="Timescale bullets 3"/>
          <p:cNvSpPr txBox="1"/>
          <p:nvPr/>
        </p:nvSpPr>
        <p:spPr>
          <a:xfrm>
            <a:off x="8229600" y="4800600"/>
            <a:ext cx="3154680" cy="109728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tx1"/>
                </a:solidFill>
              </a:rPr>
              <a:t>Refit the forecaster</a:t>
            </a:r>
            <a:endParaRPr lang="en-US" sz="1400" dirty="0"/>
          </a:p>
          <a:p>
            <a:pPr marL="203200" indent="-203200">
              <a:spcAft>
                <a:spcPts val="800"/>
              </a:spcAft>
              <a:buSzPct val="100000"/>
              <a:buChar char="•"/>
            </a:pPr>
            <a:r>
              <a:rPr lang="en-US" sz="1400" dirty="0">
                <a:solidFill>
                  <a:schemeClr val="tx1"/>
                </a:solidFill>
              </a:rPr>
              <a:t>on accumulated history</a:t>
            </a:r>
            <a:endParaRPr lang="en-US" sz="14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7406640" cy="685800"/>
          </a:xfrm>
          <a:prstGeom prst="rect">
            <a:avLst/>
          </a:prstGeom>
          <a:noFill/>
          <a:ln/>
        </p:spPr>
        <p:txBody>
          <a:bodyPr wrap="square" lIns="0" tIns="0" rIns="0" bIns="0" rtlCol="0" anchor="ctr"/>
          <a:lstStyle/>
          <a:p>
            <a:pPr algn="l" indent="0" marL="0">
              <a:buNone/>
            </a:pPr>
            <a:r>
              <a:rPr lang="en-US" sz="3200" b="1" dirty="0">
                <a:solidFill>
                  <a:schemeClr val="tx1"/>
                </a:solidFill>
              </a:rPr>
              <a:t>Simulator and assumptions</a:t>
            </a:r>
            <a:endParaRPr lang="en-US" sz="3200" dirty="0"/>
          </a:p>
        </p:txBody>
      </p:sp>
      <p:sp>
        <p:nvSpPr>
          <p:cNvPr id="3" name="Message"/>
          <p:cNvSpPr txBox="1"/>
          <p:nvPr/>
        </p:nvSpPr>
        <p:spPr>
          <a:xfrm>
            <a:off x="548640" y="1005840"/>
            <a:ext cx="11091672" cy="411480"/>
          </a:xfrm>
          <a:prstGeom prst="rect">
            <a:avLst/>
          </a:prstGeom>
          <a:noFill/>
          <a:ln/>
        </p:spPr>
        <p:txBody>
          <a:bodyPr wrap="square" lIns="0" tIns="0" rIns="0" bIns="0" rtlCol="0" anchor="t"/>
          <a:lstStyle/>
          <a:p>
            <a:pPr indent="0" marL="0">
              <a:buNone/>
            </a:pPr>
            <a:r>
              <a:rPr lang="en-US" sz="1800" dirty="0">
                <a:solidFill>
                  <a:schemeClr val="accent5"/>
                </a:solidFill>
              </a:rPr>
              <a:t>A vehicle-level testbed where queues and spillback emerge</a:t>
            </a:r>
            <a:endParaRPr lang="en-US" sz="1800" dirty="0"/>
          </a:p>
        </p:txBody>
      </p:sp>
      <p:sp>
        <p:nvSpPr>
          <p:cNvPr id="4" name="Rubric tag"/>
          <p:cNvSpPr/>
          <p:nvPr/>
        </p:nvSpPr>
        <p:spPr>
          <a:xfrm>
            <a:off x="8074152" y="457200"/>
            <a:ext cx="3566160" cy="310896"/>
          </a:xfrm>
          <a:prstGeom prst="roundRect">
            <a:avLst>
              <a:gd name="adj" fmla="val 50000"/>
            </a:avLst>
          </a:prstGeom>
          <a:solidFill>
            <a:schemeClr val="bg2"/>
          </a:solidFill>
          <a:ln/>
        </p:spPr>
      </p:sp>
      <p:sp>
        <p:nvSpPr>
          <p:cNvPr id="5" name="Rubric tag text"/>
          <p:cNvSpPr txBox="1"/>
          <p:nvPr/>
        </p:nvSpPr>
        <p:spPr>
          <a:xfrm>
            <a:off x="8074152" y="457200"/>
            <a:ext cx="3566160" cy="310896"/>
          </a:xfrm>
          <a:prstGeom prst="rect">
            <a:avLst/>
          </a:prstGeom>
          <a:noFill/>
          <a:ln/>
        </p:spPr>
        <p:txBody>
          <a:bodyPr wrap="square" lIns="0" tIns="0" rIns="0" bIns="0" rtlCol="0" anchor="ctr"/>
          <a:lstStyle/>
          <a:p>
            <a:pPr algn="ctr" indent="0" marL="0">
              <a:buNone/>
            </a:pPr>
            <a:r>
              <a:rPr lang="en-US" sz="1100" dirty="0">
                <a:solidFill>
                  <a:schemeClr val="accent5"/>
                </a:solidFill>
              </a:rPr>
              <a:t>Rubric: Software eng. – code quality</a:t>
            </a:r>
            <a:endParaRPr lang="en-US" sz="1100" dirty="0"/>
          </a:p>
        </p:txBody>
      </p:sp>
      <p:sp>
        <p:nvSpPr>
          <p:cNvPr id="7" name="Assumption bullets"/>
          <p:cNvSpPr txBox="1"/>
          <p:nvPr/>
        </p:nvSpPr>
        <p:spPr>
          <a:xfrm>
            <a:off x="548640" y="1691640"/>
            <a:ext cx="5943600" cy="3566160"/>
          </a:xfrm>
          <a:prstGeom prst="rect">
            <a:avLst/>
          </a:prstGeom>
          <a:noFill/>
          <a:ln/>
        </p:spPr>
        <p:txBody>
          <a:bodyPr wrap="square" lIns="0" tIns="0" rIns="0" bIns="0" rtlCol="0" anchor="t"/>
          <a:lstStyle/>
          <a:p>
            <a:pPr marL="203200" indent="-203200">
              <a:spcAft>
                <a:spcPts val="800"/>
              </a:spcAft>
              <a:buSzPct val="100000"/>
              <a:buChar char="•"/>
            </a:pPr>
            <a:r>
              <a:rPr lang="en-US" sz="1800" dirty="0">
                <a:solidFill>
                  <a:schemeClr val="tx1"/>
                </a:solidFill>
              </a:rPr>
              <a:t>Intelligent Driver Model, 0.5 s steps: gradual start-up and braking</a:t>
            </a:r>
            <a:endParaRPr lang="en-US" sz="1400" dirty="0"/>
          </a:p>
          <a:p>
            <a:pPr marL="203200" indent="-203200">
              <a:spcAft>
                <a:spcPts val="800"/>
              </a:spcAft>
              <a:buSzPct val="100000"/>
              <a:buChar char="•"/>
            </a:pPr>
            <a:r>
              <a:rPr lang="en-US" sz="1800" dirty="0">
                <a:solidFill>
                  <a:schemeClr val="tx1"/>
                </a:solidFill>
              </a:rPr>
              <a:t>2×2 grid, one lane per approach, 70% straight / 15% left / 15% right</a:t>
            </a:r>
            <a:endParaRPr lang="en-US" sz="1400" dirty="0"/>
          </a:p>
          <a:p>
            <a:pPr marL="203200" indent="-203200">
              <a:spcAft>
                <a:spcPts val="800"/>
              </a:spcAft>
              <a:buSzPct val="100000"/>
              <a:buChar char="•"/>
            </a:pPr>
            <a:r>
              <a:rPr lang="en-US" sz="1800" dirty="0">
                <a:solidFill>
                  <a:schemeClr val="tx1"/>
                </a:solidFill>
              </a:rPr>
              <a:t>Poisson arrivals: time-of-day × weather × events</a:t>
            </a:r>
            <a:endParaRPr lang="en-US" sz="1400" dirty="0"/>
          </a:p>
          <a:p>
            <a:pPr marL="203200" indent="-203200">
              <a:spcAft>
                <a:spcPts val="800"/>
              </a:spcAft>
              <a:buSzPct val="100000"/>
              <a:buChar char="•"/>
            </a:pPr>
            <a:r>
              <a:rPr lang="en-US" sz="1800" dirty="0">
                <a:solidFill>
                  <a:schemeClr val="tx1"/>
                </a:solidFill>
              </a:rPr>
              <a:t>Rain cuts saturation flow; an accident blocks one lane, no rerouting</a:t>
            </a:r>
            <a:endParaRPr lang="en-US" sz="1400" dirty="0"/>
          </a:p>
          <a:p>
            <a:pPr marL="203200" indent="-203200">
              <a:spcAft>
                <a:spcPts val="800"/>
              </a:spcAft>
              <a:buSzPct val="100000"/>
              <a:buChar char="•"/>
            </a:pPr>
            <a:r>
              <a:rPr lang="en-US" sz="1800" dirty="0">
                <a:solidFill>
                  <a:schemeClr val="tx1"/>
                </a:solidFill>
              </a:rPr>
              <a:t>Common random numbers: every controller sees identical demand</a:t>
            </a:r>
            <a:endParaRPr lang="en-US" sz="1400" dirty="0"/>
          </a:p>
        </p:txBody>
      </p:sp>
      <p:sp>
        <p:nvSpPr>
          <p:cNvPr id="8" name="Citation"/>
          <p:cNvSpPr txBox="1"/>
          <p:nvPr/>
        </p:nvSpPr>
        <p:spPr>
          <a:xfrm>
            <a:off x="548640" y="5760720"/>
            <a:ext cx="5943600" cy="365760"/>
          </a:xfrm>
          <a:prstGeom prst="rect">
            <a:avLst/>
          </a:prstGeom>
          <a:noFill/>
          <a:ln/>
        </p:spPr>
        <p:txBody>
          <a:bodyPr wrap="square" lIns="0" tIns="0" rIns="0" bIns="0" rtlCol="0" anchor="t"/>
          <a:lstStyle/>
          <a:p>
            <a:pPr indent="0" marL="0">
              <a:buNone/>
            </a:pPr>
            <a:r>
              <a:rPr lang="en-US" sz="1200" dirty="0">
                <a:solidFill>
                  <a:schemeClr val="accent5"/>
                </a:solidFill>
              </a:rPr>
              <a:t>Treiber, Hennecke &amp; Helbing (2000), Physical Review E 62(2), 1805–1824</a:t>
            </a:r>
            <a:endParaRPr lang="en-US" sz="1200" dirty="0"/>
          </a:p>
        </p:txBody>
      </p:sp>
      <p:sp>
        <p:nvSpPr>
          <p:cNvPr id="9" name="Tile step card"/>
          <p:cNvSpPr/>
          <p:nvPr/>
        </p:nvSpPr>
        <p:spPr>
          <a:xfrm>
            <a:off x="6766560" y="1691640"/>
            <a:ext cx="2331720" cy="1783080"/>
          </a:xfrm>
          <a:prstGeom prst="roundRect">
            <a:avLst>
              <a:gd name="adj" fmla="val 4103"/>
            </a:avLst>
          </a:prstGeom>
          <a:solidFill>
            <a:schemeClr val="bg2"/>
          </a:solidFill>
          <a:ln/>
        </p:spPr>
      </p:sp>
      <p:sp>
        <p:nvSpPr>
          <p:cNvPr id="10" name="Tile step value"/>
          <p:cNvSpPr txBox="1"/>
          <p:nvPr/>
        </p:nvSpPr>
        <p:spPr>
          <a:xfrm>
            <a:off x="6949440" y="1801368"/>
            <a:ext cx="1965960" cy="891540"/>
          </a:xfrm>
          <a:prstGeom prst="rect">
            <a:avLst/>
          </a:prstGeom>
          <a:noFill/>
          <a:ln/>
        </p:spPr>
        <p:txBody>
          <a:bodyPr wrap="square" lIns="0" tIns="0" rIns="0" bIns="0" rtlCol="0" anchor="ctr"/>
          <a:lstStyle/>
          <a:p>
            <a:pPr indent="0" marL="0">
              <a:buNone/>
            </a:pPr>
            <a:r>
              <a:rPr lang="en-US" sz="3200" b="1" dirty="0">
                <a:solidFill>
                  <a:schemeClr val="tx1"/>
                </a:solidFill>
                <a:latin typeface="+mj-lt" pitchFamily="34" charset="0"/>
                <a:ea typeface="+mj-lt" pitchFamily="34" charset="-122"/>
                <a:cs typeface="+mj-lt" pitchFamily="34" charset="-120"/>
              </a:rPr>
              <a:t>0.5 s</a:t>
            </a:r>
            <a:endParaRPr lang="en-US" sz="3200" dirty="0"/>
          </a:p>
        </p:txBody>
      </p:sp>
      <p:sp>
        <p:nvSpPr>
          <p:cNvPr id="11" name="Tile step label"/>
          <p:cNvSpPr txBox="1"/>
          <p:nvPr/>
        </p:nvSpPr>
        <p:spPr>
          <a:xfrm>
            <a:off x="6949440" y="2725826"/>
            <a:ext cx="1965960" cy="677570"/>
          </a:xfrm>
          <a:prstGeom prst="rect">
            <a:avLst/>
          </a:prstGeom>
          <a:noFill/>
          <a:ln/>
        </p:spPr>
        <p:txBody>
          <a:bodyPr wrap="square" lIns="0" tIns="0" rIns="0" bIns="0" rtlCol="0" anchor="t"/>
          <a:lstStyle/>
          <a:p>
            <a:pPr indent="0" marL="0">
              <a:buNone/>
            </a:pPr>
            <a:r>
              <a:rPr lang="en-US" sz="1400" dirty="0">
                <a:solidFill>
                  <a:schemeClr val="accent4"/>
                </a:solidFill>
              </a:rPr>
              <a:t>simulation time step</a:t>
            </a:r>
            <a:endParaRPr lang="en-US" sz="1400" dirty="0"/>
          </a:p>
        </p:txBody>
      </p:sp>
      <p:sp>
        <p:nvSpPr>
          <p:cNvPr id="12" name="Tile grid card"/>
          <p:cNvSpPr/>
          <p:nvPr/>
        </p:nvSpPr>
        <p:spPr>
          <a:xfrm>
            <a:off x="9326880" y="1691640"/>
            <a:ext cx="2331720" cy="1783080"/>
          </a:xfrm>
          <a:prstGeom prst="roundRect">
            <a:avLst>
              <a:gd name="adj" fmla="val 4103"/>
            </a:avLst>
          </a:prstGeom>
          <a:solidFill>
            <a:schemeClr val="bg2"/>
          </a:solidFill>
          <a:ln/>
        </p:spPr>
      </p:sp>
      <p:sp>
        <p:nvSpPr>
          <p:cNvPr id="13" name="Tile grid value"/>
          <p:cNvSpPr txBox="1"/>
          <p:nvPr/>
        </p:nvSpPr>
        <p:spPr>
          <a:xfrm>
            <a:off x="9509760" y="1801368"/>
            <a:ext cx="1965960" cy="891540"/>
          </a:xfrm>
          <a:prstGeom prst="rect">
            <a:avLst/>
          </a:prstGeom>
          <a:noFill/>
          <a:ln/>
        </p:spPr>
        <p:txBody>
          <a:bodyPr wrap="square" lIns="0" tIns="0" rIns="0" bIns="0" rtlCol="0" anchor="ctr"/>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14" name="Tile grid label"/>
          <p:cNvSpPr txBox="1"/>
          <p:nvPr/>
        </p:nvSpPr>
        <p:spPr>
          <a:xfrm>
            <a:off x="9509760" y="2725826"/>
            <a:ext cx="1965960" cy="677570"/>
          </a:xfrm>
          <a:prstGeom prst="rect">
            <a:avLst/>
          </a:prstGeom>
          <a:noFill/>
          <a:ln/>
        </p:spPr>
        <p:txBody>
          <a:bodyPr wrap="square" lIns="0" tIns="0" rIns="0" bIns="0" rtlCol="0" anchor="t"/>
          <a:lstStyle/>
          <a:p>
            <a:pPr indent="0" marL="0">
              <a:buNone/>
            </a:pPr>
            <a:r>
              <a:rPr lang="en-US" sz="1400" dirty="0">
                <a:solidFill>
                  <a:schemeClr val="accent4"/>
                </a:solidFill>
              </a:rPr>
              <a:t>intersections, 8 entry roads</a:t>
            </a:r>
            <a:endParaRPr lang="en-US" sz="1400" dirty="0"/>
          </a:p>
        </p:txBody>
      </p:sp>
      <p:sp>
        <p:nvSpPr>
          <p:cNvPr id="15" name="Tile links card"/>
          <p:cNvSpPr/>
          <p:nvPr/>
        </p:nvSpPr>
        <p:spPr>
          <a:xfrm>
            <a:off x="6766560" y="3703320"/>
            <a:ext cx="2331720" cy="1783080"/>
          </a:xfrm>
          <a:prstGeom prst="roundRect">
            <a:avLst>
              <a:gd name="adj" fmla="val 4103"/>
            </a:avLst>
          </a:prstGeom>
          <a:solidFill>
            <a:schemeClr val="bg2"/>
          </a:solidFill>
          <a:ln/>
        </p:spPr>
      </p:sp>
      <p:sp>
        <p:nvSpPr>
          <p:cNvPr id="16" name="Tile links value"/>
          <p:cNvSpPr txBox="1"/>
          <p:nvPr/>
        </p:nvSpPr>
        <p:spPr>
          <a:xfrm>
            <a:off x="6949440" y="3813048"/>
            <a:ext cx="1965960" cy="891540"/>
          </a:xfrm>
          <a:prstGeom prst="rect">
            <a:avLst/>
          </a:prstGeom>
          <a:noFill/>
          <a:ln/>
        </p:spPr>
        <p:txBody>
          <a:bodyPr wrap="square" lIns="0" tIns="0" rIns="0" bIns="0" rtlCol="0" anchor="ctr"/>
          <a:lstStyle/>
          <a:p>
            <a:pPr indent="0" marL="0">
              <a:buNone/>
            </a:pPr>
            <a:r>
              <a:rPr lang="en-US" sz="3200" b="1" dirty="0">
                <a:solidFill>
                  <a:schemeClr val="tx1"/>
                </a:solidFill>
                <a:latin typeface="+mj-lt" pitchFamily="34" charset="0"/>
                <a:ea typeface="+mj-lt" pitchFamily="34" charset="-122"/>
                <a:cs typeface="+mj-lt" pitchFamily="34" charset="-120"/>
              </a:rPr>
              <a:t>200 m</a:t>
            </a:r>
            <a:endParaRPr lang="en-US" sz="3200" dirty="0"/>
          </a:p>
        </p:txBody>
      </p:sp>
      <p:sp>
        <p:nvSpPr>
          <p:cNvPr id="17" name="Tile links label"/>
          <p:cNvSpPr txBox="1"/>
          <p:nvPr/>
        </p:nvSpPr>
        <p:spPr>
          <a:xfrm>
            <a:off x="6949440" y="4737506"/>
            <a:ext cx="1965960" cy="677570"/>
          </a:xfrm>
          <a:prstGeom prst="rect">
            <a:avLst/>
          </a:prstGeom>
          <a:noFill/>
          <a:ln/>
        </p:spPr>
        <p:txBody>
          <a:bodyPr wrap="square" lIns="0" tIns="0" rIns="0" bIns="0" rtlCol="0" anchor="t"/>
          <a:lstStyle/>
          <a:p>
            <a:pPr indent="0" marL="0">
              <a:buNone/>
            </a:pPr>
            <a:r>
              <a:rPr lang="en-US" sz="1400" dirty="0">
                <a:solidFill>
                  <a:schemeClr val="accent4"/>
                </a:solidFill>
              </a:rPr>
              <a:t>internal links (entry roads 400 m)</a:t>
            </a:r>
            <a:endParaRPr lang="en-US" sz="1400" dirty="0"/>
          </a:p>
        </p:txBody>
      </p:sp>
      <p:sp>
        <p:nvSpPr>
          <p:cNvPr id="18" name="Tile rain card"/>
          <p:cNvSpPr/>
          <p:nvPr/>
        </p:nvSpPr>
        <p:spPr>
          <a:xfrm>
            <a:off x="9326880" y="3703320"/>
            <a:ext cx="2331720" cy="1783080"/>
          </a:xfrm>
          <a:prstGeom prst="roundRect">
            <a:avLst>
              <a:gd name="adj" fmla="val 4103"/>
            </a:avLst>
          </a:prstGeom>
          <a:solidFill>
            <a:schemeClr val="bg2"/>
          </a:solidFill>
          <a:ln/>
        </p:spPr>
      </p:sp>
      <p:sp>
        <p:nvSpPr>
          <p:cNvPr id="19" name="Tile rain value"/>
          <p:cNvSpPr txBox="1"/>
          <p:nvPr/>
        </p:nvSpPr>
        <p:spPr>
          <a:xfrm>
            <a:off x="9509760" y="3813048"/>
            <a:ext cx="1965960" cy="891540"/>
          </a:xfrm>
          <a:prstGeom prst="rect">
            <a:avLst/>
          </a:prstGeom>
          <a:noFill/>
          <a:ln/>
        </p:spPr>
        <p:txBody>
          <a:bodyPr wrap="square" lIns="0" tIns="0" rIns="0" bIns="0" rtlCol="0" anchor="ctr"/>
          <a:lstStyle/>
          <a:p>
            <a:pPr indent="0" marL="0">
              <a:buNone/>
            </a:pPr>
            <a:r>
              <a:rPr lang="en-US" sz="3200" b="1" dirty="0">
                <a:solidFill>
                  <a:schemeClr val="tx1"/>
                </a:solidFill>
                <a:latin typeface="+mj-lt" pitchFamily="34" charset="0"/>
                <a:ea typeface="+mj-lt" pitchFamily="34" charset="-122"/>
                <a:cs typeface="+mj-lt" pitchFamily="34" charset="-120"/>
              </a:rPr>
              <a:t>−17%</a:t>
            </a:r>
            <a:endParaRPr lang="en-US" sz="3200" dirty="0"/>
          </a:p>
        </p:txBody>
      </p:sp>
      <p:sp>
        <p:nvSpPr>
          <p:cNvPr id="20" name="Tile rain label"/>
          <p:cNvSpPr txBox="1"/>
          <p:nvPr/>
        </p:nvSpPr>
        <p:spPr>
          <a:xfrm>
            <a:off x="9509760" y="4737506"/>
            <a:ext cx="1965960" cy="677570"/>
          </a:xfrm>
          <a:prstGeom prst="rect">
            <a:avLst/>
          </a:prstGeom>
          <a:noFill/>
          <a:ln/>
        </p:spPr>
        <p:txBody>
          <a:bodyPr wrap="square" lIns="0" tIns="0" rIns="0" bIns="0" rtlCol="0" anchor="t"/>
          <a:lstStyle/>
          <a:p>
            <a:pPr indent="0" marL="0">
              <a:buNone/>
            </a:pPr>
            <a:r>
              <a:rPr lang="en-US" sz="1400" dirty="0">
                <a:solidFill>
                  <a:schemeClr val="accent4"/>
                </a:solidFill>
              </a:rPr>
              <a:t>saturation flow in full rain: 0.40 → 0.33 veh/s</a:t>
            </a:r>
            <a:endParaRPr lang="en-US" sz="14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7406640" cy="685800"/>
          </a:xfrm>
          <a:prstGeom prst="rect">
            <a:avLst/>
          </a:prstGeom>
          <a:noFill/>
          <a:ln/>
        </p:spPr>
        <p:txBody>
          <a:bodyPr wrap="square" lIns="0" tIns="0" rIns="0" bIns="0" rtlCol="0" anchor="ctr"/>
          <a:lstStyle/>
          <a:p>
            <a:pPr algn="l" indent="0" marL="0">
              <a:buNone/>
            </a:pPr>
            <a:r>
              <a:rPr lang="en-US" sz="3200" b="1" dirty="0">
                <a:solidFill>
                  <a:schemeClr val="tx1"/>
                </a:solidFill>
              </a:rPr>
              <a:t>ML: the forecaster</a:t>
            </a:r>
            <a:endParaRPr lang="en-US" sz="3200" dirty="0"/>
          </a:p>
        </p:txBody>
      </p:sp>
      <p:sp>
        <p:nvSpPr>
          <p:cNvPr id="3" name="Message"/>
          <p:cNvSpPr txBox="1"/>
          <p:nvPr/>
        </p:nvSpPr>
        <p:spPr>
          <a:xfrm>
            <a:off x="548640" y="1005840"/>
            <a:ext cx="11091672" cy="411480"/>
          </a:xfrm>
          <a:prstGeom prst="rect">
            <a:avLst/>
          </a:prstGeom>
          <a:noFill/>
          <a:ln/>
        </p:spPr>
        <p:txBody>
          <a:bodyPr wrap="square" lIns="0" tIns="0" rIns="0" bIns="0" rtlCol="0" anchor="t"/>
          <a:lstStyle/>
          <a:p>
            <a:pPr indent="0" marL="0">
              <a:buNone/>
            </a:pPr>
            <a:r>
              <a:rPr lang="en-US" sz="1800" dirty="0">
                <a:solidFill>
                  <a:schemeClr val="accent5"/>
                </a:solidFill>
              </a:rPr>
              <a:t>A Poisson GLM on live counts cuts forecast error from 9.8% to 6.8%</a:t>
            </a:r>
            <a:endParaRPr lang="en-US" sz="1800" dirty="0"/>
          </a:p>
        </p:txBody>
      </p:sp>
      <p:sp>
        <p:nvSpPr>
          <p:cNvPr id="4" name="Rubric tag"/>
          <p:cNvSpPr/>
          <p:nvPr/>
        </p:nvSpPr>
        <p:spPr>
          <a:xfrm>
            <a:off x="8074152" y="457200"/>
            <a:ext cx="3566160" cy="310896"/>
          </a:xfrm>
          <a:prstGeom prst="roundRect">
            <a:avLst>
              <a:gd name="adj" fmla="val 50000"/>
            </a:avLst>
          </a:prstGeom>
          <a:solidFill>
            <a:schemeClr val="bg2"/>
          </a:solidFill>
          <a:ln/>
        </p:spPr>
      </p:sp>
      <p:sp>
        <p:nvSpPr>
          <p:cNvPr id="5" name="Rubric tag text"/>
          <p:cNvSpPr txBox="1"/>
          <p:nvPr/>
        </p:nvSpPr>
        <p:spPr>
          <a:xfrm>
            <a:off x="8074152" y="457200"/>
            <a:ext cx="3566160" cy="310896"/>
          </a:xfrm>
          <a:prstGeom prst="rect">
            <a:avLst/>
          </a:prstGeom>
          <a:noFill/>
          <a:ln/>
        </p:spPr>
        <p:txBody>
          <a:bodyPr wrap="square" lIns="0" tIns="0" rIns="0" bIns="0" rtlCol="0" anchor="ctr"/>
          <a:lstStyle/>
          <a:p>
            <a:pPr algn="ctr" indent="0" marL="0">
              <a:buNone/>
            </a:pPr>
            <a:r>
              <a:rPr lang="en-US" sz="1100" dirty="0">
                <a:solidFill>
                  <a:schemeClr val="accent5"/>
                </a:solidFill>
              </a:rPr>
              <a:t>Rubric: ML – model selection · features</a:t>
            </a:r>
            <a:endParaRPr lang="en-US" sz="1100" dirty="0"/>
          </a:p>
        </p:txBody>
      </p:sp>
      <p:graphicFrame>
        <p:nvGraphicFramePr>
          <p:cNvPr id="6" name="Model ladder table"/>
          <p:cNvGraphicFramePr>
            <a:graphicFrameLocks noGrp="1"/>
          </p:cNvGraphicFramePr>
          <p:nvPr>
            <p:extLst>
              <p:ext uri="{D42A27DB-BD31-4B8C-83A1-F6EECF244321}">
                <p14:modId xmlns:p14="http://schemas.microsoft.com/office/powerpoint/2010/main" val="1579011935"/>
              </p:ext>
            </p:extLst>
          </p:nvPr>
        </p:nvGraphicFramePr>
        <p:xfrm>
          <a:off x="548640" y="1691640"/>
          <a:ext cx="7040880" cy="914400"/>
        </p:xfrm>
        <a:graphic>
          <a:graphicData uri="http://schemas.openxmlformats.org/drawingml/2006/table">
            <a:tbl>
              <a:tblPr/>
              <a:tblGrid>
                <a:gridCol w="3566160"/>
                <a:gridCol w="2377440"/>
                <a:gridCol w="1097280"/>
              </a:tblGrid>
              <a:tr h="384048">
                <a:tc>
                  <a:txBody>
                    <a:bodyPr/>
                    <a:lstStyle/>
                    <a:p>
                      <a:pPr algn="l" indent="0" marL="0">
                        <a:buNone/>
                      </a:pPr>
                      <a:r>
                        <a:rPr lang="en-US" sz="1400" b="1" dirty="0">
                          <a:solidFill>
                            <a:schemeClr val="bg1"/>
                          </a:solidFill>
                        </a:rPr>
                        <a:t>Model</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Inputs</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Error</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tx2"/>
                    </a:solidFill>
                  </a:tcPr>
                </a:tc>
              </a:tr>
              <a:tr h="502920">
                <a:tc>
                  <a:txBody>
                    <a:bodyPr/>
                    <a:lstStyle/>
                    <a:p>
                      <a:pPr indent="0" marL="0">
                        <a:buNone/>
                      </a:pPr>
                      <a:r>
                        <a:rPr lang="en-US" sz="1400" dirty="0">
                          <a:solidFill>
                            <a:schemeClr val="tx1"/>
                          </a:solidFill>
                        </a:rPr>
                        <a:t>Hour-of-day profile</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indent="0" marL="0">
                        <a:buNone/>
                      </a:pPr>
                      <a:r>
                        <a:rPr lang="en-US" sz="1400" dirty="0">
                          <a:solidFill>
                            <a:schemeClr val="tx1"/>
                          </a:solidFill>
                        </a:rPr>
                        <a:t>clock, weekday/weekend</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400" dirty="0">
                          <a:solidFill>
                            <a:schemeClr val="tx1"/>
                          </a:solidFill>
                        </a:rPr>
                        <a:t>9.8%</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r>
              <a:tr h="502920">
                <a:tc>
                  <a:txBody>
                    <a:bodyPr/>
                    <a:lstStyle/>
                    <a:p>
                      <a:pPr indent="0" marL="0">
                        <a:buNone/>
                      </a:pPr>
                      <a:r>
                        <a:rPr lang="en-US" sz="1400" dirty="0">
                          <a:solidFill>
                            <a:schemeClr val="tx1"/>
                          </a:solidFill>
                        </a:rPr>
                        <a:t>Profile × rain effect (2 parameters)</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indent="0" marL="0">
                        <a:buNone/>
                      </a:pPr>
                      <a:r>
                        <a:rPr lang="en-US" sz="1400" dirty="0">
                          <a:solidFill>
                            <a:schemeClr val="tx1"/>
                          </a:solidFill>
                        </a:rPr>
                        <a:t>+ rain forecast</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400" dirty="0">
                          <a:solidFill>
                            <a:schemeClr val="tx1"/>
                          </a:solidFill>
                        </a:rPr>
                        <a:t>9.6%</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r>
              <a:tr h="548640">
                <a:tc>
                  <a:txBody>
                    <a:bodyPr/>
                    <a:lstStyle/>
                    <a:p>
                      <a:pPr indent="0" marL="0">
                        <a:buNone/>
                      </a:pPr>
                      <a:r>
                        <a:rPr lang="en-US" sz="1400" b="1" dirty="0">
                          <a:solidFill>
                            <a:schemeClr val="tx1"/>
                          </a:solidFill>
                        </a:rPr>
                        <a:t>Poisson GLM + live counts + censoring guard</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accent6"/>
                    </a:solidFill>
                  </a:tcPr>
                </a:tc>
                <a:tc>
                  <a:txBody>
                    <a:bodyPr/>
                    <a:lstStyle/>
                    <a:p>
                      <a:pPr indent="0" marL="0">
                        <a:buNone/>
                      </a:pPr>
                      <a:r>
                        <a:rPr lang="en-US" sz="1400" b="1" dirty="0">
                          <a:solidFill>
                            <a:schemeClr val="tx1"/>
                          </a:solidFill>
                        </a:rPr>
                        <a:t>+ recent sensor counts</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accent6"/>
                    </a:solidFill>
                  </a:tcPr>
                </a:tc>
                <a:tc>
                  <a:txBody>
                    <a:bodyPr/>
                    <a:lstStyle/>
                    <a:p>
                      <a:pPr algn="ctr" indent="0" marL="0">
                        <a:buNone/>
                      </a:pPr>
                      <a:r>
                        <a:rPr lang="en-US" sz="1400" b="1" dirty="0">
                          <a:solidFill>
                            <a:schemeClr val="tx1"/>
                          </a:solidFill>
                        </a:rPr>
                        <a:t>6.8%</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accent6"/>
                    </a:solidFill>
                  </a:tcPr>
                </a:tc>
              </a:tr>
              <a:tr h="594360">
                <a:tc>
                  <a:txBody>
                    <a:bodyPr/>
                    <a:lstStyle/>
                    <a:p>
                      <a:pPr indent="0" marL="0">
                        <a:buNone/>
                      </a:pPr>
                      <a:r>
                        <a:rPr lang="en-US" sz="1400" dirty="0">
                          <a:solidFill>
                            <a:schemeClr val="tx1"/>
                          </a:solidFill>
                        </a:rPr>
                        <a:t>Gradient boosting (Poisson loss) + live counts + guard</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indent="0" marL="0">
                        <a:buNone/>
                      </a:pPr>
                      <a:r>
                        <a:rPr lang="en-US" sz="1400" dirty="0">
                          <a:solidFill>
                            <a:schemeClr val="tx1"/>
                          </a:solidFill>
                        </a:rPr>
                        <a:t>same</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400" dirty="0">
                          <a:solidFill>
                            <a:schemeClr val="tx1"/>
                          </a:solidFill>
                        </a:rPr>
                        <a:t>6.8%</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r>
              <a:tr h="594360">
                <a:tc>
                  <a:txBody>
                    <a:bodyPr/>
                    <a:lstStyle/>
                    <a:p>
                      <a:pPr indent="0" marL="0">
                        <a:buNone/>
                      </a:pPr>
                      <a:r>
                        <a:rPr lang="en-US" sz="1400" dirty="0">
                          <a:solidFill>
                            <a:schemeClr val="tx1"/>
                          </a:solidFill>
                        </a:rPr>
                        <a:t>Current true rate carried forward (oracle for “now”)</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indent="0" marL="0">
                        <a:buNone/>
                      </a:pP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400" dirty="0">
                          <a:solidFill>
                            <a:schemeClr val="tx1"/>
                          </a:solidFill>
                        </a:rPr>
                        <a:t>6.8%</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r>
            </a:tbl>
          </a:graphicData>
        </a:graphic>
      </p:graphicFrame>
      <p:sp>
        <p:nvSpPr>
          <p:cNvPr id="8" name="Ladder caption"/>
          <p:cNvSpPr txBox="1"/>
          <p:nvPr/>
        </p:nvSpPr>
        <p:spPr>
          <a:xfrm>
            <a:off x="548640" y="5120640"/>
            <a:ext cx="7040880" cy="274320"/>
          </a:xfrm>
          <a:prstGeom prst="rect">
            <a:avLst/>
          </a:prstGeom>
          <a:noFill/>
          <a:ln/>
        </p:spPr>
        <p:txBody>
          <a:bodyPr wrap="square" lIns="0" tIns="0" rIns="0" bIns="0" rtlCol="0" anchor="t"/>
          <a:lstStyle/>
          <a:p>
            <a:pPr indent="0" marL="0">
              <a:buNone/>
            </a:pPr>
            <a:r>
              <a:rPr lang="en-US" sz="1200" dirty="0">
                <a:solidFill>
                  <a:schemeClr val="accent5"/>
                </a:solidFill>
              </a:rPr>
              <a:t>Error = mean absolute error as % of mean true rate, 5–30 min ahead, held-out days</a:t>
            </a:r>
            <a:endParaRPr lang="en-US" sz="1200" dirty="0"/>
          </a:p>
        </p:txBody>
      </p:sp>
      <p:sp>
        <p:nvSpPr>
          <p:cNvPr id="9" name="Why GLM"/>
          <p:cNvSpPr txBox="1"/>
          <p:nvPr/>
        </p:nvSpPr>
        <p:spPr>
          <a:xfrm>
            <a:off x="548640" y="5486400"/>
            <a:ext cx="7040880" cy="64008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tx1"/>
                </a:solidFill>
              </a:rPr>
              <a:t>One global model, Poisson loss: arrivals are counts</a:t>
            </a:r>
            <a:endParaRPr lang="en-US" sz="1400" dirty="0"/>
          </a:p>
          <a:p>
            <a:pPr marL="203200" indent="-203200">
              <a:spcAft>
                <a:spcPts val="800"/>
              </a:spcAft>
              <a:buSzPct val="100000"/>
              <a:buChar char="•"/>
            </a:pPr>
            <a:r>
              <a:rPr lang="en-US" sz="1400" dirty="0">
                <a:solidFill>
                  <a:schemeClr val="tx1"/>
                </a:solidFill>
              </a:rPr>
              <a:t>Boosting matches it, so keep the simpler GLM</a:t>
            </a:r>
            <a:endParaRPr lang="en-US" sz="1400" dirty="0"/>
          </a:p>
        </p:txBody>
      </p:sp>
      <p:sp>
        <p:nvSpPr>
          <p:cNvPr id="10" name="Skill card"/>
          <p:cNvSpPr/>
          <p:nvPr/>
        </p:nvSpPr>
        <p:spPr>
          <a:xfrm>
            <a:off x="8138160" y="1691640"/>
            <a:ext cx="3502152" cy="1325880"/>
          </a:xfrm>
          <a:prstGeom prst="roundRect">
            <a:avLst>
              <a:gd name="adj" fmla="val 5517"/>
            </a:avLst>
          </a:prstGeom>
          <a:solidFill>
            <a:schemeClr val="bg2"/>
          </a:solidFill>
          <a:ln/>
        </p:spPr>
      </p:sp>
      <p:sp>
        <p:nvSpPr>
          <p:cNvPr id="11" name="Skill value"/>
          <p:cNvSpPr txBox="1"/>
          <p:nvPr/>
        </p:nvSpPr>
        <p:spPr>
          <a:xfrm>
            <a:off x="8321040" y="1801368"/>
            <a:ext cx="3136392" cy="662940"/>
          </a:xfrm>
          <a:prstGeom prst="rect">
            <a:avLst/>
          </a:prstGeom>
          <a:noFill/>
          <a:ln/>
        </p:spPr>
        <p:txBody>
          <a:bodyPr wrap="square" lIns="0" tIns="0" rIns="0" bIns="0" rtlCol="0" anchor="ctr"/>
          <a:lstStyle/>
          <a:p>
            <a:pPr indent="0" marL="0">
              <a:buNone/>
            </a:pPr>
            <a:r>
              <a:rPr lang="en-US" sz="3200" b="1" dirty="0">
                <a:solidFill>
                  <a:schemeClr val="tx1"/>
                </a:solidFill>
                <a:latin typeface="+mj-lt" pitchFamily="34" charset="0"/>
                <a:ea typeface="+mj-lt" pitchFamily="34" charset="-122"/>
                <a:cs typeface="+mj-lt" pitchFamily="34" charset="-120"/>
              </a:rPr>
              <a:t>0.50</a:t>
            </a:r>
            <a:endParaRPr lang="en-US" sz="3200" dirty="0"/>
          </a:p>
        </p:txBody>
      </p:sp>
      <p:sp>
        <p:nvSpPr>
          <p:cNvPr id="12" name="Skill label"/>
          <p:cNvSpPr txBox="1"/>
          <p:nvPr/>
        </p:nvSpPr>
        <p:spPr>
          <a:xfrm>
            <a:off x="8321040" y="2460650"/>
            <a:ext cx="3136392" cy="503834"/>
          </a:xfrm>
          <a:prstGeom prst="rect">
            <a:avLst/>
          </a:prstGeom>
          <a:noFill/>
          <a:ln/>
        </p:spPr>
        <p:txBody>
          <a:bodyPr wrap="square" lIns="0" tIns="0" rIns="0" bIns="0" rtlCol="0" anchor="t"/>
          <a:lstStyle/>
          <a:p>
            <a:pPr indent="0" marL="0">
              <a:buNone/>
            </a:pPr>
            <a:r>
              <a:rPr lang="en-US" sz="1400" dirty="0">
                <a:solidFill>
                  <a:schemeClr val="accent4"/>
                </a:solidFill>
              </a:rPr>
              <a:t>skill vs profile, all from live counts</a:t>
            </a:r>
            <a:endParaRPr lang="en-US" sz="1400" dirty="0"/>
          </a:p>
        </p:txBody>
      </p:sp>
      <p:sp>
        <p:nvSpPr>
          <p:cNvPr id="13" name="Features card"/>
          <p:cNvSpPr/>
          <p:nvPr/>
        </p:nvSpPr>
        <p:spPr>
          <a:xfrm>
            <a:off x="8138160" y="3200400"/>
            <a:ext cx="3502152" cy="2743200"/>
          </a:xfrm>
          <a:prstGeom prst="roundRect">
            <a:avLst>
              <a:gd name="adj" fmla="val 2667"/>
            </a:avLst>
          </a:prstGeom>
          <a:solidFill>
            <a:schemeClr val="bg2"/>
          </a:solidFill>
          <a:ln/>
        </p:spPr>
      </p:sp>
      <p:sp>
        <p:nvSpPr>
          <p:cNvPr id="14" name="Features title"/>
          <p:cNvSpPr txBox="1"/>
          <p:nvPr/>
        </p:nvSpPr>
        <p:spPr>
          <a:xfrm>
            <a:off x="8366760" y="3337560"/>
            <a:ext cx="3108960" cy="320040"/>
          </a:xfrm>
          <a:prstGeom prst="rect">
            <a:avLst/>
          </a:prstGeom>
          <a:noFill/>
          <a:ln/>
        </p:spPr>
        <p:txBody>
          <a:bodyPr wrap="square" lIns="0" tIns="0" rIns="0" bIns="0" rtlCol="0" anchor="t"/>
          <a:lstStyle/>
          <a:p>
            <a:pPr indent="0" marL="0">
              <a:buNone/>
            </a:pPr>
            <a:r>
              <a:rPr lang="en-US" sz="1800" b="1" dirty="0">
                <a:solidFill>
                  <a:schemeClr val="tx1"/>
                </a:solidFill>
                <a:latin typeface="+mj-lt" pitchFamily="34" charset="0"/>
                <a:ea typeface="+mj-lt" pitchFamily="34" charset="-122"/>
                <a:cs typeface="+mj-lt" pitchFamily="34" charset="-120"/>
              </a:rPr>
              <a:t>Features</a:t>
            </a:r>
            <a:endParaRPr lang="en-US" sz="1800" dirty="0"/>
          </a:p>
        </p:txBody>
      </p:sp>
      <p:sp>
        <p:nvSpPr>
          <p:cNvPr id="15" name="Features list"/>
          <p:cNvSpPr txBox="1"/>
          <p:nvPr/>
        </p:nvSpPr>
        <p:spPr>
          <a:xfrm>
            <a:off x="8366760" y="3749040"/>
            <a:ext cx="3108960" cy="210312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tx1"/>
                </a:solidFill>
              </a:rPr>
              <a:t>Clock and weekday/weekend</a:t>
            </a:r>
            <a:endParaRPr lang="en-US" sz="1400" dirty="0"/>
          </a:p>
          <a:p>
            <a:pPr marL="203200" indent="-203200">
              <a:spcAft>
                <a:spcPts val="800"/>
              </a:spcAft>
              <a:buSzPct val="100000"/>
              <a:buChar char="•"/>
            </a:pPr>
            <a:r>
              <a:rPr lang="en-US" sz="1400" dirty="0">
                <a:solidFill>
                  <a:schemeClr val="tx1"/>
                </a:solidFill>
              </a:rPr>
              <a:t>Noisy rain forecast</a:t>
            </a:r>
            <a:endParaRPr lang="en-US" sz="1400" dirty="0"/>
          </a:p>
          <a:p>
            <a:pPr marL="203200" indent="-203200">
              <a:spcAft>
                <a:spcPts val="800"/>
              </a:spcAft>
              <a:buSzPct val="100000"/>
              <a:buChar char="•"/>
            </a:pPr>
            <a:r>
              <a:rPr lang="en-US" sz="1400" dirty="0">
                <a:solidFill>
                  <a:schemeClr val="tx1"/>
                </a:solidFill>
              </a:rPr>
              <a:t>Recent entry-sensor counts</a:t>
            </a:r>
            <a:endParaRPr lang="en-US" sz="1400" dirty="0"/>
          </a:p>
          <a:p>
            <a:pPr marL="203200" indent="-203200">
              <a:spcAft>
                <a:spcPts val="800"/>
              </a:spcAft>
              <a:buSzPct val="100000"/>
              <a:buChar char="•"/>
            </a:pPr>
            <a:r>
              <a:rPr lang="en-US" sz="1400" dirty="0">
                <a:solidFill>
                  <a:schemeClr val="tx1"/>
                </a:solidFill>
              </a:rPr>
              <a:t>Entry × clock interactions</a:t>
            </a:r>
            <a:endParaRPr lang="en-US" sz="1400" dirty="0"/>
          </a:p>
          <a:p>
            <a:pPr marL="203200" indent="-203200">
              <a:spcAft>
                <a:spcPts val="800"/>
              </a:spcAft>
              <a:buSzPct val="100000"/>
              <a:buChar char="•"/>
            </a:pPr>
            <a:r>
              <a:rPr lang="en-US" sz="1400" dirty="0">
                <a:solidFill>
                  <a:schemeClr val="tx1"/>
                </a:solidFill>
              </a:rPr>
              <a:t>Entry-road occupancy adds nothing</a:t>
            </a:r>
            <a:endParaRPr lang="en-US" sz="1400" dirty="0"/>
          </a:p>
        </p:txBody>
      </p:sp>
      <p:sp>
        <p:nvSpPr>
          <p:cNvPr id="16" name="Source line"/>
          <p:cNvSpPr txBox="1"/>
          <p:nvPr/>
        </p:nvSpPr>
        <p:spPr>
          <a:xfrm>
            <a:off x="548640" y="6144768"/>
            <a:ext cx="10515600" cy="228600"/>
          </a:xfrm>
          <a:prstGeom prst="rect">
            <a:avLst/>
          </a:prstGeom>
          <a:noFill/>
          <a:ln/>
        </p:spPr>
        <p:txBody>
          <a:bodyPr wrap="square" lIns="0" tIns="0" rIns="0" bIns="0" rtlCol="0" anchor="t"/>
          <a:lstStyle/>
          <a:p>
            <a:pPr indent="0" marL="0">
              <a:buNone/>
            </a:pPr>
            <a:r>
              <a:rPr lang="en-US" sz="1000" dirty="0">
                <a:solidFill>
                  <a:schemeClr val="accent5"/>
                </a:solidFill>
              </a:rPr>
              <a:t>Source: README, “Forecaster: results and the original mistake”</a:t>
            </a:r>
            <a:endParaRPr lang="en-US" sz="10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7406640" cy="685800"/>
          </a:xfrm>
          <a:prstGeom prst="rect">
            <a:avLst/>
          </a:prstGeom>
          <a:noFill/>
          <a:ln/>
        </p:spPr>
        <p:txBody>
          <a:bodyPr wrap="square" lIns="0" tIns="0" rIns="0" bIns="0" rtlCol="0" anchor="ctr"/>
          <a:lstStyle/>
          <a:p>
            <a:pPr algn="l" indent="0" marL="0">
              <a:buNone/>
            </a:pPr>
            <a:r>
              <a:rPr lang="en-US" sz="3200" b="1" dirty="0">
                <a:solidFill>
                  <a:schemeClr val="tx1"/>
                </a:solidFill>
              </a:rPr>
              <a:t>ML: validation and a mistake</a:t>
            </a:r>
            <a:endParaRPr lang="en-US" sz="3200" dirty="0"/>
          </a:p>
        </p:txBody>
      </p:sp>
      <p:sp>
        <p:nvSpPr>
          <p:cNvPr id="3" name="Message"/>
          <p:cNvSpPr txBox="1"/>
          <p:nvPr/>
        </p:nvSpPr>
        <p:spPr>
          <a:xfrm>
            <a:off x="548640" y="1005840"/>
            <a:ext cx="11091672" cy="411480"/>
          </a:xfrm>
          <a:prstGeom prst="rect">
            <a:avLst/>
          </a:prstGeom>
          <a:noFill/>
          <a:ln/>
        </p:spPr>
        <p:txBody>
          <a:bodyPr wrap="square" lIns="0" tIns="0" rIns="0" bIns="0" rtlCol="0" anchor="t"/>
          <a:lstStyle/>
          <a:p>
            <a:pPr indent="0" marL="0">
              <a:buNone/>
            </a:pPr>
            <a:r>
              <a:rPr lang="en-US" sz="1800" dirty="0">
                <a:solidFill>
                  <a:schemeClr val="accent5"/>
                </a:solidFill>
              </a:rPr>
              <a:t>Whole-day validation caught a failure; a guard fixed it</a:t>
            </a:r>
            <a:endParaRPr lang="en-US" sz="1800" dirty="0"/>
          </a:p>
        </p:txBody>
      </p:sp>
      <p:sp>
        <p:nvSpPr>
          <p:cNvPr id="4" name="Rubric tag"/>
          <p:cNvSpPr/>
          <p:nvPr/>
        </p:nvSpPr>
        <p:spPr>
          <a:xfrm>
            <a:off x="8074152" y="457200"/>
            <a:ext cx="3566160" cy="310896"/>
          </a:xfrm>
          <a:prstGeom prst="roundRect">
            <a:avLst>
              <a:gd name="adj" fmla="val 50000"/>
            </a:avLst>
          </a:prstGeom>
          <a:solidFill>
            <a:schemeClr val="bg2"/>
          </a:solidFill>
          <a:ln/>
        </p:spPr>
      </p:sp>
      <p:sp>
        <p:nvSpPr>
          <p:cNvPr id="5" name="Rubric tag text"/>
          <p:cNvSpPr txBox="1"/>
          <p:nvPr/>
        </p:nvSpPr>
        <p:spPr>
          <a:xfrm>
            <a:off x="8074152" y="457200"/>
            <a:ext cx="3566160" cy="310896"/>
          </a:xfrm>
          <a:prstGeom prst="rect">
            <a:avLst/>
          </a:prstGeom>
          <a:noFill/>
          <a:ln/>
        </p:spPr>
        <p:txBody>
          <a:bodyPr wrap="square" lIns="0" tIns="0" rIns="0" bIns="0" rtlCol="0" anchor="ctr"/>
          <a:lstStyle/>
          <a:p>
            <a:pPr algn="ctr" indent="0" marL="0">
              <a:buNone/>
            </a:pPr>
            <a:r>
              <a:rPr lang="en-US" sz="1100" dirty="0">
                <a:solidFill>
                  <a:schemeClr val="accent5"/>
                </a:solidFill>
              </a:rPr>
              <a:t>Rubric: ML – validation · test performance</a:t>
            </a:r>
            <a:endParaRPr lang="en-US" sz="1100" dirty="0"/>
          </a:p>
        </p:txBody>
      </p:sp>
      <p:pic>
        <p:nvPicPr>
          <p:cNvPr id="7" name="Image 0" descr="Forecast skill versus hour-of-day profile on validation, fresh and first test days, with and without the censoring guard">    </p:cNvPr>
          <p:cNvPicPr>
            <a:picLocks noChangeAspect="1"/>
          </p:cNvPicPr>
          <p:nvPr/>
        </p:nvPicPr>
        <p:blipFill>
          <a:blip r:embed="rId1"/>
          <a:stretch>
            <a:fillRect/>
          </a:stretch>
        </p:blipFill>
        <p:spPr>
          <a:xfrm>
            <a:off x="1344168" y="1554480"/>
            <a:ext cx="9509760" cy="3456432"/>
          </a:xfrm>
          <a:prstGeom prst="rect">
            <a:avLst/>
          </a:prstGeom>
        </p:spPr>
      </p:pic>
      <p:sp>
        <p:nvSpPr>
          <p:cNvPr id="8" name="Caption Validation"/>
          <p:cNvSpPr txBox="1"/>
          <p:nvPr/>
        </p:nvSpPr>
        <p:spPr>
          <a:xfrm>
            <a:off x="548640" y="5138928"/>
            <a:ext cx="3611880" cy="1188720"/>
          </a:xfrm>
          <a:prstGeom prst="rect">
            <a:avLst/>
          </a:prstGeom>
          <a:noFill/>
          <a:ln/>
        </p:spPr>
        <p:txBody>
          <a:bodyPr wrap="square" lIns="0" tIns="0" rIns="0" bIns="0" rtlCol="0" anchor="t"/>
          <a:lstStyle/>
          <a:p>
            <a:pPr indent="0" marL="0">
              <a:buNone/>
            </a:pPr>
            <a:r>
              <a:rPr lang="en-US" sz="1600" b="1" dirty="0">
                <a:solidFill>
                  <a:schemeClr val="tx1"/>
                </a:solidFill>
              </a:rPr>
              <a:t>Validation</a:t>
            </a:r>
            <a:endParaRPr lang="en-US" sz="1400" dirty="0"/>
          </a:p>
          <a:p>
            <a:pPr indent="0" marL="0">
              <a:buNone/>
            </a:pPr>
            <a:r>
              <a:rPr lang="en-US" sz="1400" dirty="0">
                <a:solidFill>
                  <a:schemeClr val="accent4"/>
                </a:solidFill>
              </a:rPr>
              <a:t>Whole days, time order: 40 train / 10 val / 10 test, plus 10 fresh days</a:t>
            </a:r>
            <a:endParaRPr lang="en-US" sz="1400" dirty="0"/>
          </a:p>
        </p:txBody>
      </p:sp>
      <p:sp>
        <p:nvSpPr>
          <p:cNvPr id="9" name="Caption The mistake"/>
          <p:cNvSpPr txBox="1"/>
          <p:nvPr/>
        </p:nvSpPr>
        <p:spPr>
          <a:xfrm>
            <a:off x="4274820" y="5138928"/>
            <a:ext cx="3611880" cy="1188720"/>
          </a:xfrm>
          <a:prstGeom prst="rect">
            <a:avLst/>
          </a:prstGeom>
          <a:noFill/>
          <a:ln/>
        </p:spPr>
        <p:txBody>
          <a:bodyPr wrap="square" lIns="0" tIns="0" rIns="0" bIns="0" rtlCol="0" anchor="t"/>
          <a:lstStyle/>
          <a:p>
            <a:pPr indent="0" marL="0">
              <a:buNone/>
            </a:pPr>
            <a:r>
              <a:rPr lang="en-US" sz="1600" b="1" dirty="0">
                <a:solidFill>
                  <a:schemeClr val="tx1"/>
                </a:solidFill>
              </a:rPr>
              <a:t>The mistake</a:t>
            </a:r>
            <a:endParaRPr lang="en-US" sz="1400" dirty="0"/>
          </a:p>
          <a:p>
            <a:pPr indent="0" marL="0">
              <a:buNone/>
            </a:pPr>
            <a:r>
              <a:rPr lang="en-US" sz="1400" dirty="0">
                <a:solidFill>
                  <a:schemeClr val="accent4"/>
                </a:solidFill>
              </a:rPr>
              <a:t>Labels vs inputs muddled; then a full road shows the blockage, not demand (test day 51)</a:t>
            </a:r>
            <a:endParaRPr lang="en-US" sz="1400" dirty="0"/>
          </a:p>
        </p:txBody>
      </p:sp>
      <p:sp>
        <p:nvSpPr>
          <p:cNvPr id="10" name="Caption The fix"/>
          <p:cNvSpPr txBox="1"/>
          <p:nvPr/>
        </p:nvSpPr>
        <p:spPr>
          <a:xfrm>
            <a:off x="8001000" y="5138928"/>
            <a:ext cx="3611880" cy="1188720"/>
          </a:xfrm>
          <a:prstGeom prst="rect">
            <a:avLst/>
          </a:prstGeom>
          <a:noFill/>
          <a:ln/>
        </p:spPr>
        <p:txBody>
          <a:bodyPr wrap="square" lIns="0" tIns="0" rIns="0" bIns="0" rtlCol="0" anchor="t"/>
          <a:lstStyle/>
          <a:p>
            <a:pPr indent="0" marL="0">
              <a:buNone/>
            </a:pPr>
            <a:r>
              <a:rPr lang="en-US" sz="1600" b="1" dirty="0">
                <a:solidFill>
                  <a:schemeClr val="tx1"/>
                </a:solidFill>
              </a:rPr>
              <a:t>The fix</a:t>
            </a:r>
            <a:endParaRPr lang="en-US" sz="1400" dirty="0"/>
          </a:p>
          <a:p>
            <a:pPr indent="0" marL="0">
              <a:buNone/>
            </a:pPr>
            <a:r>
              <a:rPr lang="en-US" sz="1400" dirty="0">
                <a:solidFill>
                  <a:schemeClr val="accent4"/>
                </a:solidFill>
              </a:rPr>
              <a:t>Guard at ≥55 cars (capacity ~61) falls back to the profile: 6.6–6.8% vs 8.4–8.5% on fresh days</a:t>
            </a:r>
            <a:endParaRPr lang="en-US" sz="14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7406640" cy="685800"/>
          </a:xfrm>
          <a:prstGeom prst="rect">
            <a:avLst/>
          </a:prstGeom>
          <a:noFill/>
          <a:ln/>
        </p:spPr>
        <p:txBody>
          <a:bodyPr wrap="square" lIns="0" tIns="0" rIns="0" bIns="0" rtlCol="0" anchor="ctr"/>
          <a:lstStyle/>
          <a:p>
            <a:pPr algn="l" indent="0" marL="0">
              <a:buNone/>
            </a:pPr>
            <a:r>
              <a:rPr lang="en-US" sz="3200" b="1" dirty="0">
                <a:solidFill>
                  <a:schemeClr val="tx1"/>
                </a:solidFill>
              </a:rPr>
              <a:t>Optimisation: formulation</a:t>
            </a:r>
            <a:endParaRPr lang="en-US" sz="3200" dirty="0"/>
          </a:p>
        </p:txBody>
      </p:sp>
      <p:sp>
        <p:nvSpPr>
          <p:cNvPr id="3" name="Message"/>
          <p:cNvSpPr txBox="1"/>
          <p:nvPr/>
        </p:nvSpPr>
        <p:spPr>
          <a:xfrm>
            <a:off x="548640" y="1005840"/>
            <a:ext cx="11091672" cy="411480"/>
          </a:xfrm>
          <a:prstGeom prst="rect">
            <a:avLst/>
          </a:prstGeom>
          <a:noFill/>
          <a:ln/>
        </p:spPr>
        <p:txBody>
          <a:bodyPr wrap="square" lIns="0" tIns="0" rIns="0" bIns="0" rtlCol="0" anchor="t"/>
          <a:lstStyle/>
          <a:p>
            <a:pPr indent="0" marL="0">
              <a:buNone/>
            </a:pPr>
            <a:r>
              <a:rPr lang="en-US" sz="1800" dirty="0">
                <a:solidFill>
                  <a:schemeClr val="accent5"/>
                </a:solidFill>
              </a:rPr>
              <a:t>A convex QP on a store-and-forward queue model, re-solved every minute</a:t>
            </a:r>
            <a:endParaRPr lang="en-US" sz="1800" dirty="0"/>
          </a:p>
        </p:txBody>
      </p:sp>
      <p:sp>
        <p:nvSpPr>
          <p:cNvPr id="4" name="Rubric tag"/>
          <p:cNvSpPr/>
          <p:nvPr/>
        </p:nvSpPr>
        <p:spPr>
          <a:xfrm>
            <a:off x="8074152" y="457200"/>
            <a:ext cx="3566160" cy="310896"/>
          </a:xfrm>
          <a:prstGeom prst="roundRect">
            <a:avLst>
              <a:gd name="adj" fmla="val 50000"/>
            </a:avLst>
          </a:prstGeom>
          <a:solidFill>
            <a:schemeClr val="bg2"/>
          </a:solidFill>
          <a:ln/>
        </p:spPr>
      </p:sp>
      <p:sp>
        <p:nvSpPr>
          <p:cNvPr id="5" name="Rubric tag text"/>
          <p:cNvSpPr txBox="1"/>
          <p:nvPr/>
        </p:nvSpPr>
        <p:spPr>
          <a:xfrm>
            <a:off x="8074152" y="457200"/>
            <a:ext cx="3566160" cy="310896"/>
          </a:xfrm>
          <a:prstGeom prst="rect">
            <a:avLst/>
          </a:prstGeom>
          <a:noFill/>
          <a:ln/>
        </p:spPr>
        <p:txBody>
          <a:bodyPr wrap="square" lIns="0" tIns="0" rIns="0" bIns="0" rtlCol="0" anchor="ctr"/>
          <a:lstStyle/>
          <a:p>
            <a:pPr algn="ctr" indent="0" marL="0">
              <a:buNone/>
            </a:pPr>
            <a:r>
              <a:rPr lang="en-US" sz="1100" dirty="0">
                <a:solidFill>
                  <a:schemeClr val="accent5"/>
                </a:solidFill>
              </a:rPr>
              <a:t>Rubric: Optimisation – formulation (10)</a:t>
            </a:r>
            <a:endParaRPr lang="en-US" sz="1100" dirty="0"/>
          </a:p>
        </p:txBody>
      </p:sp>
      <p:sp>
        <p:nvSpPr>
          <p:cNvPr id="7" name="Dynamics card"/>
          <p:cNvSpPr/>
          <p:nvPr/>
        </p:nvSpPr>
        <p:spPr>
          <a:xfrm>
            <a:off x="548640" y="1691640"/>
            <a:ext cx="5440680" cy="3246120"/>
          </a:xfrm>
          <a:prstGeom prst="roundRect">
            <a:avLst>
              <a:gd name="adj" fmla="val 2254"/>
            </a:avLst>
          </a:prstGeom>
          <a:solidFill>
            <a:schemeClr val="bg2"/>
          </a:solidFill>
          <a:ln/>
        </p:spPr>
      </p:sp>
      <p:sp>
        <p:nvSpPr>
          <p:cNvPr id="8" name="Dynamics title"/>
          <p:cNvSpPr txBox="1"/>
          <p:nvPr/>
        </p:nvSpPr>
        <p:spPr>
          <a:xfrm>
            <a:off x="822960" y="1874520"/>
            <a:ext cx="4892040" cy="365760"/>
          </a:xfrm>
          <a:prstGeom prst="rect">
            <a:avLst/>
          </a:prstGeom>
          <a:noFill/>
          <a:ln/>
        </p:spPr>
        <p:txBody>
          <a:bodyPr wrap="square" lIns="0" tIns="0" rIns="0" bIns="0" rtlCol="0" anchor="t"/>
          <a:lstStyle/>
          <a:p>
            <a:pPr indent="0" marL="0">
              <a:buNone/>
            </a:pPr>
            <a:r>
              <a:rPr lang="en-US" sz="1800" b="1" dirty="0">
                <a:solidFill>
                  <a:schemeClr val="tx1"/>
                </a:solidFill>
                <a:latin typeface="+mj-lt" pitchFamily="34" charset="0"/>
                <a:ea typeface="+mj-lt" pitchFamily="34" charset="-122"/>
                <a:cs typeface="+mj-lt" pitchFamily="34" charset="-120"/>
              </a:rPr>
              <a:t>Decide, predict, flow</a:t>
            </a:r>
            <a:endParaRPr lang="en-US" sz="1800" dirty="0"/>
          </a:p>
        </p:txBody>
      </p:sp>
      <p:sp>
        <p:nvSpPr>
          <p:cNvPr id="9" name="Dynamics equations"/>
          <p:cNvSpPr txBox="1"/>
          <p:nvPr/>
        </p:nvSpPr>
        <p:spPr>
          <a:xfrm>
            <a:off x="822960" y="2377440"/>
            <a:ext cx="4892040" cy="2423160"/>
          </a:xfrm>
          <a:prstGeom prst="rect">
            <a:avLst/>
          </a:prstGeom>
          <a:noFill/>
          <a:ln/>
        </p:spPr>
        <p:txBody>
          <a:bodyPr wrap="square" lIns="0" tIns="0" rIns="0" bIns="0" rtlCol="0" anchor="t"/>
          <a:lstStyle/>
          <a:p>
            <a:pPr indent="0" marL="0">
              <a:spcAft>
                <a:spcPts val="900"/>
              </a:spcAft>
              <a:buNone/>
            </a:pPr>
            <a:r>
              <a:rPr lang="en-US" sz="1500" dirty="0">
                <a:solidFill>
                  <a:schemeClr val="tx1"/>
                </a:solidFill>
              </a:rPr>
              <a:t>x</a:t>
            </a:r>
            <a:pPr indent="0" marL="0">
              <a:spcAft>
                <a:spcPts val="900"/>
              </a:spcAft>
              <a:buNone/>
            </a:pPr>
            <a:r>
              <a:rPr lang="en-US" sz="1500" baseline="-40000" dirty="0">
                <a:solidFill>
                  <a:schemeClr val="tx1"/>
                </a:solidFill>
              </a:rPr>
              <a:t>i,k</a:t>
            </a:r>
            <a:pPr indent="0" marL="0">
              <a:spcAft>
                <a:spcPts val="900"/>
              </a:spcAft>
              <a:buNone/>
            </a:pPr>
            <a:r>
              <a:rPr lang="en-US" sz="1500" dirty="0">
                <a:solidFill>
                  <a:schemeClr val="tx1"/>
                </a:solidFill>
              </a:rPr>
              <a:t>: NS green share, intersection i, step k  (EW = 1 − x)</a:t>
            </a:r>
            <a:endParaRPr lang="en-US" sz="1400" dirty="0"/>
          </a:p>
          <a:p>
            <a:pPr indent="0" marL="0">
              <a:spcAft>
                <a:spcPts val="900"/>
              </a:spcAft>
              <a:buNone/>
            </a:pPr>
            <a:r>
              <a:rPr lang="en-US" sz="1500" dirty="0">
                <a:solidFill>
                  <a:schemeClr val="tx1"/>
                </a:solidFill>
              </a:rPr>
              <a:t>q</a:t>
            </a:r>
            <a:pPr indent="0" marL="0">
              <a:spcAft>
                <a:spcPts val="900"/>
              </a:spcAft>
              <a:buNone/>
            </a:pPr>
            <a:r>
              <a:rPr lang="en-US" sz="1500" baseline="-40000" dirty="0">
                <a:solidFill>
                  <a:schemeClr val="tx1"/>
                </a:solidFill>
              </a:rPr>
              <a:t>l,k</a:t>
            </a:r>
            <a:pPr indent="0" marL="0">
              <a:spcAft>
                <a:spcPts val="900"/>
              </a:spcAft>
              <a:buNone/>
            </a:pPr>
            <a:r>
              <a:rPr lang="en-US" sz="1500" dirty="0">
                <a:solidFill>
                  <a:schemeClr val="tx1"/>
                </a:solidFill>
              </a:rPr>
              <a:t>: cars queued on link l;  q</a:t>
            </a:r>
            <a:pPr indent="0" marL="0">
              <a:spcAft>
                <a:spcPts val="900"/>
              </a:spcAft>
              <a:buNone/>
            </a:pPr>
            <a:r>
              <a:rPr lang="en-US" sz="1500" baseline="-40000" dirty="0">
                <a:solidFill>
                  <a:schemeClr val="tx1"/>
                </a:solidFill>
              </a:rPr>
              <a:t>l,0</a:t>
            </a:r>
            <a:pPr indent="0" marL="0">
              <a:spcAft>
                <a:spcPts val="900"/>
              </a:spcAft>
              <a:buNone/>
            </a:pPr>
            <a:r>
              <a:rPr lang="en-US" sz="1500" dirty="0">
                <a:solidFill>
                  <a:schemeClr val="tx1"/>
                </a:solidFill>
              </a:rPr>
              <a:t> = camera counts now</a:t>
            </a:r>
            <a:endParaRPr lang="en-US" sz="1400" dirty="0"/>
          </a:p>
          <a:p>
            <a:pPr indent="0" marL="0">
              <a:spcAft>
                <a:spcPts val="900"/>
              </a:spcAft>
              <a:buNone/>
            </a:pPr>
            <a:r>
              <a:rPr lang="en-US" sz="1500" dirty="0">
                <a:solidFill>
                  <a:schemeClr val="tx1"/>
                </a:solidFill>
              </a:rPr>
              <a:t>q</a:t>
            </a:r>
            <a:pPr indent="0" marL="0">
              <a:spcAft>
                <a:spcPts val="900"/>
              </a:spcAft>
              <a:buNone/>
            </a:pPr>
            <a:r>
              <a:rPr lang="en-US" sz="1500" baseline="-40000" dirty="0">
                <a:solidFill>
                  <a:schemeClr val="tx1"/>
                </a:solidFill>
              </a:rPr>
              <a:t>l,k+1</a:t>
            </a:r>
            <a:pPr indent="0" marL="0">
              <a:spcAft>
                <a:spcPts val="900"/>
              </a:spcAft>
              <a:buNone/>
            </a:pPr>
            <a:r>
              <a:rPr lang="en-US" sz="1500" dirty="0">
                <a:solidFill>
                  <a:schemeClr val="tx1"/>
                </a:solidFill>
              </a:rPr>
              <a:t> = q</a:t>
            </a:r>
            <a:pPr indent="0" marL="0">
              <a:spcAft>
                <a:spcPts val="900"/>
              </a:spcAft>
              <a:buNone/>
            </a:pPr>
            <a:r>
              <a:rPr lang="en-US" sz="1500" baseline="-40000" dirty="0">
                <a:solidFill>
                  <a:schemeClr val="tx1"/>
                </a:solidFill>
              </a:rPr>
              <a:t>l,k</a:t>
            </a:r>
            <a:pPr indent="0" marL="0">
              <a:spcAft>
                <a:spcPts val="900"/>
              </a:spcAft>
              <a:buNone/>
            </a:pPr>
            <a:r>
              <a:rPr lang="en-US" sz="1500" dirty="0">
                <a:solidFill>
                  <a:schemeClr val="tx1"/>
                </a:solidFill>
              </a:rPr>
              <a:t> + a</a:t>
            </a:r>
            <a:pPr indent="0" marL="0">
              <a:spcAft>
                <a:spcPts val="900"/>
              </a:spcAft>
              <a:buNone/>
            </a:pPr>
            <a:r>
              <a:rPr lang="en-US" sz="1500" baseline="-40000" dirty="0">
                <a:solidFill>
                  <a:schemeClr val="tx1"/>
                </a:solidFill>
              </a:rPr>
              <a:t>l,k</a:t>
            </a:r>
            <a:pPr indent="0" marL="0">
              <a:spcAft>
                <a:spcPts val="900"/>
              </a:spcAft>
              <a:buNone/>
            </a:pPr>
            <a:r>
              <a:rPr lang="en-US" sz="1500" dirty="0">
                <a:solidFill>
                  <a:schemeClr val="tx1"/>
                </a:solidFill>
              </a:rPr>
              <a:t> − u</a:t>
            </a:r>
            <a:pPr indent="0" marL="0">
              <a:spcAft>
                <a:spcPts val="900"/>
              </a:spcAft>
              <a:buNone/>
            </a:pPr>
            <a:r>
              <a:rPr lang="en-US" sz="1500" baseline="-40000" dirty="0">
                <a:solidFill>
                  <a:schemeClr val="tx1"/>
                </a:solidFill>
              </a:rPr>
              <a:t>l,k</a:t>
            </a:r>
            <a:endParaRPr lang="en-US" sz="1400" dirty="0"/>
          </a:p>
          <a:p>
            <a:pPr indent="0" marL="0">
              <a:spcAft>
                <a:spcPts val="900"/>
              </a:spcAft>
              <a:buNone/>
            </a:pPr>
            <a:r>
              <a:rPr lang="en-US" sz="1500" dirty="0">
                <a:solidFill>
                  <a:schemeClr val="tx1"/>
                </a:solidFill>
              </a:rPr>
              <a:t>u</a:t>
            </a:r>
            <a:pPr indent="0" marL="0">
              <a:spcAft>
                <a:spcPts val="900"/>
              </a:spcAft>
              <a:buNone/>
            </a:pPr>
            <a:r>
              <a:rPr lang="en-US" sz="1500" baseline="-40000" dirty="0">
                <a:solidFill>
                  <a:schemeClr val="tx1"/>
                </a:solidFill>
              </a:rPr>
              <a:t>l,k</a:t>
            </a:r>
            <a:pPr indent="0" marL="0">
              <a:spcAft>
                <a:spcPts val="900"/>
              </a:spcAft>
              <a:buNone/>
            </a:pPr>
            <a:r>
              <a:rPr lang="en-US" sz="1500" dirty="0">
                <a:solidFill>
                  <a:schemeClr val="tx1"/>
                </a:solidFill>
              </a:rPr>
              <a:t> ≤ s·D·g(x)   and   u</a:t>
            </a:r>
            <a:pPr indent="0" marL="0">
              <a:spcAft>
                <a:spcPts val="900"/>
              </a:spcAft>
              <a:buNone/>
            </a:pPr>
            <a:r>
              <a:rPr lang="en-US" sz="1500" baseline="-40000" dirty="0">
                <a:solidFill>
                  <a:schemeClr val="tx1"/>
                </a:solidFill>
              </a:rPr>
              <a:t>l,k</a:t>
            </a:r>
            <a:pPr indent="0" marL="0">
              <a:spcAft>
                <a:spcPts val="900"/>
              </a:spcAft>
              <a:buNone/>
            </a:pPr>
            <a:r>
              <a:rPr lang="en-US" sz="1500" dirty="0">
                <a:solidFill>
                  <a:schemeClr val="tx1"/>
                </a:solidFill>
              </a:rPr>
              <a:t> ≤ q</a:t>
            </a:r>
            <a:pPr indent="0" marL="0">
              <a:spcAft>
                <a:spcPts val="900"/>
              </a:spcAft>
              <a:buNone/>
            </a:pPr>
            <a:r>
              <a:rPr lang="en-US" sz="1500" baseline="-40000" dirty="0">
                <a:solidFill>
                  <a:schemeClr val="tx1"/>
                </a:solidFill>
              </a:rPr>
              <a:t>l,k</a:t>
            </a:r>
            <a:pPr indent="0" marL="0">
              <a:spcAft>
                <a:spcPts val="900"/>
              </a:spcAft>
              <a:buNone/>
            </a:pPr>
            <a:r>
              <a:rPr lang="en-US" sz="1500" dirty="0">
                <a:solidFill>
                  <a:schemeClr val="tx1"/>
                </a:solidFill>
              </a:rPr>
              <a:t> + a</a:t>
            </a:r>
            <a:pPr indent="0" marL="0">
              <a:spcAft>
                <a:spcPts val="900"/>
              </a:spcAft>
              <a:buNone/>
            </a:pPr>
            <a:r>
              <a:rPr lang="en-US" sz="1500" baseline="-40000" dirty="0">
                <a:solidFill>
                  <a:schemeClr val="tx1"/>
                </a:solidFill>
              </a:rPr>
              <a:t>l,k</a:t>
            </a:r>
            <a:endParaRPr lang="en-US" sz="1400" dirty="0"/>
          </a:p>
          <a:p>
            <a:pPr indent="0" marL="0">
              <a:spcAft>
                <a:spcPts val="900"/>
              </a:spcAft>
              <a:buNone/>
            </a:pPr>
            <a:r>
              <a:rPr lang="en-US" sz="1500" dirty="0">
                <a:solidFill>
                  <a:schemeClr val="tx1"/>
                </a:solidFill>
              </a:rPr>
              <a:t>a: D × forecast on entry links, turning-weighted discharge upstream</a:t>
            </a:r>
            <a:endParaRPr lang="en-US" sz="1400" dirty="0"/>
          </a:p>
          <a:p>
            <a:pPr indent="0" marL="0">
              <a:spcAft>
                <a:spcPts val="900"/>
              </a:spcAft>
              <a:buNone/>
            </a:pPr>
            <a:r>
              <a:rPr lang="en-US" sz="1500" dirty="0">
                <a:solidFill>
                  <a:schemeClr val="tx1"/>
                </a:solidFill>
              </a:rPr>
              <a:t>s = measured discharge rate, D = 60 s step, g = green fraction</a:t>
            </a:r>
            <a:endParaRPr lang="en-US" sz="1400" dirty="0"/>
          </a:p>
        </p:txBody>
      </p:sp>
      <p:sp>
        <p:nvSpPr>
          <p:cNvPr id="10" name="Objective card"/>
          <p:cNvSpPr/>
          <p:nvPr/>
        </p:nvSpPr>
        <p:spPr>
          <a:xfrm>
            <a:off x="6199632" y="1691640"/>
            <a:ext cx="5440680" cy="3246120"/>
          </a:xfrm>
          <a:prstGeom prst="roundRect">
            <a:avLst>
              <a:gd name="adj" fmla="val 2254"/>
            </a:avLst>
          </a:prstGeom>
          <a:solidFill>
            <a:schemeClr val="bg2"/>
          </a:solidFill>
          <a:ln/>
        </p:spPr>
      </p:sp>
      <p:sp>
        <p:nvSpPr>
          <p:cNvPr id="11" name="Objective title"/>
          <p:cNvSpPr txBox="1"/>
          <p:nvPr/>
        </p:nvSpPr>
        <p:spPr>
          <a:xfrm>
            <a:off x="6473952" y="1874520"/>
            <a:ext cx="4892040" cy="365760"/>
          </a:xfrm>
          <a:prstGeom prst="rect">
            <a:avLst/>
          </a:prstGeom>
          <a:noFill/>
          <a:ln/>
        </p:spPr>
        <p:txBody>
          <a:bodyPr wrap="square" lIns="0" tIns="0" rIns="0" bIns="0" rtlCol="0" anchor="t"/>
          <a:lstStyle/>
          <a:p>
            <a:pPr indent="0" marL="0">
              <a:buNone/>
            </a:pPr>
            <a:r>
              <a:rPr lang="en-US" sz="1800" b="1" dirty="0">
                <a:solidFill>
                  <a:schemeClr val="tx1"/>
                </a:solidFill>
                <a:latin typeface="+mj-lt" pitchFamily="34" charset="0"/>
                <a:ea typeface="+mj-lt" pitchFamily="34" charset="-122"/>
                <a:cs typeface="+mj-lt" pitchFamily="34" charset="-120"/>
              </a:rPr>
              <a:t>Constrain and minimise</a:t>
            </a:r>
            <a:endParaRPr lang="en-US" sz="1800" dirty="0"/>
          </a:p>
        </p:txBody>
      </p:sp>
      <p:sp>
        <p:nvSpPr>
          <p:cNvPr id="12" name="Objective equations"/>
          <p:cNvSpPr txBox="1"/>
          <p:nvPr/>
        </p:nvSpPr>
        <p:spPr>
          <a:xfrm>
            <a:off x="6473952" y="2377440"/>
            <a:ext cx="4892040" cy="2423160"/>
          </a:xfrm>
          <a:prstGeom prst="rect">
            <a:avLst/>
          </a:prstGeom>
          <a:noFill/>
          <a:ln/>
        </p:spPr>
        <p:txBody>
          <a:bodyPr wrap="square" lIns="0" tIns="0" rIns="0" bIns="0" rtlCol="0" anchor="t"/>
          <a:lstStyle/>
          <a:p>
            <a:pPr indent="0" marL="0">
              <a:spcAft>
                <a:spcPts val="900"/>
              </a:spcAft>
              <a:buNone/>
            </a:pPr>
            <a:r>
              <a:rPr lang="en-US" sz="1500" dirty="0">
                <a:solidFill>
                  <a:schemeClr val="tx1"/>
                </a:solidFill>
              </a:rPr>
              <a:t>8 s ≤ green ≤ 60 s;  4 s lost time per switch bounds x</a:t>
            </a:r>
            <a:endParaRPr lang="en-US" sz="1400" dirty="0"/>
          </a:p>
          <a:p>
            <a:pPr indent="0" marL="0">
              <a:spcAft>
                <a:spcPts val="900"/>
              </a:spcAft>
              <a:buNone/>
            </a:pPr>
            <a:r>
              <a:rPr lang="en-US" sz="1500" dirty="0">
                <a:solidFill>
                  <a:schemeClr val="tx1"/>
                </a:solidFill>
              </a:rPr>
              <a:t>q ≤ storage + slack  (soft, spillback)</a:t>
            </a:r>
            <a:endParaRPr lang="en-US" sz="1400" dirty="0"/>
          </a:p>
          <a:p>
            <a:pPr indent="0" marL="0">
              <a:spcAft>
                <a:spcPts val="900"/>
              </a:spcAft>
              <a:buNone/>
            </a:pPr>
            <a:r>
              <a:rPr lang="en-US" sz="1500" dirty="0">
                <a:solidFill>
                  <a:schemeClr val="tx1"/>
                </a:solidFill>
              </a:rPr>
              <a:t>min   Σ q + w</a:t>
            </a:r>
            <a:pPr indent="0" marL="0">
              <a:spcAft>
                <a:spcPts val="900"/>
              </a:spcAft>
              <a:buNone/>
            </a:pPr>
            <a:r>
              <a:rPr lang="en-US" sz="1500" baseline="-40000" dirty="0">
                <a:solidFill>
                  <a:schemeClr val="tx1"/>
                </a:solidFill>
              </a:rPr>
              <a:t>q</a:t>
            </a:r>
            <a:pPr indent="0" marL="0">
              <a:spcAft>
                <a:spcPts val="900"/>
              </a:spcAft>
              <a:buNone/>
            </a:pPr>
            <a:r>
              <a:rPr lang="en-US" sz="1500" dirty="0">
                <a:solidFill>
                  <a:schemeClr val="tx1"/>
                </a:solidFill>
              </a:rPr>
              <a:t> Σ q</a:t>
            </a:r>
            <a:pPr indent="0" marL="0">
              <a:spcAft>
                <a:spcPts val="900"/>
              </a:spcAft>
              <a:buNone/>
            </a:pPr>
            <a:r>
              <a:rPr lang="en-US" sz="1500" baseline="30000" dirty="0">
                <a:solidFill>
                  <a:schemeClr val="tx1"/>
                </a:solidFill>
              </a:rPr>
              <a:t>2</a:t>
            </a:r>
            <a:pPr indent="0" marL="0">
              <a:spcAft>
                <a:spcPts val="900"/>
              </a:spcAft>
              <a:buNone/>
            </a:pPr>
            <a:r>
              <a:rPr lang="en-US" sz="1500" dirty="0">
                <a:solidFill>
                  <a:schemeClr val="tx1"/>
                </a:solidFill>
              </a:rPr>
              <a:t> + w</a:t>
            </a:r>
            <a:pPr indent="0" marL="0">
              <a:spcAft>
                <a:spcPts val="900"/>
              </a:spcAft>
              <a:buNone/>
            </a:pPr>
            <a:r>
              <a:rPr lang="en-US" sz="1500" baseline="-40000" dirty="0">
                <a:solidFill>
                  <a:schemeClr val="tx1"/>
                </a:solidFill>
              </a:rPr>
              <a:t>T</a:t>
            </a:r>
            <a:pPr indent="0" marL="0">
              <a:spcAft>
                <a:spcPts val="900"/>
              </a:spcAft>
              <a:buNone/>
            </a:pPr>
            <a:r>
              <a:rPr lang="en-US" sz="1500" dirty="0">
                <a:solidFill>
                  <a:schemeClr val="tx1"/>
                </a:solidFill>
              </a:rPr>
              <a:t> q</a:t>
            </a:r>
            <a:pPr indent="0" marL="0">
              <a:spcAft>
                <a:spcPts val="900"/>
              </a:spcAft>
              <a:buNone/>
            </a:pPr>
            <a:r>
              <a:rPr lang="en-US" sz="1500" baseline="-40000" dirty="0">
                <a:solidFill>
                  <a:schemeClr val="tx1"/>
                </a:solidFill>
              </a:rPr>
              <a:t>end</a:t>
            </a:r>
            <a:pPr indent="0" marL="0">
              <a:spcAft>
                <a:spcPts val="900"/>
              </a:spcAft>
              <a:buNone/>
            </a:pPr>
            <a:r>
              <a:rPr lang="en-US" sz="1500" dirty="0">
                <a:solidFill>
                  <a:schemeClr val="tx1"/>
                </a:solidFill>
              </a:rPr>
              <a:t> + w</a:t>
            </a:r>
            <a:pPr indent="0" marL="0">
              <a:spcAft>
                <a:spcPts val="900"/>
              </a:spcAft>
              <a:buNone/>
            </a:pPr>
            <a:r>
              <a:rPr lang="en-US" sz="1500" baseline="-40000" dirty="0">
                <a:solidFill>
                  <a:schemeClr val="tx1"/>
                </a:solidFill>
              </a:rPr>
              <a:t>s</a:t>
            </a:r>
            <a:pPr indent="0" marL="0">
              <a:spcAft>
                <a:spcPts val="900"/>
              </a:spcAft>
              <a:buNone/>
            </a:pPr>
            <a:r>
              <a:rPr lang="en-US" sz="1500" dirty="0">
                <a:solidFill>
                  <a:schemeClr val="tx1"/>
                </a:solidFill>
              </a:rPr>
              <a:t> Σ slack + w</a:t>
            </a:r>
            <a:pPr indent="0" marL="0">
              <a:spcAft>
                <a:spcPts val="900"/>
              </a:spcAft>
              <a:buNone/>
            </a:pPr>
            <a:r>
              <a:rPr lang="en-US" sz="1500" baseline="-40000" dirty="0">
                <a:solidFill>
                  <a:schemeClr val="tx1"/>
                </a:solidFill>
              </a:rPr>
              <a:t>x</a:t>
            </a:r>
            <a:pPr indent="0" marL="0">
              <a:spcAft>
                <a:spcPts val="900"/>
              </a:spcAft>
              <a:buNone/>
            </a:pPr>
            <a:r>
              <a:rPr lang="en-US" sz="1500" dirty="0">
                <a:solidFill>
                  <a:schemeClr val="tx1"/>
                </a:solidFill>
              </a:rPr>
              <a:t> Σ |Δx|</a:t>
            </a:r>
            <a:endParaRPr lang="en-US" sz="1400" dirty="0"/>
          </a:p>
          <a:p>
            <a:pPr indent="0" marL="0">
              <a:spcAft>
                <a:spcPts val="900"/>
              </a:spcAft>
              <a:buNone/>
            </a:pPr>
            <a:r>
              <a:rPr lang="en-US" sz="1500" dirty="0">
                <a:solidFill>
                  <a:schemeClr val="tx1"/>
                </a:solidFill>
              </a:rPr>
              <a:t>delay  ·  fairness (quadratic)  ·  terminal queue  ·  spillback  ·  switching</a:t>
            </a:r>
            <a:endParaRPr lang="en-US" sz="1400" dirty="0"/>
          </a:p>
        </p:txBody>
      </p:sp>
      <p:sp>
        <p:nvSpPr>
          <p:cNvPr id="13" name="Webster card"/>
          <p:cNvSpPr/>
          <p:nvPr/>
        </p:nvSpPr>
        <p:spPr>
          <a:xfrm>
            <a:off x="548640" y="5120640"/>
            <a:ext cx="5440680" cy="914400"/>
          </a:xfrm>
          <a:prstGeom prst="roundRect">
            <a:avLst>
              <a:gd name="adj" fmla="val 8000"/>
            </a:avLst>
          </a:prstGeom>
          <a:solidFill>
            <a:schemeClr val="accent6"/>
          </a:solidFill>
          <a:ln/>
        </p:spPr>
      </p:sp>
      <p:sp>
        <p:nvSpPr>
          <p:cNvPr id="14" name="Webster text"/>
          <p:cNvSpPr txBox="1"/>
          <p:nvPr/>
        </p:nvSpPr>
        <p:spPr>
          <a:xfrm>
            <a:off x="822960" y="5120640"/>
            <a:ext cx="4892040" cy="914400"/>
          </a:xfrm>
          <a:prstGeom prst="rect">
            <a:avLst/>
          </a:prstGeom>
          <a:noFill/>
          <a:ln/>
        </p:spPr>
        <p:txBody>
          <a:bodyPr wrap="square" lIns="0" tIns="0" rIns="0" bIns="0" rtlCol="0" anchor="ctr"/>
          <a:lstStyle/>
          <a:p>
            <a:pPr indent="0" marL="0">
              <a:buNone/>
            </a:pPr>
            <a:r>
              <a:rPr lang="en-US" sz="1500" b="1" dirty="0">
                <a:solidFill>
                  <a:schemeClr val="tx1"/>
                </a:solidFill>
              </a:rPr>
              <a:t>Cycle length: </a:t>
            </a:r>
            <a:pPr indent="0" marL="0">
              <a:buNone/>
            </a:pPr>
            <a:r>
              <a:rPr lang="en-US" sz="1500" dirty="0">
                <a:solidFill>
                  <a:schemeClr val="tx1"/>
                </a:solidFill>
              </a:rPr>
              <a:t>Webster on smoothed forecast flows, clamped 40–120 s, rounded to 5 s</a:t>
            </a:r>
            <a:endParaRPr lang="en-US" sz="1500" dirty="0"/>
          </a:p>
        </p:txBody>
      </p:sp>
      <p:sp>
        <p:nvSpPr>
          <p:cNvPr id="15" name="Horizon card"/>
          <p:cNvSpPr/>
          <p:nvPr/>
        </p:nvSpPr>
        <p:spPr>
          <a:xfrm>
            <a:off x="6199632" y="5120640"/>
            <a:ext cx="5440680" cy="914400"/>
          </a:xfrm>
          <a:prstGeom prst="roundRect">
            <a:avLst>
              <a:gd name="adj" fmla="val 8000"/>
            </a:avLst>
          </a:prstGeom>
          <a:solidFill>
            <a:schemeClr val="accent6"/>
          </a:solidFill>
          <a:ln/>
        </p:spPr>
      </p:sp>
      <p:sp>
        <p:nvSpPr>
          <p:cNvPr id="16" name="Horizon text"/>
          <p:cNvSpPr txBox="1"/>
          <p:nvPr/>
        </p:nvSpPr>
        <p:spPr>
          <a:xfrm>
            <a:off x="6473952" y="5120640"/>
            <a:ext cx="4892040" cy="914400"/>
          </a:xfrm>
          <a:prstGeom prst="rect">
            <a:avLst/>
          </a:prstGeom>
          <a:noFill/>
          <a:ln/>
        </p:spPr>
        <p:txBody>
          <a:bodyPr wrap="square" lIns="0" tIns="0" rIns="0" bIns="0" rtlCol="0" anchor="ctr"/>
          <a:lstStyle/>
          <a:p>
            <a:pPr indent="0" marL="0">
              <a:buNone/>
            </a:pPr>
            <a:r>
              <a:rPr lang="en-US" sz="1500" b="1" dirty="0">
                <a:solidFill>
                  <a:schemeClr val="tx1"/>
                </a:solidFill>
              </a:rPr>
              <a:t>Receding horizon: </a:t>
            </a:r>
            <a:pPr indent="0" marL="0">
              <a:buNone/>
            </a:pPr>
            <a:r>
              <a:rPr lang="en-US" sz="1500" dirty="0">
                <a:solidFill>
                  <a:schemeClr val="tx1"/>
                </a:solidFill>
              </a:rPr>
              <a:t>15 steps × 60 s, apply step 1, re-plan</a:t>
            </a:r>
            <a:endParaRPr lang="en-US" sz="15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7406640" cy="685800"/>
          </a:xfrm>
          <a:prstGeom prst="rect">
            <a:avLst/>
          </a:prstGeom>
          <a:noFill/>
          <a:ln/>
        </p:spPr>
        <p:txBody>
          <a:bodyPr wrap="square" lIns="0" tIns="0" rIns="0" bIns="0" rtlCol="0" anchor="ctr"/>
          <a:lstStyle/>
          <a:p>
            <a:pPr algn="l" indent="0" marL="0">
              <a:buNone/>
            </a:pPr>
            <a:r>
              <a:rPr lang="en-US" sz="3200" b="1" dirty="0">
                <a:solidFill>
                  <a:schemeClr val="tx1"/>
                </a:solidFill>
              </a:rPr>
              <a:t>Optimisation: why this method</a:t>
            </a:r>
            <a:endParaRPr lang="en-US" sz="3200" dirty="0"/>
          </a:p>
        </p:txBody>
      </p:sp>
      <p:sp>
        <p:nvSpPr>
          <p:cNvPr id="3" name="Message"/>
          <p:cNvSpPr txBox="1"/>
          <p:nvPr/>
        </p:nvSpPr>
        <p:spPr>
          <a:xfrm>
            <a:off x="548640" y="1005840"/>
            <a:ext cx="11091672" cy="411480"/>
          </a:xfrm>
          <a:prstGeom prst="rect">
            <a:avLst/>
          </a:prstGeom>
          <a:noFill/>
          <a:ln/>
        </p:spPr>
        <p:txBody>
          <a:bodyPr wrap="square" lIns="0" tIns="0" rIns="0" bIns="0" rtlCol="0" anchor="t"/>
          <a:lstStyle/>
          <a:p>
            <a:pPr indent="0" marL="0">
              <a:buNone/>
            </a:pPr>
            <a:r>
              <a:rPr lang="en-US" sz="1800" dirty="0">
                <a:solidFill>
                  <a:schemeClr val="accent5"/>
                </a:solidFill>
              </a:rPr>
              <a:t>The structure is known, so the decision is a convex program</a:t>
            </a:r>
            <a:endParaRPr lang="en-US" sz="1800" dirty="0"/>
          </a:p>
        </p:txBody>
      </p:sp>
      <p:sp>
        <p:nvSpPr>
          <p:cNvPr id="4" name="Rubric tag"/>
          <p:cNvSpPr/>
          <p:nvPr/>
        </p:nvSpPr>
        <p:spPr>
          <a:xfrm>
            <a:off x="8074152" y="457200"/>
            <a:ext cx="3566160" cy="310896"/>
          </a:xfrm>
          <a:prstGeom prst="roundRect">
            <a:avLst>
              <a:gd name="adj" fmla="val 50000"/>
            </a:avLst>
          </a:prstGeom>
          <a:solidFill>
            <a:schemeClr val="bg2"/>
          </a:solidFill>
          <a:ln/>
        </p:spPr>
      </p:sp>
      <p:sp>
        <p:nvSpPr>
          <p:cNvPr id="5" name="Rubric tag text"/>
          <p:cNvSpPr txBox="1"/>
          <p:nvPr/>
        </p:nvSpPr>
        <p:spPr>
          <a:xfrm>
            <a:off x="8074152" y="457200"/>
            <a:ext cx="3566160" cy="310896"/>
          </a:xfrm>
          <a:prstGeom prst="rect">
            <a:avLst/>
          </a:prstGeom>
          <a:noFill/>
          <a:ln/>
        </p:spPr>
        <p:txBody>
          <a:bodyPr wrap="square" lIns="0" tIns="0" rIns="0" bIns="0" rtlCol="0" anchor="ctr"/>
          <a:lstStyle/>
          <a:p>
            <a:pPr algn="ctr" indent="0" marL="0">
              <a:buNone/>
            </a:pPr>
            <a:r>
              <a:rPr lang="en-US" sz="1100" dirty="0">
                <a:solidFill>
                  <a:schemeClr val="accent5"/>
                </a:solidFill>
              </a:rPr>
              <a:t>Rubric: Optimisation – algorithm choice (5)</a:t>
            </a:r>
            <a:endParaRPr lang="en-US" sz="1100" dirty="0"/>
          </a:p>
        </p:txBody>
      </p:sp>
      <p:sp>
        <p:nvSpPr>
          <p:cNvPr id="7" name="Tile fast card"/>
          <p:cNvSpPr/>
          <p:nvPr/>
        </p:nvSpPr>
        <p:spPr>
          <a:xfrm>
            <a:off x="548640" y="1691640"/>
            <a:ext cx="3291840" cy="2011680"/>
          </a:xfrm>
          <a:prstGeom prst="roundRect">
            <a:avLst>
              <a:gd name="adj" fmla="val 3636"/>
            </a:avLst>
          </a:prstGeom>
          <a:solidFill>
            <a:schemeClr val="bg2"/>
          </a:solidFill>
          <a:ln/>
        </p:spPr>
      </p:sp>
      <p:sp>
        <p:nvSpPr>
          <p:cNvPr id="8" name="Tile fast value"/>
          <p:cNvSpPr txBox="1"/>
          <p:nvPr/>
        </p:nvSpPr>
        <p:spPr>
          <a:xfrm>
            <a:off x="731520" y="1801368"/>
            <a:ext cx="2926080" cy="1005840"/>
          </a:xfrm>
          <a:prstGeom prst="rect">
            <a:avLst/>
          </a:prstGeom>
          <a:noFill/>
          <a:ln/>
        </p:spPr>
        <p:txBody>
          <a:bodyPr wrap="square" lIns="0" tIns="0" rIns="0" bIns="0" rtlCol="0" anchor="ctr"/>
          <a:lstStyle/>
          <a:p>
            <a:pPr indent="0" marL="0">
              <a:buNone/>
            </a:pPr>
            <a:r>
              <a:rPr lang="en-US" sz="4000" b="1" dirty="0">
                <a:solidFill>
                  <a:schemeClr val="tx1"/>
                </a:solidFill>
                <a:latin typeface="+mj-lt" pitchFamily="34" charset="0"/>
                <a:ea typeface="+mj-lt" pitchFamily="34" charset="-122"/>
                <a:cs typeface="+mj-lt" pitchFamily="34" charset="-120"/>
              </a:rPr>
              <a:t>50 ms</a:t>
            </a:r>
            <a:endParaRPr lang="en-US" sz="4000" dirty="0"/>
          </a:p>
        </p:txBody>
      </p:sp>
      <p:sp>
        <p:nvSpPr>
          <p:cNvPr id="9" name="Tile fast label"/>
          <p:cNvSpPr txBox="1"/>
          <p:nvPr/>
        </p:nvSpPr>
        <p:spPr>
          <a:xfrm>
            <a:off x="731520" y="2858414"/>
            <a:ext cx="2926080" cy="764438"/>
          </a:xfrm>
          <a:prstGeom prst="rect">
            <a:avLst/>
          </a:prstGeom>
          <a:noFill/>
          <a:ln/>
        </p:spPr>
        <p:txBody>
          <a:bodyPr wrap="square" lIns="0" tIns="0" rIns="0" bIns="0" rtlCol="0" anchor="t"/>
          <a:lstStyle/>
          <a:p>
            <a:pPr indent="0" marL="0">
              <a:buNone/>
            </a:pPr>
            <a:r>
              <a:rPr lang="en-US" sz="1400" dirty="0">
                <a:solidFill>
                  <a:schemeClr val="accent4"/>
                </a:solidFill>
              </a:rPr>
              <a:t>per solve, 4 intersections</a:t>
            </a:r>
            <a:endParaRPr lang="en-US" sz="1400" dirty="0"/>
          </a:p>
        </p:txBody>
      </p:sp>
      <p:sp>
        <p:nvSpPr>
          <p:cNvPr id="10" name="Tile scale card"/>
          <p:cNvSpPr/>
          <p:nvPr/>
        </p:nvSpPr>
        <p:spPr>
          <a:xfrm>
            <a:off x="548640" y="3931920"/>
            <a:ext cx="3291840" cy="2011680"/>
          </a:xfrm>
          <a:prstGeom prst="roundRect">
            <a:avLst>
              <a:gd name="adj" fmla="val 3636"/>
            </a:avLst>
          </a:prstGeom>
          <a:solidFill>
            <a:schemeClr val="bg2"/>
          </a:solidFill>
          <a:ln/>
        </p:spPr>
      </p:sp>
      <p:sp>
        <p:nvSpPr>
          <p:cNvPr id="11" name="Tile scale value"/>
          <p:cNvSpPr txBox="1"/>
          <p:nvPr/>
        </p:nvSpPr>
        <p:spPr>
          <a:xfrm>
            <a:off x="731520" y="4041648"/>
            <a:ext cx="2926080" cy="1005840"/>
          </a:xfrm>
          <a:prstGeom prst="rect">
            <a:avLst/>
          </a:prstGeom>
          <a:noFill/>
          <a:ln/>
        </p:spPr>
        <p:txBody>
          <a:bodyPr wrap="square" lIns="0" tIns="0" rIns="0" bIns="0" rtlCol="0" anchor="ctr"/>
          <a:lstStyle/>
          <a:p>
            <a:pPr indent="0" marL="0">
              <a:buNone/>
            </a:pPr>
            <a:r>
              <a:rPr lang="en-US" sz="4000" b="1" dirty="0">
                <a:solidFill>
                  <a:schemeClr val="tx1"/>
                </a:solidFill>
                <a:latin typeface="+mj-lt" pitchFamily="34" charset="0"/>
                <a:ea typeface="+mj-lt" pitchFamily="34" charset="-122"/>
                <a:cs typeface="+mj-lt" pitchFamily="34" charset="-120"/>
              </a:rPr>
              <a:t>1.9 s</a:t>
            </a:r>
            <a:endParaRPr lang="en-US" sz="4000" dirty="0"/>
          </a:p>
        </p:txBody>
      </p:sp>
      <p:sp>
        <p:nvSpPr>
          <p:cNvPr id="12" name="Tile scale label"/>
          <p:cNvSpPr txBox="1"/>
          <p:nvPr/>
        </p:nvSpPr>
        <p:spPr>
          <a:xfrm>
            <a:off x="731520" y="5098694"/>
            <a:ext cx="2926080" cy="764438"/>
          </a:xfrm>
          <a:prstGeom prst="rect">
            <a:avLst/>
          </a:prstGeom>
          <a:noFill/>
          <a:ln/>
        </p:spPr>
        <p:txBody>
          <a:bodyPr wrap="square" lIns="0" tIns="0" rIns="0" bIns="0" rtlCol="0" anchor="t"/>
          <a:lstStyle/>
          <a:p>
            <a:pPr indent="0" marL="0">
              <a:buNone/>
            </a:pPr>
            <a:r>
              <a:rPr lang="en-US" sz="1400" dirty="0">
                <a:solidFill>
                  <a:schemeClr val="accent4"/>
                </a:solidFill>
              </a:rPr>
              <a:t>per solve, 100 intersections (10×10)</a:t>
            </a:r>
            <a:endParaRPr lang="en-US" sz="1400" dirty="0"/>
          </a:p>
        </p:txBody>
      </p:sp>
      <p:sp>
        <p:nvSpPr>
          <p:cNvPr id="13" name="Reason card 1"/>
          <p:cNvSpPr/>
          <p:nvPr/>
        </p:nvSpPr>
        <p:spPr>
          <a:xfrm>
            <a:off x="4297680" y="1691640"/>
            <a:ext cx="7342632" cy="1188720"/>
          </a:xfrm>
          <a:prstGeom prst="roundRect">
            <a:avLst>
              <a:gd name="adj" fmla="val 6154"/>
            </a:avLst>
          </a:prstGeom>
          <a:solidFill>
            <a:schemeClr val="bg2"/>
          </a:solidFill>
          <a:ln/>
        </p:spPr>
      </p:sp>
      <p:sp>
        <p:nvSpPr>
          <p:cNvPr id="14" name="Reason badge 1"/>
          <p:cNvSpPr/>
          <p:nvPr/>
        </p:nvSpPr>
        <p:spPr>
          <a:xfrm>
            <a:off x="4526280" y="1965960"/>
            <a:ext cx="640080" cy="640080"/>
          </a:xfrm>
          <a:prstGeom prst="ellipse">
            <a:avLst/>
          </a:prstGeom>
          <a:solidFill>
            <a:schemeClr val="accent1"/>
          </a:solidFill>
          <a:ln/>
        </p:spPr>
      </p:sp>
      <p:sp>
        <p:nvSpPr>
          <p:cNvPr id="15" name="Reason number 1"/>
          <p:cNvSpPr txBox="1"/>
          <p:nvPr/>
        </p:nvSpPr>
        <p:spPr>
          <a:xfrm>
            <a:off x="4526280" y="19659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1</a:t>
            </a:r>
            <a:endParaRPr lang="en-US" sz="2200" dirty="0"/>
          </a:p>
        </p:txBody>
      </p:sp>
      <p:sp>
        <p:nvSpPr>
          <p:cNvPr id="16" name="Reason text 1"/>
          <p:cNvSpPr txBox="1"/>
          <p:nvPr/>
        </p:nvSpPr>
        <p:spPr>
          <a:xfrm>
            <a:off x="5394960" y="1691640"/>
            <a:ext cx="6062472" cy="1188720"/>
          </a:xfrm>
          <a:prstGeom prst="rect">
            <a:avLst/>
          </a:prstGeom>
          <a:noFill/>
          <a:ln/>
        </p:spPr>
        <p:txBody>
          <a:bodyPr wrap="square" lIns="0" tIns="0" rIns="0" bIns="0" rtlCol="0" anchor="ctr"/>
          <a:lstStyle/>
          <a:p>
            <a:pPr indent="0" marL="0">
              <a:buNone/>
            </a:pPr>
            <a:r>
              <a:rPr lang="en-US" sz="1800" b="1" dirty="0">
                <a:solidFill>
                  <a:schemeClr val="tx1"/>
                </a:solidFill>
              </a:rPr>
              <a:t>Convex, so globally optimal per solve</a:t>
            </a:r>
            <a:endParaRPr lang="en-US" sz="1400" dirty="0"/>
          </a:p>
          <a:p>
            <a:pPr indent="0" marL="0">
              <a:buNone/>
            </a:pPr>
            <a:r>
              <a:rPr lang="en-US" sz="1400" dirty="0">
                <a:solidFill>
                  <a:schemeClr val="accent4"/>
                </a:solidFill>
              </a:rPr>
              <a:t>Fast and easy to explain; about 20 ms per intersection against a 60 s decision interval.</a:t>
            </a:r>
            <a:endParaRPr lang="en-US" sz="1400" dirty="0"/>
          </a:p>
        </p:txBody>
      </p:sp>
      <p:sp>
        <p:nvSpPr>
          <p:cNvPr id="17" name="Reason card 2"/>
          <p:cNvSpPr/>
          <p:nvPr/>
        </p:nvSpPr>
        <p:spPr>
          <a:xfrm>
            <a:off x="4297680" y="3063240"/>
            <a:ext cx="7342632" cy="1188720"/>
          </a:xfrm>
          <a:prstGeom prst="roundRect">
            <a:avLst>
              <a:gd name="adj" fmla="val 6154"/>
            </a:avLst>
          </a:prstGeom>
          <a:solidFill>
            <a:schemeClr val="bg2"/>
          </a:solidFill>
          <a:ln/>
        </p:spPr>
      </p:sp>
      <p:sp>
        <p:nvSpPr>
          <p:cNvPr id="18" name="Reason badge 2"/>
          <p:cNvSpPr/>
          <p:nvPr/>
        </p:nvSpPr>
        <p:spPr>
          <a:xfrm>
            <a:off x="4526280" y="3337560"/>
            <a:ext cx="640080" cy="640080"/>
          </a:xfrm>
          <a:prstGeom prst="ellipse">
            <a:avLst/>
          </a:prstGeom>
          <a:solidFill>
            <a:schemeClr val="accent1"/>
          </a:solidFill>
          <a:ln/>
        </p:spPr>
      </p:sp>
      <p:sp>
        <p:nvSpPr>
          <p:cNvPr id="19" name="Reason number 2"/>
          <p:cNvSpPr txBox="1"/>
          <p:nvPr/>
        </p:nvSpPr>
        <p:spPr>
          <a:xfrm>
            <a:off x="4526280" y="33375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2</a:t>
            </a:r>
            <a:endParaRPr lang="en-US" sz="2200" dirty="0"/>
          </a:p>
        </p:txBody>
      </p:sp>
      <p:sp>
        <p:nvSpPr>
          <p:cNvPr id="20" name="Reason text 2"/>
          <p:cNvSpPr txBox="1"/>
          <p:nvPr/>
        </p:nvSpPr>
        <p:spPr>
          <a:xfrm>
            <a:off x="5394960" y="3063240"/>
            <a:ext cx="6062472" cy="1188720"/>
          </a:xfrm>
          <a:prstGeom prst="rect">
            <a:avLst/>
          </a:prstGeom>
          <a:noFill/>
          <a:ln/>
        </p:spPr>
        <p:txBody>
          <a:bodyPr wrap="square" lIns="0" tIns="0" rIns="0" bIns="0" rtlCol="0" anchor="ctr"/>
          <a:lstStyle/>
          <a:p>
            <a:pPr indent="0" marL="0">
              <a:buNone/>
            </a:pPr>
            <a:r>
              <a:rPr lang="en-US" sz="1800" b="1" dirty="0">
                <a:solidFill>
                  <a:schemeClr val="tx1"/>
                </a:solidFill>
              </a:rPr>
              <a:t>No mixed-integer program</a:t>
            </a:r>
            <a:endParaRPr lang="en-US" sz="1400" dirty="0"/>
          </a:p>
          <a:p>
            <a:pPr indent="0" marL="0">
              <a:buNone/>
            </a:pPr>
            <a:r>
              <a:rPr lang="en-US" sz="1400" dirty="0">
                <a:solidFill>
                  <a:schemeClr val="accent4"/>
                </a:solidFill>
              </a:rPr>
              <a:t>The decisions are continuous green shares, so no discrete phase search is needed.</a:t>
            </a:r>
            <a:endParaRPr lang="en-US" sz="1400" dirty="0"/>
          </a:p>
        </p:txBody>
      </p:sp>
      <p:sp>
        <p:nvSpPr>
          <p:cNvPr id="21" name="Reason card 3"/>
          <p:cNvSpPr/>
          <p:nvPr/>
        </p:nvSpPr>
        <p:spPr>
          <a:xfrm>
            <a:off x="4297680" y="4434840"/>
            <a:ext cx="7342632" cy="1188720"/>
          </a:xfrm>
          <a:prstGeom prst="roundRect">
            <a:avLst>
              <a:gd name="adj" fmla="val 6154"/>
            </a:avLst>
          </a:prstGeom>
          <a:solidFill>
            <a:schemeClr val="bg2"/>
          </a:solidFill>
          <a:ln/>
        </p:spPr>
      </p:sp>
      <p:sp>
        <p:nvSpPr>
          <p:cNvPr id="22" name="Reason badge 3"/>
          <p:cNvSpPr/>
          <p:nvPr/>
        </p:nvSpPr>
        <p:spPr>
          <a:xfrm>
            <a:off x="4526280" y="4709160"/>
            <a:ext cx="640080" cy="640080"/>
          </a:xfrm>
          <a:prstGeom prst="ellipse">
            <a:avLst/>
          </a:prstGeom>
          <a:solidFill>
            <a:schemeClr val="accent1"/>
          </a:solidFill>
          <a:ln/>
        </p:spPr>
      </p:sp>
      <p:sp>
        <p:nvSpPr>
          <p:cNvPr id="23" name="Reason number 3"/>
          <p:cNvSpPr txBox="1"/>
          <p:nvPr/>
        </p:nvSpPr>
        <p:spPr>
          <a:xfrm>
            <a:off x="4526280" y="47091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3</a:t>
            </a:r>
            <a:endParaRPr lang="en-US" sz="2200" dirty="0"/>
          </a:p>
        </p:txBody>
      </p:sp>
      <p:sp>
        <p:nvSpPr>
          <p:cNvPr id="24" name="Reason text 3"/>
          <p:cNvSpPr txBox="1"/>
          <p:nvPr/>
        </p:nvSpPr>
        <p:spPr>
          <a:xfrm>
            <a:off x="5394960" y="4434840"/>
            <a:ext cx="6062472" cy="1188720"/>
          </a:xfrm>
          <a:prstGeom prst="rect">
            <a:avLst/>
          </a:prstGeom>
          <a:noFill/>
          <a:ln/>
        </p:spPr>
        <p:txBody>
          <a:bodyPr wrap="square" lIns="0" tIns="0" rIns="0" bIns="0" rtlCol="0" anchor="ctr"/>
          <a:lstStyle/>
          <a:p>
            <a:pPr indent="0" marL="0">
              <a:buNone/>
            </a:pPr>
            <a:r>
              <a:rPr lang="en-US" sz="1800" b="1" dirty="0">
                <a:solidFill>
                  <a:schemeClr val="tx1"/>
                </a:solidFill>
              </a:rPr>
              <a:t>Model-based, not reinforcement learning</a:t>
            </a:r>
            <a:endParaRPr lang="en-US" sz="1400" dirty="0"/>
          </a:p>
          <a:p>
            <a:pPr indent="0" marL="0">
              <a:buNone/>
            </a:pPr>
            <a:r>
              <a:rPr lang="en-US" sz="1400" dirty="0">
                <a:solidFill>
                  <a:schemeClr val="accent4"/>
                </a:solidFill>
              </a:rPr>
              <a:t>The queue model is known. Multi-agent RL is the next step if that stops being true.</a:t>
            </a:r>
            <a:endParaRPr lang="en-US" sz="14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7406640" cy="685800"/>
          </a:xfrm>
          <a:prstGeom prst="rect">
            <a:avLst/>
          </a:prstGeom>
          <a:noFill/>
          <a:ln/>
        </p:spPr>
        <p:txBody>
          <a:bodyPr wrap="square" lIns="0" tIns="0" rIns="0" bIns="0" rtlCol="0" anchor="ctr"/>
          <a:lstStyle/>
          <a:p>
            <a:pPr algn="l" indent="0" marL="0">
              <a:buNone/>
            </a:pPr>
            <a:r>
              <a:rPr lang="en-US" sz="3200" b="1" dirty="0">
                <a:solidFill>
                  <a:schemeClr val="bg1"/>
                </a:solidFill>
              </a:rPr>
              <a:t>Live demo</a:t>
            </a:r>
            <a:endParaRPr lang="en-US" sz="3200" dirty="0"/>
          </a:p>
        </p:txBody>
      </p:sp>
      <p:sp>
        <p:nvSpPr>
          <p:cNvPr id="3" name="Message"/>
          <p:cNvSpPr txBox="1"/>
          <p:nvPr/>
        </p:nvSpPr>
        <p:spPr>
          <a:xfrm>
            <a:off x="548640" y="1005840"/>
            <a:ext cx="11091672" cy="411480"/>
          </a:xfrm>
          <a:prstGeom prst="rect">
            <a:avLst/>
          </a:prstGeom>
          <a:noFill/>
          <a:ln/>
        </p:spPr>
        <p:txBody>
          <a:bodyPr wrap="square" lIns="0" tIns="0" rIns="0" bIns="0" rtlCol="0" anchor="t"/>
          <a:lstStyle/>
          <a:p>
            <a:pPr indent="0" marL="0">
              <a:buNone/>
            </a:pPr>
            <a:r>
              <a:rPr lang="en-US" sz="1800" dirty="0">
                <a:solidFill>
                  <a:schemeClr val="accent3"/>
                </a:solidFill>
              </a:rPr>
              <a:t>Switch to outputs/demo_viewer.html  (built with python main.py viz-clips)</a:t>
            </a:r>
            <a:endParaRPr lang="en-US" sz="1800" dirty="0"/>
          </a:p>
        </p:txBody>
      </p:sp>
      <p:sp>
        <p:nvSpPr>
          <p:cNvPr id="5" name="Clip tile 1"/>
          <p:cNvSpPr/>
          <p:nvPr/>
        </p:nvSpPr>
        <p:spPr>
          <a:xfrm>
            <a:off x="548640" y="1691640"/>
            <a:ext cx="2606040" cy="1188720"/>
          </a:xfrm>
          <a:prstGeom prst="roundRect">
            <a:avLst>
              <a:gd name="adj" fmla="val 6154"/>
            </a:avLst>
          </a:prstGeom>
          <a:solidFill>
            <a:schemeClr val="tx1"/>
          </a:solidFill>
          <a:ln/>
        </p:spPr>
      </p:sp>
      <p:sp>
        <p:nvSpPr>
          <p:cNvPr id="6" name="Clip text 1"/>
          <p:cNvSpPr txBox="1"/>
          <p:nvPr/>
        </p:nvSpPr>
        <p:spPr>
          <a:xfrm>
            <a:off x="731520" y="1691640"/>
            <a:ext cx="2240280" cy="1188720"/>
          </a:xfrm>
          <a:prstGeom prst="rect">
            <a:avLst/>
          </a:prstGeom>
          <a:noFill/>
          <a:ln/>
        </p:spPr>
        <p:txBody>
          <a:bodyPr wrap="square" lIns="0" tIns="0" rIns="0" bIns="0" rtlCol="0" anchor="ctr"/>
          <a:lstStyle/>
          <a:p>
            <a:pPr indent="0" marL="0">
              <a:buNone/>
            </a:pPr>
            <a:r>
              <a:rPr lang="en-US" sz="2000" b="1" dirty="0">
                <a:solidFill>
                  <a:schemeClr val="bg1"/>
                </a:solidFill>
              </a:rPr>
              <a:t>Normal hour</a:t>
            </a:r>
            <a:endParaRPr lang="en-US" sz="1400" dirty="0"/>
          </a:p>
          <a:p>
            <a:pPr indent="0" marL="0">
              <a:buNone/>
            </a:pPr>
            <a:r>
              <a:rPr lang="en-US" sz="1200" dirty="0">
                <a:solidFill>
                  <a:schemeClr val="accent3"/>
                </a:solidFill>
              </a:rPr>
              <a:t>fixed plan vs optimiser</a:t>
            </a:r>
            <a:endParaRPr lang="en-US" sz="1400" dirty="0"/>
          </a:p>
        </p:txBody>
      </p:sp>
      <p:sp>
        <p:nvSpPr>
          <p:cNvPr id="7" name="Clip tile 2"/>
          <p:cNvSpPr/>
          <p:nvPr/>
        </p:nvSpPr>
        <p:spPr>
          <a:xfrm>
            <a:off x="3367735" y="1691640"/>
            <a:ext cx="2606040" cy="1188720"/>
          </a:xfrm>
          <a:prstGeom prst="roundRect">
            <a:avLst>
              <a:gd name="adj" fmla="val 6154"/>
            </a:avLst>
          </a:prstGeom>
          <a:solidFill>
            <a:schemeClr val="tx1"/>
          </a:solidFill>
          <a:ln/>
        </p:spPr>
      </p:sp>
      <p:sp>
        <p:nvSpPr>
          <p:cNvPr id="8" name="Clip text 2"/>
          <p:cNvSpPr txBox="1"/>
          <p:nvPr/>
        </p:nvSpPr>
        <p:spPr>
          <a:xfrm>
            <a:off x="3550615" y="1691640"/>
            <a:ext cx="2240280" cy="1188720"/>
          </a:xfrm>
          <a:prstGeom prst="rect">
            <a:avLst/>
          </a:prstGeom>
          <a:noFill/>
          <a:ln/>
        </p:spPr>
        <p:txBody>
          <a:bodyPr wrap="square" lIns="0" tIns="0" rIns="0" bIns="0" rtlCol="0" anchor="ctr"/>
          <a:lstStyle/>
          <a:p>
            <a:pPr indent="0" marL="0">
              <a:buNone/>
            </a:pPr>
            <a:r>
              <a:rPr lang="en-US" sz="2000" b="1" dirty="0">
                <a:solidFill>
                  <a:schemeClr val="bg1"/>
                </a:solidFill>
              </a:rPr>
              <a:t>Morning rush</a:t>
            </a:r>
            <a:endParaRPr lang="en-US" sz="1400" dirty="0"/>
          </a:p>
          <a:p>
            <a:pPr indent="0" marL="0">
              <a:buNone/>
            </a:pPr>
            <a:r>
              <a:rPr lang="en-US" sz="1200" dirty="0">
                <a:solidFill>
                  <a:schemeClr val="accent3"/>
                </a:solidFill>
              </a:rPr>
              <a:t>fixed plan vs optimiser</a:t>
            </a:r>
            <a:endParaRPr lang="en-US" sz="1400" dirty="0"/>
          </a:p>
        </p:txBody>
      </p:sp>
      <p:sp>
        <p:nvSpPr>
          <p:cNvPr id="9" name="Clip tile 3"/>
          <p:cNvSpPr/>
          <p:nvPr/>
        </p:nvSpPr>
        <p:spPr>
          <a:xfrm>
            <a:off x="6186830" y="1691640"/>
            <a:ext cx="2606040" cy="1188720"/>
          </a:xfrm>
          <a:prstGeom prst="roundRect">
            <a:avLst>
              <a:gd name="adj" fmla="val 6154"/>
            </a:avLst>
          </a:prstGeom>
          <a:solidFill>
            <a:schemeClr val="tx1"/>
          </a:solidFill>
          <a:ln/>
        </p:spPr>
      </p:sp>
      <p:sp>
        <p:nvSpPr>
          <p:cNvPr id="10" name="Clip text 3"/>
          <p:cNvSpPr txBox="1"/>
          <p:nvPr/>
        </p:nvSpPr>
        <p:spPr>
          <a:xfrm>
            <a:off x="6369710" y="1691640"/>
            <a:ext cx="2240280" cy="1188720"/>
          </a:xfrm>
          <a:prstGeom prst="rect">
            <a:avLst/>
          </a:prstGeom>
          <a:noFill/>
          <a:ln/>
        </p:spPr>
        <p:txBody>
          <a:bodyPr wrap="square" lIns="0" tIns="0" rIns="0" bIns="0" rtlCol="0" anchor="ctr"/>
          <a:lstStyle/>
          <a:p>
            <a:pPr indent="0" marL="0">
              <a:buNone/>
            </a:pPr>
            <a:r>
              <a:rPr lang="en-US" sz="2000" b="1" dirty="0">
                <a:solidFill>
                  <a:schemeClr val="bg1"/>
                </a:solidFill>
              </a:rPr>
              <a:t>Storm</a:t>
            </a:r>
            <a:endParaRPr lang="en-US" sz="1400" dirty="0"/>
          </a:p>
          <a:p>
            <a:pPr indent="0" marL="0">
              <a:buNone/>
            </a:pPr>
            <a:r>
              <a:rPr lang="en-US" sz="1200" dirty="0">
                <a:solidFill>
                  <a:schemeClr val="accent3"/>
                </a:solidFill>
              </a:rPr>
              <a:t>fixed plan vs optimiser</a:t>
            </a:r>
            <a:endParaRPr lang="en-US" sz="1400" dirty="0"/>
          </a:p>
        </p:txBody>
      </p:sp>
      <p:sp>
        <p:nvSpPr>
          <p:cNvPr id="11" name="Clip tile 4"/>
          <p:cNvSpPr/>
          <p:nvPr/>
        </p:nvSpPr>
        <p:spPr>
          <a:xfrm>
            <a:off x="9005926" y="1691640"/>
            <a:ext cx="2606040" cy="1188720"/>
          </a:xfrm>
          <a:prstGeom prst="roundRect">
            <a:avLst>
              <a:gd name="adj" fmla="val 6154"/>
            </a:avLst>
          </a:prstGeom>
          <a:solidFill>
            <a:schemeClr val="tx1"/>
          </a:solidFill>
          <a:ln/>
        </p:spPr>
      </p:sp>
      <p:sp>
        <p:nvSpPr>
          <p:cNvPr id="12" name="Clip text 4"/>
          <p:cNvSpPr txBox="1"/>
          <p:nvPr/>
        </p:nvSpPr>
        <p:spPr>
          <a:xfrm>
            <a:off x="9188806" y="1691640"/>
            <a:ext cx="2240280" cy="1188720"/>
          </a:xfrm>
          <a:prstGeom prst="rect">
            <a:avLst/>
          </a:prstGeom>
          <a:noFill/>
          <a:ln/>
        </p:spPr>
        <p:txBody>
          <a:bodyPr wrap="square" lIns="0" tIns="0" rIns="0" bIns="0" rtlCol="0" anchor="ctr"/>
          <a:lstStyle/>
          <a:p>
            <a:pPr indent="0" marL="0">
              <a:buNone/>
            </a:pPr>
            <a:r>
              <a:rPr lang="en-US" sz="2000" b="1" dirty="0">
                <a:solidFill>
                  <a:schemeClr val="bg1"/>
                </a:solidFill>
              </a:rPr>
              <a:t>Accident</a:t>
            </a:r>
            <a:endParaRPr lang="en-US" sz="1400" dirty="0"/>
          </a:p>
          <a:p>
            <a:pPr indent="0" marL="0">
              <a:buNone/>
            </a:pPr>
            <a:r>
              <a:rPr lang="en-US" sz="1200" dirty="0">
                <a:solidFill>
                  <a:schemeClr val="accent3"/>
                </a:solidFill>
              </a:rPr>
              <a:t>fixed plan vs optimiser</a:t>
            </a:r>
            <a:endParaRPr lang="en-US" sz="1400" dirty="0"/>
          </a:p>
        </p:txBody>
      </p:sp>
      <p:sp>
        <p:nvSpPr>
          <p:cNvPr id="13" name="Point at label"/>
          <p:cNvSpPr txBox="1"/>
          <p:nvPr/>
        </p:nvSpPr>
        <p:spPr>
          <a:xfrm>
            <a:off x="548640" y="3246120"/>
            <a:ext cx="5486400" cy="274320"/>
          </a:xfrm>
          <a:prstGeom prst="rect">
            <a:avLst/>
          </a:prstGeom>
          <a:noFill/>
          <a:ln/>
        </p:spPr>
        <p:txBody>
          <a:bodyPr wrap="square" lIns="0" tIns="0" rIns="0" bIns="0" rtlCol="0" anchor="t"/>
          <a:lstStyle/>
          <a:p>
            <a:pPr indent="0" marL="0">
              <a:buNone/>
            </a:pPr>
            <a:r>
              <a:rPr lang="en-US" sz="1200" b="1" dirty="0">
                <a:solidFill>
                  <a:schemeClr val="accent1"/>
                </a:solidFill>
              </a:rPr>
              <a:t>WHAT TO POINT AT</a:t>
            </a:r>
            <a:endParaRPr lang="en-US" sz="1200" dirty="0"/>
          </a:p>
        </p:txBody>
      </p:sp>
      <p:sp>
        <p:nvSpPr>
          <p:cNvPr id="14" name="Point at bullets"/>
          <p:cNvSpPr txBox="1"/>
          <p:nvPr/>
        </p:nvSpPr>
        <p:spPr>
          <a:xfrm>
            <a:off x="548640" y="3611880"/>
            <a:ext cx="7863840" cy="246888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chemeClr val="bg1"/>
                </a:solidFill>
              </a:rPr>
              <a:t>Same cars, same seed: only the signal logic differs</a:t>
            </a:r>
            <a:endParaRPr lang="en-US" sz="1400" dirty="0"/>
          </a:p>
          <a:p>
            <a:pPr marL="203200" indent="-203200">
              <a:spcAft>
                <a:spcPts val="800"/>
              </a:spcAft>
              <a:buSzPct val="100000"/>
              <a:buChar char="•"/>
            </a:pPr>
            <a:r>
              <a:rPr lang="en-US" sz="2000" dirty="0">
                <a:solidFill>
                  <a:schemeClr val="bg1"/>
                </a:solidFill>
              </a:rPr>
              <a:t>Morning rush: queues and delay diverge as demand climbs</a:t>
            </a:r>
            <a:endParaRPr lang="en-US" sz="1400" dirty="0"/>
          </a:p>
          <a:p>
            <a:pPr marL="203200" indent="-203200">
              <a:spcAft>
                <a:spcPts val="800"/>
              </a:spcAft>
              <a:buSzPct val="100000"/>
              <a:buChar char="•"/>
            </a:pPr>
            <a:r>
              <a:rPr lang="en-US" sz="2000" dirty="0">
                <a:solidFill>
                  <a:schemeClr val="bg1"/>
                </a:solidFill>
              </a:rPr>
              <a:t>Storm: rain cuts saturation flow by about 17%</a:t>
            </a:r>
            <a:endParaRPr lang="en-US" sz="1400" dirty="0"/>
          </a:p>
          <a:p>
            <a:pPr marL="203200" indent="-203200">
              <a:spcAft>
                <a:spcPts val="800"/>
              </a:spcAft>
              <a:buSzPct val="100000"/>
              <a:buChar char="•"/>
            </a:pPr>
            <a:r>
              <a:rPr lang="en-US" sz="2000" dirty="0">
                <a:solidFill>
                  <a:schemeClr val="bg1"/>
                </a:solidFill>
              </a:rPr>
              <a:t>Accident: the blockage dominates for both controllers</a:t>
            </a:r>
            <a:endParaRPr lang="en-US" sz="1400" dirty="0"/>
          </a:p>
        </p:txBody>
      </p:sp>
      <p:sp>
        <p:nvSpPr>
          <p:cNvPr id="15" name="Demo caveat"/>
          <p:cNvSpPr txBox="1"/>
          <p:nvPr/>
        </p:nvSpPr>
        <p:spPr>
          <a:xfrm>
            <a:off x="548640" y="6035040"/>
            <a:ext cx="10058400" cy="274320"/>
          </a:xfrm>
          <a:prstGeom prst="rect">
            <a:avLst/>
          </a:prstGeom>
          <a:noFill/>
          <a:ln/>
        </p:spPr>
        <p:txBody>
          <a:bodyPr wrap="square" lIns="0" tIns="0" rIns="0" bIns="0" rtlCol="0" anchor="t"/>
          <a:lstStyle/>
          <a:p>
            <a:pPr indent="0" marL="0">
              <a:buNone/>
            </a:pPr>
            <a:r>
              <a:rPr lang="en-US" sz="1200" dirty="0">
                <a:solidFill>
                  <a:schemeClr val="accent3"/>
                </a:solidFill>
              </a:rPr>
              <a:t>Each clip is one random day; the viewer shows the 3-run scenario average next to it.</a:t>
            </a:r>
            <a:endParaRPr lang="en-US" sz="12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7406640" cy="685800"/>
          </a:xfrm>
          <a:prstGeom prst="rect">
            <a:avLst/>
          </a:prstGeom>
          <a:noFill/>
          <a:ln/>
        </p:spPr>
        <p:txBody>
          <a:bodyPr wrap="square" lIns="0" tIns="0" rIns="0" bIns="0" rtlCol="0" anchor="ctr"/>
          <a:lstStyle/>
          <a:p>
            <a:pPr algn="l" indent="0" marL="0">
              <a:buNone/>
            </a:pPr>
            <a:r>
              <a:rPr lang="en-US" sz="3200" b="1" dirty="0">
                <a:solidFill>
                  <a:schemeClr val="tx1"/>
                </a:solidFill>
              </a:rPr>
              <a:t>Results: headline</a:t>
            </a:r>
            <a:endParaRPr lang="en-US" sz="3200" dirty="0"/>
          </a:p>
        </p:txBody>
      </p:sp>
      <p:sp>
        <p:nvSpPr>
          <p:cNvPr id="3" name="Message"/>
          <p:cNvSpPr txBox="1"/>
          <p:nvPr/>
        </p:nvSpPr>
        <p:spPr>
          <a:xfrm>
            <a:off x="548640" y="1005840"/>
            <a:ext cx="11091672" cy="411480"/>
          </a:xfrm>
          <a:prstGeom prst="rect">
            <a:avLst/>
          </a:prstGeom>
          <a:noFill/>
          <a:ln/>
        </p:spPr>
        <p:txBody>
          <a:bodyPr wrap="square" lIns="0" tIns="0" rIns="0" bIns="0" rtlCol="0" anchor="t"/>
          <a:lstStyle/>
          <a:p>
            <a:pPr indent="0" marL="0">
              <a:buNone/>
            </a:pPr>
            <a:r>
              <a:rPr lang="en-US" sz="1800" dirty="0">
                <a:solidFill>
                  <a:schemeClr val="accent5"/>
                </a:solidFill>
              </a:rPr>
              <a:t>The optimiser leads on four of five scenarios; the accident is a draw at best</a:t>
            </a:r>
            <a:endParaRPr lang="en-US" sz="1800" dirty="0"/>
          </a:p>
        </p:txBody>
      </p:sp>
      <p:sp>
        <p:nvSpPr>
          <p:cNvPr id="4" name="Rubric tag"/>
          <p:cNvSpPr/>
          <p:nvPr/>
        </p:nvSpPr>
        <p:spPr>
          <a:xfrm>
            <a:off x="8074152" y="457200"/>
            <a:ext cx="3566160" cy="310896"/>
          </a:xfrm>
          <a:prstGeom prst="roundRect">
            <a:avLst>
              <a:gd name="adj" fmla="val 50000"/>
            </a:avLst>
          </a:prstGeom>
          <a:solidFill>
            <a:schemeClr val="bg2"/>
          </a:solidFill>
          <a:ln/>
        </p:spPr>
      </p:sp>
      <p:sp>
        <p:nvSpPr>
          <p:cNvPr id="5" name="Rubric tag text"/>
          <p:cNvSpPr txBox="1"/>
          <p:nvPr/>
        </p:nvSpPr>
        <p:spPr>
          <a:xfrm>
            <a:off x="8074152" y="457200"/>
            <a:ext cx="3566160" cy="310896"/>
          </a:xfrm>
          <a:prstGeom prst="rect">
            <a:avLst/>
          </a:prstGeom>
          <a:noFill/>
          <a:ln/>
        </p:spPr>
        <p:txBody>
          <a:bodyPr wrap="square" lIns="0" tIns="0" rIns="0" bIns="0" rtlCol="0" anchor="ctr"/>
          <a:lstStyle/>
          <a:p>
            <a:pPr algn="ctr" indent="0" marL="0">
              <a:buNone/>
            </a:pPr>
            <a:r>
              <a:rPr lang="en-US" sz="1100" dirty="0">
                <a:solidFill>
                  <a:schemeClr val="accent5"/>
                </a:solidFill>
              </a:rPr>
              <a:t>Rubric: Optimisation – solution quality (5)</a:t>
            </a:r>
            <a:endParaRPr lang="en-US" sz="1100" dirty="0"/>
          </a:p>
        </p:txBody>
      </p:sp>
      <p:graphicFrame>
        <p:nvGraphicFramePr>
          <p:cNvPr id="7" name="Chart 0" descr=""/>
          <p:cNvGraphicFramePr/>
          <p:nvPr/>
        </p:nvGraphicFramePr>
        <p:xfrm>
          <a:off x="548640" y="1554480"/>
          <a:ext cx="7772400" cy="4526280"/>
        </p:xfrm>
        <a:graphic xmlns:a="http://schemas.openxmlformats.org/drawingml/2006/main">
          <a:graphicData uri="http://schemas.openxmlformats.org/drawingml/2006/chart">
            <c:chart xmlns:c="http://schemas.openxmlformats.org/drawingml/2006/chart" r:id="rId1"/>
          </a:graphicData>
        </a:graphic>
      </p:graphicFrame>
      <p:sp>
        <p:nvSpPr>
          <p:cNvPr id="8" name="Improvement card"/>
          <p:cNvSpPr/>
          <p:nvPr/>
        </p:nvSpPr>
        <p:spPr>
          <a:xfrm>
            <a:off x="8595360" y="1691640"/>
            <a:ext cx="3044952" cy="2514600"/>
          </a:xfrm>
          <a:prstGeom prst="roundRect">
            <a:avLst>
              <a:gd name="adj" fmla="val 2909"/>
            </a:avLst>
          </a:prstGeom>
          <a:solidFill>
            <a:schemeClr val="bg2"/>
          </a:solidFill>
          <a:ln/>
        </p:spPr>
      </p:sp>
      <p:sp>
        <p:nvSpPr>
          <p:cNvPr id="9" name="Improvement title"/>
          <p:cNvSpPr txBox="1"/>
          <p:nvPr/>
        </p:nvSpPr>
        <p:spPr>
          <a:xfrm>
            <a:off x="8778240" y="1783080"/>
            <a:ext cx="2679192" cy="320040"/>
          </a:xfrm>
          <a:prstGeom prst="rect">
            <a:avLst/>
          </a:prstGeom>
          <a:noFill/>
          <a:ln/>
        </p:spPr>
        <p:txBody>
          <a:bodyPr wrap="square" lIns="0" tIns="0" rIns="0" bIns="0" rtlCol="0" anchor="t"/>
          <a:lstStyle/>
          <a:p>
            <a:pPr indent="0" marL="0">
              <a:buNone/>
            </a:pPr>
            <a:r>
              <a:rPr lang="en-US" sz="1600" b="1" dirty="0">
                <a:solidFill>
                  <a:schemeClr val="tx1"/>
                </a:solidFill>
                <a:latin typeface="+mj-lt" pitchFamily="34" charset="0"/>
                <a:ea typeface="+mj-lt" pitchFamily="34" charset="-122"/>
                <a:cs typeface="+mj-lt" pitchFamily="34" charset="-120"/>
              </a:rPr>
              <a:t>Optimiser vs tuned fixed</a:t>
            </a:r>
            <a:endParaRPr lang="en-US" sz="1600" dirty="0"/>
          </a:p>
        </p:txBody>
      </p:sp>
      <p:graphicFrame>
        <p:nvGraphicFramePr>
          <p:cNvPr id="11" name="Improvement table"/>
          <p:cNvGraphicFramePr>
            <a:graphicFrameLocks noGrp="1"/>
          </p:cNvGraphicFramePr>
          <p:nvPr>
            <p:extLst>
              <p:ext uri="{D42A27DB-BD31-4B8C-83A1-F6EECF244321}">
                <p14:modId xmlns:p14="http://schemas.microsoft.com/office/powerpoint/2010/main" val="1579011935"/>
              </p:ext>
            </p:extLst>
          </p:nvPr>
        </p:nvGraphicFramePr>
        <p:xfrm>
          <a:off x="8778240" y="2194560"/>
          <a:ext cx="2679192" cy="914400"/>
        </p:xfrm>
        <a:graphic>
          <a:graphicData uri="http://schemas.openxmlformats.org/drawingml/2006/table">
            <a:tbl>
              <a:tblPr/>
              <a:tblGrid>
                <a:gridCol w="1607515"/>
                <a:gridCol w="1071677"/>
              </a:tblGrid>
              <a:tr h="310896">
                <a:tc>
                  <a:txBody>
                    <a:bodyPr/>
                    <a:lstStyle/>
                    <a:p>
                      <a:pPr indent="0" marL="0">
                        <a:buNone/>
                      </a:pPr>
                      <a:r>
                        <a:rPr lang="en-US" sz="1400" dirty="0">
                          <a:solidFill>
                            <a:schemeClr val="tx1"/>
                          </a:solidFill>
                        </a:rPr>
                        <a:t>Typical</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b="1" dirty="0">
                          <a:solidFill>
                            <a:schemeClr val="tx1"/>
                          </a:solidFill>
                        </a:rPr>
                        <a:t>22%</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tcPr>
                </a:tc>
              </a:tr>
              <a:tr h="310896">
                <a:tc>
                  <a:txBody>
                    <a:bodyPr/>
                    <a:lstStyle/>
                    <a:p>
                      <a:pPr indent="0" marL="0">
                        <a:buNone/>
                      </a:pPr>
                      <a:r>
                        <a:rPr lang="en-US" sz="1400" dirty="0">
                          <a:solidFill>
                            <a:schemeClr val="tx1"/>
                          </a:solidFill>
                        </a:rPr>
                        <a:t>Busy</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b="1" dirty="0">
                          <a:solidFill>
                            <a:schemeClr val="tx1"/>
                          </a:solidFill>
                        </a:rPr>
                        <a:t>22%</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tcPr>
                </a:tc>
              </a:tr>
              <a:tr h="310896">
                <a:tc>
                  <a:txBody>
                    <a:bodyPr/>
                    <a:lstStyle/>
                    <a:p>
                      <a:pPr indent="0" marL="0">
                        <a:buNone/>
                      </a:pPr>
                      <a:r>
                        <a:rPr lang="en-US" sz="1400" dirty="0">
                          <a:solidFill>
                            <a:schemeClr val="tx1"/>
                          </a:solidFill>
                        </a:rPr>
                        <a:t>Storm</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b="1" dirty="0">
                          <a:solidFill>
                            <a:schemeClr val="tx1"/>
                          </a:solidFill>
                        </a:rPr>
                        <a:t>16%</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tcPr>
                </a:tc>
              </a:tr>
              <a:tr h="310896">
                <a:tc>
                  <a:txBody>
                    <a:bodyPr/>
                    <a:lstStyle/>
                    <a:p>
                      <a:pPr indent="0" marL="0">
                        <a:buNone/>
                      </a:pPr>
                      <a:r>
                        <a:rPr lang="en-US" sz="1400" dirty="0">
                          <a:solidFill>
                            <a:schemeClr val="tx1"/>
                          </a:solidFill>
                        </a:rPr>
                        <a:t>Evening</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b="1" dirty="0">
                          <a:solidFill>
                            <a:schemeClr val="tx1"/>
                          </a:solidFill>
                        </a:rPr>
                        <a:t>3%</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tcPr>
                </a:tc>
              </a:tr>
              <a:tr h="310896">
                <a:tc>
                  <a:txBody>
                    <a:bodyPr/>
                    <a:lstStyle/>
                    <a:p>
                      <a:pPr indent="0" marL="0">
                        <a:buNone/>
                      </a:pPr>
                      <a:r>
                        <a:rPr lang="en-US" sz="1400" dirty="0">
                          <a:solidFill>
                            <a:schemeClr val="tx1"/>
                          </a:solidFill>
                        </a:rPr>
                        <a:t>Accident</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b="1" dirty="0">
                          <a:solidFill>
                            <a:schemeClr val="tx1"/>
                          </a:solidFill>
                        </a:rPr>
                        <a:t>−3%</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tcPr>
                </a:tc>
              </a:tr>
            </a:tbl>
          </a:graphicData>
        </a:graphic>
      </p:graphicFrame>
      <p:sp>
        <p:nvSpPr>
          <p:cNvPr id="11" name="Untuned improvement"/>
          <p:cNvSpPr txBox="1"/>
          <p:nvPr/>
        </p:nvSpPr>
        <p:spPr>
          <a:xfrm>
            <a:off x="8595360" y="4389120"/>
            <a:ext cx="3044952" cy="822960"/>
          </a:xfrm>
          <a:prstGeom prst="rect">
            <a:avLst/>
          </a:prstGeom>
          <a:noFill/>
          <a:ln/>
        </p:spPr>
        <p:txBody>
          <a:bodyPr wrap="square" lIns="0" tIns="0" rIns="0" bIns="0" rtlCol="0" anchor="t"/>
          <a:lstStyle/>
          <a:p>
            <a:pPr indent="0" marL="0">
              <a:buNone/>
            </a:pPr>
            <a:r>
              <a:rPr lang="en-US" sz="2400" b="1" dirty="0">
                <a:solidFill>
                  <a:schemeClr val="tx1"/>
                </a:solidFill>
                <a:latin typeface="+mj-lt" pitchFamily="34" charset="0"/>
                <a:ea typeface="+mj-lt" pitchFamily="34" charset="-122"/>
                <a:cs typeface="+mj-lt" pitchFamily="34" charset="-120"/>
              </a:rPr>
              <a:t>29–63% </a:t>
            </a:r>
            <a:pPr indent="0" marL="0">
              <a:buNone/>
            </a:pPr>
            <a:r>
              <a:rPr lang="en-US" sz="1400" dirty="0">
                <a:solidFill>
                  <a:schemeClr val="accent4"/>
                </a:solidFill>
              </a:rPr>
              <a:t>better than the untuned plan, every scenario</a:t>
            </a:r>
            <a:endParaRPr lang="en-US" sz="1400" dirty="0"/>
          </a:p>
        </p:txBody>
      </p:sp>
      <p:sp>
        <p:nvSpPr>
          <p:cNvPr id="12" name="Seed caveat"/>
          <p:cNvSpPr txBox="1"/>
          <p:nvPr/>
        </p:nvSpPr>
        <p:spPr>
          <a:xfrm>
            <a:off x="8595360" y="5257800"/>
            <a:ext cx="3044952" cy="822960"/>
          </a:xfrm>
          <a:prstGeom prst="rect">
            <a:avLst/>
          </a:prstGeom>
          <a:noFill/>
          <a:ln/>
        </p:spPr>
        <p:txBody>
          <a:bodyPr wrap="square" lIns="0" tIns="0" rIns="0" bIns="0" rtlCol="0" anchor="t"/>
          <a:lstStyle/>
          <a:p>
            <a:pPr indent="0" marL="0">
              <a:buNone/>
            </a:pPr>
            <a:r>
              <a:rPr lang="en-US" sz="1400" b="1" dirty="0">
                <a:solidFill>
                  <a:schemeClr val="accent4"/>
                </a:solidFill>
              </a:rPr>
              <a:t>Caveat: </a:t>
            </a:r>
            <a:pPr indent="0" marL="0">
              <a:buNone/>
            </a:pPr>
            <a:r>
              <a:rPr lang="en-US" sz="1400" dirty="0">
                <a:solidFill>
                  <a:schemeClr val="accent4"/>
                </a:solidFill>
              </a:rPr>
              <a:t>3 seeds per scenario; only the typical and storm intervals exclude zero.</a:t>
            </a:r>
            <a:endParaRPr lang="en-US" sz="1400" dirty="0"/>
          </a:p>
        </p:txBody>
      </p:sp>
      <p:sp>
        <p:nvSpPr>
          <p:cNvPr id="13" name="Source line"/>
          <p:cNvSpPr txBox="1"/>
          <p:nvPr/>
        </p:nvSpPr>
        <p:spPr>
          <a:xfrm>
            <a:off x="548640" y="6144768"/>
            <a:ext cx="10515600" cy="228600"/>
          </a:xfrm>
          <a:prstGeom prst="rect">
            <a:avLst/>
          </a:prstGeom>
          <a:noFill/>
          <a:ln/>
        </p:spPr>
        <p:txBody>
          <a:bodyPr wrap="square" lIns="0" tIns="0" rIns="0" bIns="0" rtlCol="0" anchor="t"/>
          <a:lstStyle/>
          <a:p>
            <a:pPr indent="0" marL="0">
              <a:buNone/>
            </a:pPr>
            <a:r>
              <a:rPr lang="en-US" sz="1000" dirty="0">
                <a:solidFill>
                  <a:schemeClr val="accent5"/>
                </a:solidFill>
              </a:rPr>
              <a:t>Held-out seeds 200–202, outputs/final_eval/</a:t>
            </a:r>
            <a:endParaRPr lang="en-US" sz="10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7406640" cy="685800"/>
          </a:xfrm>
          <a:prstGeom prst="rect">
            <a:avLst/>
          </a:prstGeom>
          <a:noFill/>
          <a:ln/>
        </p:spPr>
        <p:txBody>
          <a:bodyPr wrap="square" lIns="0" tIns="0" rIns="0" bIns="0" rtlCol="0" anchor="ctr"/>
          <a:lstStyle/>
          <a:p>
            <a:pPr algn="l" indent="0" marL="0">
              <a:buNone/>
            </a:pPr>
            <a:r>
              <a:rPr lang="en-US" sz="3200" b="1" dirty="0">
                <a:solidFill>
                  <a:schemeClr val="tx1"/>
                </a:solidFill>
              </a:rPr>
              <a:t>Results: what drives the gain</a:t>
            </a:r>
            <a:endParaRPr lang="en-US" sz="3200" dirty="0"/>
          </a:p>
        </p:txBody>
      </p:sp>
      <p:sp>
        <p:nvSpPr>
          <p:cNvPr id="3" name="Message"/>
          <p:cNvSpPr txBox="1"/>
          <p:nvPr/>
        </p:nvSpPr>
        <p:spPr>
          <a:xfrm>
            <a:off x="548640" y="1005840"/>
            <a:ext cx="11091672" cy="411480"/>
          </a:xfrm>
          <a:prstGeom prst="rect">
            <a:avLst/>
          </a:prstGeom>
          <a:noFill/>
          <a:ln/>
        </p:spPr>
        <p:txBody>
          <a:bodyPr wrap="square" lIns="0" tIns="0" rIns="0" bIns="0" rtlCol="0" anchor="t"/>
          <a:lstStyle/>
          <a:p>
            <a:pPr indent="0" marL="0">
              <a:buNone/>
            </a:pPr>
            <a:r>
              <a:rPr lang="en-US" sz="1800" dirty="0">
                <a:solidFill>
                  <a:schemeClr val="accent5"/>
                </a:solidFill>
              </a:rPr>
              <a:t>Two experiments isolate where the improvement comes from</a:t>
            </a:r>
            <a:endParaRPr lang="en-US" sz="1800" dirty="0"/>
          </a:p>
        </p:txBody>
      </p:sp>
      <p:sp>
        <p:nvSpPr>
          <p:cNvPr id="4" name="Rubric tag"/>
          <p:cNvSpPr/>
          <p:nvPr/>
        </p:nvSpPr>
        <p:spPr>
          <a:xfrm>
            <a:off x="8074152" y="457200"/>
            <a:ext cx="3566160" cy="310896"/>
          </a:xfrm>
          <a:prstGeom prst="roundRect">
            <a:avLst>
              <a:gd name="adj" fmla="val 50000"/>
            </a:avLst>
          </a:prstGeom>
          <a:solidFill>
            <a:schemeClr val="bg2"/>
          </a:solidFill>
          <a:ln/>
        </p:spPr>
      </p:sp>
      <p:sp>
        <p:nvSpPr>
          <p:cNvPr id="5" name="Rubric tag text"/>
          <p:cNvSpPr txBox="1"/>
          <p:nvPr/>
        </p:nvSpPr>
        <p:spPr>
          <a:xfrm>
            <a:off x="8074152" y="457200"/>
            <a:ext cx="3566160" cy="310896"/>
          </a:xfrm>
          <a:prstGeom prst="rect">
            <a:avLst/>
          </a:prstGeom>
          <a:noFill/>
          <a:ln/>
        </p:spPr>
        <p:txBody>
          <a:bodyPr wrap="square" lIns="0" tIns="0" rIns="0" bIns="0" rtlCol="0" anchor="ctr"/>
          <a:lstStyle/>
          <a:p>
            <a:pPr algn="ctr" indent="0" marL="0">
              <a:buNone/>
            </a:pPr>
            <a:r>
              <a:rPr lang="en-US" sz="1100" dirty="0">
                <a:solidFill>
                  <a:schemeClr val="accent5"/>
                </a:solidFill>
              </a:rPr>
              <a:t>Rubric: ML – test performance · Opt – quality</a:t>
            </a:r>
            <a:endParaRPr lang="en-US" sz="1100" dirty="0"/>
          </a:p>
        </p:txBody>
      </p:sp>
      <p:sp>
        <p:nvSpPr>
          <p:cNvPr id="7" name="Key message banner"/>
          <p:cNvSpPr/>
          <p:nvPr/>
        </p:nvSpPr>
        <p:spPr>
          <a:xfrm>
            <a:off x="548640" y="1554480"/>
            <a:ext cx="11091672" cy="777240"/>
          </a:xfrm>
          <a:prstGeom prst="roundRect">
            <a:avLst>
              <a:gd name="adj" fmla="val 9412"/>
            </a:avLst>
          </a:prstGeom>
          <a:solidFill>
            <a:schemeClr val="accent6"/>
          </a:solidFill>
          <a:ln/>
        </p:spPr>
      </p:sp>
      <p:sp>
        <p:nvSpPr>
          <p:cNvPr id="8" name="Key message text"/>
          <p:cNvSpPr txBox="1"/>
          <p:nvPr/>
        </p:nvSpPr>
        <p:spPr>
          <a:xfrm>
            <a:off x="822960" y="1554480"/>
            <a:ext cx="10543032" cy="777240"/>
          </a:xfrm>
          <a:prstGeom prst="rect">
            <a:avLst/>
          </a:prstGeom>
          <a:noFill/>
          <a:ln/>
        </p:spPr>
        <p:txBody>
          <a:bodyPr wrap="square" lIns="0" tIns="0" rIns="0" bIns="0" rtlCol="0" anchor="ctr"/>
          <a:lstStyle/>
          <a:p>
            <a:pPr indent="0" marL="0">
              <a:buNone/>
            </a:pPr>
            <a:r>
              <a:rPr lang="en-US" sz="1800" b="1" dirty="0">
                <a:solidFill>
                  <a:schemeClr val="tx1"/>
                </a:solidFill>
              </a:rPr>
              <a:t>The gain comes from planning on live queue counts with a queue model. The learned forecast adds little to control.</a:t>
            </a:r>
            <a:endParaRPr lang="en-US" sz="1800" dirty="0"/>
          </a:p>
        </p:txBody>
      </p:sp>
      <p:graphicFrame>
        <p:nvGraphicFramePr>
          <p:cNvPr id="12" name="Ablation table"/>
          <p:cNvGraphicFramePr>
            <a:graphicFrameLocks noGrp="1"/>
          </p:cNvGraphicFramePr>
          <p:nvPr>
            <p:extLst>
              <p:ext uri="{D42A27DB-BD31-4B8C-83A1-F6EECF244321}">
                <p14:modId xmlns:p14="http://schemas.microsoft.com/office/powerpoint/2010/main" val="1579011935"/>
              </p:ext>
            </p:extLst>
          </p:nvPr>
        </p:nvGraphicFramePr>
        <p:xfrm>
          <a:off x="548640" y="2560320"/>
          <a:ext cx="11091672" cy="914400"/>
        </p:xfrm>
        <a:graphic>
          <a:graphicData uri="http://schemas.openxmlformats.org/drawingml/2006/table">
            <a:tbl>
              <a:tblPr/>
              <a:tblGrid>
                <a:gridCol w="3749040"/>
                <a:gridCol w="1463040"/>
                <a:gridCol w="1463040"/>
                <a:gridCol w="1463040"/>
                <a:gridCol w="1463040"/>
                <a:gridCol w="1399032"/>
              </a:tblGrid>
              <a:tr h="384048">
                <a:tc>
                  <a:txBody>
                    <a:bodyPr/>
                    <a:lstStyle/>
                    <a:p>
                      <a:pPr algn="l" indent="0" marL="0">
                        <a:buNone/>
                      </a:pPr>
                      <a:r>
                        <a:rPr lang="en-US" sz="1400" b="1" dirty="0">
                          <a:solidFill>
                            <a:schemeClr val="bg1"/>
                          </a:solidFill>
                        </a:rPr>
                        <a:t>Improvement vs tuned fixed cycle</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Typical</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Busy</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Storm</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Evening</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Accident</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tx2"/>
                    </a:solidFill>
                  </a:tcPr>
                </a:tc>
              </a:tr>
              <a:tr h="384048">
                <a:tc>
                  <a:txBody>
                    <a:bodyPr/>
                    <a:lstStyle/>
                    <a:p>
                      <a:pPr indent="0" marL="0">
                        <a:buNone/>
                      </a:pPr>
                      <a:r>
                        <a:rPr lang="en-US" sz="1400" b="1" dirty="0">
                          <a:solidFill>
                            <a:schemeClr val="tx1"/>
                          </a:solidFill>
                        </a:rPr>
                        <a:t>Optimiser (QP + gap-out)</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accent6"/>
                    </a:solidFill>
                  </a:tcPr>
                </a:tc>
                <a:tc>
                  <a:txBody>
                    <a:bodyPr/>
                    <a:lstStyle/>
                    <a:p>
                      <a:pPr algn="ctr" indent="0" marL="0">
                        <a:buNone/>
                      </a:pPr>
                      <a:r>
                        <a:rPr lang="en-US" sz="1400" b="1" dirty="0">
                          <a:solidFill>
                            <a:schemeClr val="tx1"/>
                          </a:solidFill>
                        </a:rPr>
                        <a:t>22%</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accent6"/>
                    </a:solidFill>
                  </a:tcPr>
                </a:tc>
                <a:tc>
                  <a:txBody>
                    <a:bodyPr/>
                    <a:lstStyle/>
                    <a:p>
                      <a:pPr algn="ctr" indent="0" marL="0">
                        <a:buNone/>
                      </a:pPr>
                      <a:r>
                        <a:rPr lang="en-US" sz="1400" b="1" dirty="0">
                          <a:solidFill>
                            <a:schemeClr val="tx1"/>
                          </a:solidFill>
                        </a:rPr>
                        <a:t>22%</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accent6"/>
                    </a:solidFill>
                  </a:tcPr>
                </a:tc>
                <a:tc>
                  <a:txBody>
                    <a:bodyPr/>
                    <a:lstStyle/>
                    <a:p>
                      <a:pPr algn="ctr" indent="0" marL="0">
                        <a:buNone/>
                      </a:pPr>
                      <a:r>
                        <a:rPr lang="en-US" sz="1400" b="1" dirty="0">
                          <a:solidFill>
                            <a:schemeClr val="tx1"/>
                          </a:solidFill>
                        </a:rPr>
                        <a:t>16%</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accent6"/>
                    </a:solidFill>
                  </a:tcPr>
                </a:tc>
                <a:tc>
                  <a:txBody>
                    <a:bodyPr/>
                    <a:lstStyle/>
                    <a:p>
                      <a:pPr algn="ctr" indent="0" marL="0">
                        <a:buNone/>
                      </a:pPr>
                      <a:r>
                        <a:rPr lang="en-US" sz="1400" b="1" dirty="0">
                          <a:solidFill>
                            <a:schemeClr val="tx1"/>
                          </a:solidFill>
                        </a:rPr>
                        <a:t>3%</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accent6"/>
                    </a:solidFill>
                  </a:tcPr>
                </a:tc>
                <a:tc>
                  <a:txBody>
                    <a:bodyPr/>
                    <a:lstStyle/>
                    <a:p>
                      <a:pPr algn="ctr" indent="0" marL="0">
                        <a:buNone/>
                      </a:pPr>
                      <a:r>
                        <a:rPr lang="en-US" sz="1400" b="1" dirty="0">
                          <a:solidFill>
                            <a:schemeClr val="tx1"/>
                          </a:solidFill>
                        </a:rPr>
                        <a:t>−3%</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accent6"/>
                    </a:solidFill>
                  </a:tcPr>
                </a:tc>
              </a:tr>
              <a:tr h="384048">
                <a:tc>
                  <a:txBody>
                    <a:bodyPr/>
                    <a:lstStyle/>
                    <a:p>
                      <a:pPr indent="0" marL="0">
                        <a:buNone/>
                      </a:pPr>
                      <a:r>
                        <a:rPr lang="en-US" sz="1400" dirty="0">
                          <a:solidFill>
                            <a:schemeClr val="tx1"/>
                          </a:solidFill>
                        </a:rPr>
                        <a:t>QP only, no gap-out</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400" dirty="0">
                          <a:solidFill>
                            <a:schemeClr val="tx1"/>
                          </a:solidFill>
                        </a:rPr>
                        <a:t>13%</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400" dirty="0">
                          <a:solidFill>
                            <a:schemeClr val="tx1"/>
                          </a:solidFill>
                        </a:rPr>
                        <a:t>20%</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400" dirty="0">
                          <a:solidFill>
                            <a:schemeClr val="tx1"/>
                          </a:solidFill>
                        </a:rPr>
                        <a:t>13%</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400" dirty="0">
                          <a:solidFill>
                            <a:schemeClr val="tx1"/>
                          </a:solidFill>
                        </a:rPr>
                        <a:t>2%</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400" dirty="0">
                          <a:solidFill>
                            <a:schemeClr val="tx1"/>
                          </a:solidFill>
                        </a:rPr>
                        <a:t>−18%</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r>
            </a:tbl>
          </a:graphicData>
        </a:graphic>
      </p:graphicFrame>
      <p:graphicFrame>
        <p:nvGraphicFramePr>
          <p:cNvPr id="23" name="Information table"/>
          <p:cNvGraphicFramePr>
            <a:graphicFrameLocks noGrp="1"/>
          </p:cNvGraphicFramePr>
          <p:nvPr>
            <p:extLst>
              <p:ext uri="{D42A27DB-BD31-4B8C-83A1-F6EECF244321}">
                <p14:modId xmlns:p14="http://schemas.microsoft.com/office/powerpoint/2010/main" val="1579011935"/>
              </p:ext>
            </p:extLst>
          </p:nvPr>
        </p:nvGraphicFramePr>
        <p:xfrm>
          <a:off x="548640" y="3931920"/>
          <a:ext cx="11091672" cy="914400"/>
        </p:xfrm>
        <a:graphic>
          <a:graphicData uri="http://schemas.openxmlformats.org/drawingml/2006/table">
            <a:tbl>
              <a:tblPr/>
              <a:tblGrid>
                <a:gridCol w="3749040"/>
                <a:gridCol w="1463040"/>
                <a:gridCol w="1463040"/>
                <a:gridCol w="1463040"/>
                <a:gridCol w="1463040"/>
                <a:gridCol w="1399032"/>
              </a:tblGrid>
              <a:tr h="384048">
                <a:tc>
                  <a:txBody>
                    <a:bodyPr/>
                    <a:lstStyle/>
                    <a:p>
                      <a:pPr algn="l" indent="0" marL="0">
                        <a:buNone/>
                      </a:pPr>
                      <a:r>
                        <a:rPr lang="en-US" sz="1400" b="1" dirty="0">
                          <a:solidFill>
                            <a:schemeClr val="bg1"/>
                          </a:solidFill>
                        </a:rPr>
                        <a:t>Mean delay (s) by information level</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Typical</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Busy</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Storm</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Evening</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Accident</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tx2"/>
                    </a:solidFill>
                  </a:tcPr>
                </a:tc>
              </a:tr>
              <a:tr h="384048">
                <a:tc>
                  <a:txBody>
                    <a:bodyPr/>
                    <a:lstStyle/>
                    <a:p>
                      <a:pPr indent="0" marL="0">
                        <a:buNone/>
                      </a:pPr>
                      <a:r>
                        <a:rPr lang="en-US" sz="1400" dirty="0">
                          <a:solidFill>
                            <a:schemeClr val="tx1"/>
                          </a:solidFill>
                        </a:rPr>
                        <a:t>Last window repeated (persistence)</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400" dirty="0">
                          <a:solidFill>
                            <a:schemeClr val="tx1"/>
                          </a:solidFill>
                        </a:rPr>
                        <a:t>47.6</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400" dirty="0">
                          <a:solidFill>
                            <a:schemeClr val="tx1"/>
                          </a:solidFill>
                        </a:rPr>
                        <a:t>111.6</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400" dirty="0">
                          <a:solidFill>
                            <a:schemeClr val="tx1"/>
                          </a:solidFill>
                        </a:rPr>
                        <a:t>166.2</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400" dirty="0">
                          <a:solidFill>
                            <a:schemeClr val="tx1"/>
                          </a:solidFill>
                        </a:rPr>
                        <a:t>90.4</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400" dirty="0">
                          <a:solidFill>
                            <a:schemeClr val="tx1"/>
                          </a:solidFill>
                        </a:rPr>
                        <a:t>206.7</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r>
              <a:tr h="384048">
                <a:tc>
                  <a:txBody>
                    <a:bodyPr/>
                    <a:lstStyle/>
                    <a:p>
                      <a:pPr indent="0" marL="0">
                        <a:buNone/>
                      </a:pPr>
                      <a:r>
                        <a:rPr lang="en-US" sz="1400" dirty="0">
                          <a:solidFill>
                            <a:schemeClr val="tx1"/>
                          </a:solidFill>
                        </a:rPr>
                        <a:t>Calendar + weather only (patterns)</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400" dirty="0">
                          <a:solidFill>
                            <a:schemeClr val="tx1"/>
                          </a:solidFill>
                        </a:rPr>
                        <a:t>47.6</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400" dirty="0">
                          <a:solidFill>
                            <a:schemeClr val="tx1"/>
                          </a:solidFill>
                        </a:rPr>
                        <a:t>116.0</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400" dirty="0">
                          <a:solidFill>
                            <a:schemeClr val="tx1"/>
                          </a:solidFill>
                        </a:rPr>
                        <a:t>168.8</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400" dirty="0">
                          <a:solidFill>
                            <a:schemeClr val="tx1"/>
                          </a:solidFill>
                        </a:rPr>
                        <a:t>92.7</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400" dirty="0">
                          <a:solidFill>
                            <a:schemeClr val="tx1"/>
                          </a:solidFill>
                        </a:rPr>
                        <a:t>245.4</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r>
              <a:tr h="384048">
                <a:tc>
                  <a:txBody>
                    <a:bodyPr/>
                    <a:lstStyle/>
                    <a:p>
                      <a:pPr indent="0" marL="0">
                        <a:buNone/>
                      </a:pPr>
                      <a:r>
                        <a:rPr lang="en-US" sz="1400" b="1" dirty="0">
                          <a:solidFill>
                            <a:schemeClr val="tx1"/>
                          </a:solidFill>
                        </a:rPr>
                        <a:t>Live sensor forecast</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accent6"/>
                    </a:solidFill>
                  </a:tcPr>
                </a:tc>
                <a:tc>
                  <a:txBody>
                    <a:bodyPr/>
                    <a:lstStyle/>
                    <a:p>
                      <a:pPr algn="ctr" indent="0" marL="0">
                        <a:buNone/>
                      </a:pPr>
                      <a:r>
                        <a:rPr lang="en-US" sz="1400" b="1" dirty="0">
                          <a:solidFill>
                            <a:schemeClr val="tx1"/>
                          </a:solidFill>
                        </a:rPr>
                        <a:t>46.5</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accent6"/>
                    </a:solidFill>
                  </a:tcPr>
                </a:tc>
                <a:tc>
                  <a:txBody>
                    <a:bodyPr/>
                    <a:lstStyle/>
                    <a:p>
                      <a:pPr algn="ctr" indent="0" marL="0">
                        <a:buNone/>
                      </a:pPr>
                      <a:r>
                        <a:rPr lang="en-US" sz="1400" b="1" dirty="0">
                          <a:solidFill>
                            <a:schemeClr val="tx1"/>
                          </a:solidFill>
                        </a:rPr>
                        <a:t>111.3</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accent6"/>
                    </a:solidFill>
                  </a:tcPr>
                </a:tc>
                <a:tc>
                  <a:txBody>
                    <a:bodyPr/>
                    <a:lstStyle/>
                    <a:p>
                      <a:pPr algn="ctr" indent="0" marL="0">
                        <a:buNone/>
                      </a:pPr>
                      <a:r>
                        <a:rPr lang="en-US" sz="1400" b="1" dirty="0">
                          <a:solidFill>
                            <a:schemeClr val="tx1"/>
                          </a:solidFill>
                        </a:rPr>
                        <a:t>167.7</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accent6"/>
                    </a:solidFill>
                  </a:tcPr>
                </a:tc>
                <a:tc>
                  <a:txBody>
                    <a:bodyPr/>
                    <a:lstStyle/>
                    <a:p>
                      <a:pPr algn="ctr" indent="0" marL="0">
                        <a:buNone/>
                      </a:pPr>
                      <a:r>
                        <a:rPr lang="en-US" sz="1400" b="1" dirty="0">
                          <a:solidFill>
                            <a:schemeClr val="tx1"/>
                          </a:solidFill>
                        </a:rPr>
                        <a:t>91.7</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accent6"/>
                    </a:solidFill>
                  </a:tcPr>
                </a:tc>
                <a:tc>
                  <a:txBody>
                    <a:bodyPr/>
                    <a:lstStyle/>
                    <a:p>
                      <a:pPr algn="ctr" indent="0" marL="0">
                        <a:buNone/>
                      </a:pPr>
                      <a:r>
                        <a:rPr lang="en-US" sz="1400" b="1" dirty="0">
                          <a:solidFill>
                            <a:schemeClr val="tx1"/>
                          </a:solidFill>
                        </a:rPr>
                        <a:t>206.6</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accent6"/>
                    </a:solidFill>
                  </a:tcPr>
                </a:tc>
              </a:tr>
              <a:tr h="384048">
                <a:tc>
                  <a:txBody>
                    <a:bodyPr/>
                    <a:lstStyle/>
                    <a:p>
                      <a:pPr indent="0" marL="0">
                        <a:buNone/>
                      </a:pPr>
                      <a:r>
                        <a:rPr lang="en-US" sz="1400" dirty="0">
                          <a:solidFill>
                            <a:schemeClr val="tx1"/>
                          </a:solidFill>
                        </a:rPr>
                        <a:t>Perfect forecast (oracle)</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400" dirty="0">
                          <a:solidFill>
                            <a:schemeClr val="tx1"/>
                          </a:solidFill>
                        </a:rPr>
                        <a:t>47.3</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400" dirty="0">
                          <a:solidFill>
                            <a:schemeClr val="tx1"/>
                          </a:solidFill>
                        </a:rPr>
                        <a:t>112.7</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400" dirty="0">
                          <a:solidFill>
                            <a:schemeClr val="tx1"/>
                          </a:solidFill>
                        </a:rPr>
                        <a:t>175.6</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400" dirty="0">
                          <a:solidFill>
                            <a:schemeClr val="tx1"/>
                          </a:solidFill>
                        </a:rPr>
                        <a:t>93.8</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400" dirty="0">
                          <a:solidFill>
                            <a:schemeClr val="tx1"/>
                          </a:solidFill>
                        </a:rPr>
                        <a:t>212.7</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r>
            </a:tbl>
          </a:graphicData>
        </a:graphic>
      </p:graphicFrame>
      <p:sp>
        <p:nvSpPr>
          <p:cNvPr id="11" name="Source line"/>
          <p:cNvSpPr txBox="1"/>
          <p:nvPr/>
        </p:nvSpPr>
        <p:spPr>
          <a:xfrm>
            <a:off x="548640" y="6144768"/>
            <a:ext cx="10515600" cy="228600"/>
          </a:xfrm>
          <a:prstGeom prst="rect">
            <a:avLst/>
          </a:prstGeom>
          <a:noFill/>
          <a:ln/>
        </p:spPr>
        <p:txBody>
          <a:bodyPr wrap="square" lIns="0" tIns="0" rIns="0" bIns="0" rtlCol="0" anchor="t"/>
          <a:lstStyle/>
          <a:p>
            <a:pPr indent="0" marL="0">
              <a:buNone/>
            </a:pPr>
            <a:r>
              <a:rPr lang="en-US" sz="1000" dirty="0">
                <a:solidFill>
                  <a:schemeClr val="accent5"/>
                </a:solidFill>
              </a:rPr>
              <a:t>Held-out seeds 200–202, outputs/final_eval/ (variants_*.csv for the ablation)</a:t>
            </a:r>
            <a:endParaRPr lang="en-US" sz="10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7406640" cy="685800"/>
          </a:xfrm>
          <a:prstGeom prst="rect">
            <a:avLst/>
          </a:prstGeom>
          <a:noFill/>
          <a:ln/>
        </p:spPr>
        <p:txBody>
          <a:bodyPr wrap="square" lIns="0" tIns="0" rIns="0" bIns="0" rtlCol="0" anchor="ctr"/>
          <a:lstStyle/>
          <a:p>
            <a:pPr algn="l" indent="0" marL="0">
              <a:buNone/>
            </a:pPr>
            <a:r>
              <a:rPr lang="en-US" sz="3200" b="1" dirty="0">
                <a:solidFill>
                  <a:schemeClr val="tx1"/>
                </a:solidFill>
              </a:rPr>
              <a:t>Results: accidents</a:t>
            </a:r>
            <a:endParaRPr lang="en-US" sz="3200" dirty="0"/>
          </a:p>
        </p:txBody>
      </p:sp>
      <p:sp>
        <p:nvSpPr>
          <p:cNvPr id="3" name="Message"/>
          <p:cNvSpPr txBox="1"/>
          <p:nvPr/>
        </p:nvSpPr>
        <p:spPr>
          <a:xfrm>
            <a:off x="548640" y="1005840"/>
            <a:ext cx="11091672" cy="411480"/>
          </a:xfrm>
          <a:prstGeom prst="rect">
            <a:avLst/>
          </a:prstGeom>
          <a:noFill/>
          <a:ln/>
        </p:spPr>
        <p:txBody>
          <a:bodyPr wrap="square" lIns="0" tIns="0" rIns="0" bIns="0" rtlCol="0" anchor="t"/>
          <a:lstStyle/>
          <a:p>
            <a:pPr indent="0" marL="0">
              <a:buNone/>
            </a:pPr>
            <a:r>
              <a:rPr lang="en-US" sz="1800" dirty="0">
                <a:solidFill>
                  <a:schemeClr val="accent5"/>
                </a:solidFill>
              </a:rPr>
              <a:t>The blockage costs 170–199 s per car; the controller limits damage</a:t>
            </a:r>
            <a:endParaRPr lang="en-US" sz="1800" dirty="0"/>
          </a:p>
        </p:txBody>
      </p:sp>
      <p:sp>
        <p:nvSpPr>
          <p:cNvPr id="4" name="Rubric tag"/>
          <p:cNvSpPr/>
          <p:nvPr/>
        </p:nvSpPr>
        <p:spPr>
          <a:xfrm>
            <a:off x="7982712" y="457200"/>
            <a:ext cx="3657600" cy="310896"/>
          </a:xfrm>
          <a:prstGeom prst="roundRect">
            <a:avLst>
              <a:gd name="adj" fmla="val 50000"/>
            </a:avLst>
          </a:prstGeom>
          <a:solidFill>
            <a:schemeClr val="bg2"/>
          </a:solidFill>
          <a:ln/>
        </p:spPr>
      </p:sp>
      <p:sp>
        <p:nvSpPr>
          <p:cNvPr id="5" name="Rubric tag text"/>
          <p:cNvSpPr txBox="1"/>
          <p:nvPr/>
        </p:nvSpPr>
        <p:spPr>
          <a:xfrm>
            <a:off x="7982712" y="457200"/>
            <a:ext cx="3657600" cy="310896"/>
          </a:xfrm>
          <a:prstGeom prst="rect">
            <a:avLst/>
          </a:prstGeom>
          <a:noFill/>
          <a:ln/>
        </p:spPr>
        <p:txBody>
          <a:bodyPr wrap="square" lIns="0" tIns="0" rIns="0" bIns="0" rtlCol="0" anchor="ctr"/>
          <a:lstStyle/>
          <a:p>
            <a:pPr algn="ctr" indent="0" marL="0">
              <a:buNone/>
            </a:pPr>
            <a:r>
              <a:rPr lang="en-US" sz="1100" dirty="0">
                <a:solidFill>
                  <a:schemeClr val="accent5"/>
                </a:solidFill>
              </a:rPr>
              <a:t>Rubric: Opt – constraint handling · quality</a:t>
            </a:r>
            <a:endParaRPr lang="en-US" sz="1100" dirty="0"/>
          </a:p>
        </p:txBody>
      </p:sp>
      <p:graphicFrame>
        <p:nvGraphicFramePr>
          <p:cNvPr id="13" name="Accident table"/>
          <p:cNvGraphicFramePr>
            <a:graphicFrameLocks noGrp="1"/>
          </p:cNvGraphicFramePr>
          <p:nvPr>
            <p:extLst>
              <p:ext uri="{D42A27DB-BD31-4B8C-83A1-F6EECF244321}">
                <p14:modId xmlns:p14="http://schemas.microsoft.com/office/powerpoint/2010/main" val="1579011935"/>
              </p:ext>
            </p:extLst>
          </p:nvPr>
        </p:nvGraphicFramePr>
        <p:xfrm>
          <a:off x="548640" y="1645920"/>
          <a:ext cx="7132320" cy="914400"/>
        </p:xfrm>
        <a:graphic>
          <a:graphicData uri="http://schemas.openxmlformats.org/drawingml/2006/table">
            <a:tbl>
              <a:tblPr/>
              <a:tblGrid>
                <a:gridCol w="2651760"/>
                <a:gridCol w="868680"/>
                <a:gridCol w="1234440"/>
                <a:gridCol w="1097280"/>
                <a:gridCol w="1280160"/>
              </a:tblGrid>
              <a:tr h="411480">
                <a:tc>
                  <a:txBody>
                    <a:bodyPr/>
                    <a:lstStyle/>
                    <a:p>
                      <a:pPr algn="l" indent="0" marL="0">
                        <a:buNone/>
                      </a:pPr>
                      <a:r>
                        <a:rPr lang="en-US" sz="1300" b="1" dirty="0">
                          <a:solidFill>
                            <a:schemeClr val="bg1"/>
                          </a:solidFill>
                        </a:rPr>
                        <a:t>Controller</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Typical</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With accident</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Cost (s/car)</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Worst seed</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tx2"/>
                    </a:solidFill>
                  </a:tcPr>
                </a:tc>
              </a:tr>
              <a:tr h="411480">
                <a:tc>
                  <a:txBody>
                    <a:bodyPr/>
                    <a:lstStyle/>
                    <a:p>
                      <a:pPr indent="0" marL="0">
                        <a:buNone/>
                      </a:pPr>
                      <a:r>
                        <a:rPr lang="en-US" sz="1300" dirty="0">
                          <a:solidFill>
                            <a:schemeClr val="tx1"/>
                          </a:solidFill>
                        </a:rPr>
                        <a:t>Fixed, tuned cycle</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300" dirty="0">
                          <a:solidFill>
                            <a:schemeClr val="tx1"/>
                          </a:solidFill>
                        </a:rPr>
                        <a:t>72.2</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300" dirty="0">
                          <a:solidFill>
                            <a:schemeClr val="tx1"/>
                          </a:solidFill>
                        </a:rPr>
                        <a:t>242.1</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300" dirty="0">
                          <a:solidFill>
                            <a:schemeClr val="tx1"/>
                          </a:solidFill>
                        </a:rPr>
                        <a:t>+170</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300" dirty="0">
                          <a:solidFill>
                            <a:schemeClr val="tx1"/>
                          </a:solidFill>
                        </a:rPr>
                        <a:t>400</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r>
              <a:tr h="411480">
                <a:tc>
                  <a:txBody>
                    <a:bodyPr/>
                    <a:lstStyle/>
                    <a:p>
                      <a:pPr indent="0" marL="0">
                        <a:buNone/>
                      </a:pPr>
                      <a:r>
                        <a:rPr lang="en-US" sz="1300" dirty="0">
                          <a:solidFill>
                            <a:schemeClr val="tx1"/>
                          </a:solidFill>
                        </a:rPr>
                        <a:t>Time-of-day plan</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300" dirty="0">
                          <a:solidFill>
                            <a:schemeClr val="tx1"/>
                          </a:solidFill>
                        </a:rPr>
                        <a:t>67.9</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300" dirty="0">
                          <a:solidFill>
                            <a:schemeClr val="tx1"/>
                          </a:solidFill>
                        </a:rPr>
                        <a:t>239.9</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300" dirty="0">
                          <a:solidFill>
                            <a:schemeClr val="tx1"/>
                          </a:solidFill>
                        </a:rPr>
                        <a:t>+172</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300" dirty="0">
                          <a:solidFill>
                            <a:schemeClr val="tx1"/>
                          </a:solidFill>
                        </a:rPr>
                        <a:t>399</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r>
              <a:tr h="411480">
                <a:tc>
                  <a:txBody>
                    <a:bodyPr/>
                    <a:lstStyle/>
                    <a:p>
                      <a:pPr indent="0" marL="0">
                        <a:buNone/>
                      </a:pPr>
                      <a:r>
                        <a:rPr lang="en-US" sz="1300" dirty="0">
                          <a:solidFill>
                            <a:schemeClr val="tx1"/>
                          </a:solidFill>
                        </a:rPr>
                        <a:t>Optimiser, persistence</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300" dirty="0">
                          <a:solidFill>
                            <a:schemeClr val="tx1"/>
                          </a:solidFill>
                        </a:rPr>
                        <a:t>54.9</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300" dirty="0">
                          <a:solidFill>
                            <a:schemeClr val="tx1"/>
                          </a:solidFill>
                        </a:rPr>
                        <a:t>238.6</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300" dirty="0">
                          <a:solidFill>
                            <a:schemeClr val="tx1"/>
                          </a:solidFill>
                        </a:rPr>
                        <a:t>+184</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300" dirty="0">
                          <a:solidFill>
                            <a:schemeClr val="tx1"/>
                          </a:solidFill>
                        </a:rPr>
                        <a:t>327</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r>
              <a:tr h="411480">
                <a:tc>
                  <a:txBody>
                    <a:bodyPr/>
                    <a:lstStyle/>
                    <a:p>
                      <a:pPr indent="0" marL="0">
                        <a:buNone/>
                      </a:pPr>
                      <a:r>
                        <a:rPr lang="en-US" sz="1300" b="1" dirty="0">
                          <a:solidFill>
                            <a:schemeClr val="tx1"/>
                          </a:solidFill>
                        </a:rPr>
                        <a:t>Optimiser, live forecast</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accent6"/>
                    </a:solidFill>
                  </a:tcPr>
                </a:tc>
                <a:tc>
                  <a:txBody>
                    <a:bodyPr/>
                    <a:lstStyle/>
                    <a:p>
                      <a:pPr algn="ctr" indent="0" marL="0">
                        <a:buNone/>
                      </a:pPr>
                      <a:r>
                        <a:rPr lang="en-US" sz="1300" b="1" dirty="0">
                          <a:solidFill>
                            <a:schemeClr val="tx1"/>
                          </a:solidFill>
                        </a:rPr>
                        <a:t>54.9</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accent6"/>
                    </a:solidFill>
                  </a:tcPr>
                </a:tc>
                <a:tc>
                  <a:txBody>
                    <a:bodyPr/>
                    <a:lstStyle/>
                    <a:p>
                      <a:pPr algn="ctr" indent="0" marL="0">
                        <a:buNone/>
                      </a:pPr>
                      <a:r>
                        <a:rPr lang="en-US" sz="1300" b="1" dirty="0">
                          <a:solidFill>
                            <a:schemeClr val="tx1"/>
                          </a:solidFill>
                        </a:rPr>
                        <a:t>248.5</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accent6"/>
                    </a:solidFill>
                  </a:tcPr>
                </a:tc>
                <a:tc>
                  <a:txBody>
                    <a:bodyPr/>
                    <a:lstStyle/>
                    <a:p>
                      <a:pPr algn="ctr" indent="0" marL="0">
                        <a:buNone/>
                      </a:pPr>
                      <a:r>
                        <a:rPr lang="en-US" sz="1300" b="1" dirty="0">
                          <a:solidFill>
                            <a:schemeClr val="tx1"/>
                          </a:solidFill>
                        </a:rPr>
                        <a:t>+194</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accent6"/>
                    </a:solidFill>
                  </a:tcPr>
                </a:tc>
                <a:tc>
                  <a:txBody>
                    <a:bodyPr/>
                    <a:lstStyle/>
                    <a:p>
                      <a:pPr algn="ctr" indent="0" marL="0">
                        <a:buNone/>
                      </a:pPr>
                      <a:r>
                        <a:rPr lang="en-US" sz="1300" b="1" dirty="0">
                          <a:solidFill>
                            <a:schemeClr val="tx1"/>
                          </a:solidFill>
                        </a:rPr>
                        <a:t>360</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accent6"/>
                    </a:solidFill>
                  </a:tcPr>
                </a:tc>
              </a:tr>
              <a:tr h="411480">
                <a:tc>
                  <a:txBody>
                    <a:bodyPr/>
                    <a:lstStyle/>
                    <a:p>
                      <a:pPr indent="0" marL="0">
                        <a:buNone/>
                      </a:pPr>
                      <a:r>
                        <a:rPr lang="en-US" sz="1300" dirty="0">
                          <a:solidFill>
                            <a:schemeClr val="tx1"/>
                          </a:solidFill>
                        </a:rPr>
                        <a:t>Max-pressure</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300" dirty="0">
                          <a:solidFill>
                            <a:schemeClr val="tx1"/>
                          </a:solidFill>
                        </a:rPr>
                        <a:t>77.6</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300" dirty="0">
                          <a:solidFill>
                            <a:schemeClr val="tx1"/>
                          </a:solidFill>
                        </a:rPr>
                        <a:t>277.0</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300" dirty="0">
                          <a:solidFill>
                            <a:schemeClr val="tx1"/>
                          </a:solidFill>
                        </a:rPr>
                        <a:t>+199</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300" dirty="0">
                          <a:solidFill>
                            <a:schemeClr val="tx1"/>
                          </a:solidFill>
                        </a:rPr>
                        <a:t>407</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r>
              <a:tr h="411480">
                <a:tc>
                  <a:txBody>
                    <a:bodyPr/>
                    <a:lstStyle/>
                    <a:p>
                      <a:pPr indent="0" marL="0">
                        <a:buNone/>
                      </a:pPr>
                      <a:r>
                        <a:rPr lang="en-US" sz="1300" dirty="0">
                          <a:solidFill>
                            <a:schemeClr val="tx1"/>
                          </a:solidFill>
                        </a:rPr>
                        <a:t>Optimiser, perfect forecast</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300" dirty="0">
                          <a:solidFill>
                            <a:schemeClr val="tx1"/>
                          </a:solidFill>
                        </a:rPr>
                        <a:t>56.3</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300" dirty="0">
                          <a:solidFill>
                            <a:schemeClr val="tx1"/>
                          </a:solidFill>
                        </a:rPr>
                        <a:t>343.2</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300" dirty="0">
                          <a:solidFill>
                            <a:schemeClr val="tx1"/>
                          </a:solidFill>
                        </a:rPr>
                        <a:t>+287</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300" dirty="0">
                          <a:solidFill>
                            <a:schemeClr val="tx1"/>
                          </a:solidFill>
                        </a:rPr>
                        <a:t>1076 (gridlock)</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r>
              <a:tr h="411480">
                <a:tc>
                  <a:txBody>
                    <a:bodyPr/>
                    <a:lstStyle/>
                    <a:p>
                      <a:pPr indent="0" marL="0">
                        <a:buNone/>
                      </a:pPr>
                      <a:r>
                        <a:rPr lang="en-US" sz="1300" dirty="0">
                          <a:solidFill>
                            <a:schemeClr val="tx1"/>
                          </a:solidFill>
                        </a:rPr>
                        <a:t>Optimiser, calendar-only</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300" dirty="0">
                          <a:solidFill>
                            <a:schemeClr val="tx1"/>
                          </a:solidFill>
                        </a:rPr>
                        <a:t>56.3</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300" dirty="0">
                          <a:solidFill>
                            <a:schemeClr val="tx1"/>
                          </a:solidFill>
                        </a:rPr>
                        <a:t>348.4</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300" dirty="0">
                          <a:solidFill>
                            <a:schemeClr val="tx1"/>
                          </a:solidFill>
                        </a:rPr>
                        <a:t>+292</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300" dirty="0">
                          <a:solidFill>
                            <a:schemeClr val="tx1"/>
                          </a:solidFill>
                        </a:rPr>
                        <a:t>1169 (gridlock)</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r>
              <a:tr h="411480">
                <a:tc>
                  <a:txBody>
                    <a:bodyPr/>
                    <a:lstStyle/>
                    <a:p>
                      <a:pPr indent="0" marL="0">
                        <a:buNone/>
                      </a:pPr>
                      <a:r>
                        <a:rPr lang="en-US" sz="1300" dirty="0">
                          <a:solidFill>
                            <a:schemeClr val="tx1"/>
                          </a:solidFill>
                        </a:rPr>
                        <a:t>Fixed 60 s (untuned)</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300" dirty="0">
                          <a:solidFill>
                            <a:schemeClr val="tx1"/>
                          </a:solidFill>
                        </a:rPr>
                        <a:t>114.1</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300" dirty="0">
                          <a:solidFill>
                            <a:schemeClr val="tx1"/>
                          </a:solidFill>
                        </a:rPr>
                        <a:t>417.1</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300" dirty="0">
                          <a:solidFill>
                            <a:schemeClr val="tx1"/>
                          </a:solidFill>
                        </a:rPr>
                        <a:t>+303</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300" dirty="0">
                          <a:solidFill>
                            <a:schemeClr val="tx1"/>
                          </a:solidFill>
                        </a:rPr>
                        <a:t>1189 (gridlock)</a:t>
                      </a:r>
                      <a:endParaRPr lang="en-US" sz="13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r>
            </a:tbl>
          </a:graphicData>
        </a:graphic>
      </p:graphicFrame>
      <p:sp>
        <p:nvSpPr>
          <p:cNvPr id="8" name="Accident table caption"/>
          <p:cNvSpPr txBox="1"/>
          <p:nvPr/>
        </p:nvSpPr>
        <p:spPr>
          <a:xfrm>
            <a:off x="548640" y="5440680"/>
            <a:ext cx="7132320" cy="457200"/>
          </a:xfrm>
          <a:prstGeom prst="rect">
            <a:avLst/>
          </a:prstGeom>
          <a:noFill/>
          <a:ln/>
        </p:spPr>
        <p:txBody>
          <a:bodyPr wrap="square" lIns="0" tIns="0" rIns="0" bIns="0" rtlCol="0" anchor="t"/>
          <a:lstStyle/>
          <a:p>
            <a:pPr indent="0" marL="0">
              <a:buNone/>
            </a:pPr>
            <a:r>
              <a:rPr lang="en-US" sz="1200" dirty="0">
                <a:solidFill>
                  <a:schemeClr val="accent5"/>
                </a:solidFill>
              </a:rPr>
              <a:t>Mean delay per car (s), 10 seeds; cost = with accident minus typical morning, identical demand per seed</a:t>
            </a:r>
            <a:endParaRPr lang="en-US" sz="1200" dirty="0"/>
          </a:p>
        </p:txBody>
      </p:sp>
      <p:sp>
        <p:nvSpPr>
          <p:cNvPr id="9" name="Accident cost card"/>
          <p:cNvSpPr/>
          <p:nvPr/>
        </p:nvSpPr>
        <p:spPr>
          <a:xfrm>
            <a:off x="7955280" y="1645920"/>
            <a:ext cx="3685032" cy="1325880"/>
          </a:xfrm>
          <a:prstGeom prst="roundRect">
            <a:avLst>
              <a:gd name="adj" fmla="val 5517"/>
            </a:avLst>
          </a:prstGeom>
          <a:solidFill>
            <a:schemeClr val="bg2"/>
          </a:solidFill>
          <a:ln/>
        </p:spPr>
      </p:sp>
      <p:sp>
        <p:nvSpPr>
          <p:cNvPr id="10" name="Accident cost value"/>
          <p:cNvSpPr txBox="1"/>
          <p:nvPr/>
        </p:nvSpPr>
        <p:spPr>
          <a:xfrm>
            <a:off x="8138160" y="1755648"/>
            <a:ext cx="3319272" cy="662940"/>
          </a:xfrm>
          <a:prstGeom prst="rect">
            <a:avLst/>
          </a:prstGeom>
          <a:noFill/>
          <a:ln/>
        </p:spPr>
        <p:txBody>
          <a:bodyPr wrap="square" lIns="0" tIns="0" rIns="0" bIns="0" rtlCol="0" anchor="ctr"/>
          <a:lstStyle/>
          <a:p>
            <a:pPr indent="0" marL="0">
              <a:buNone/>
            </a:pPr>
            <a:r>
              <a:rPr lang="en-US" sz="2800" b="1" dirty="0">
                <a:solidFill>
                  <a:schemeClr val="tx1"/>
                </a:solidFill>
                <a:latin typeface="+mj-lt" pitchFamily="34" charset="0"/>
                <a:ea typeface="+mj-lt" pitchFamily="34" charset="-122"/>
                <a:cs typeface="+mj-lt" pitchFamily="34" charset="-120"/>
              </a:rPr>
              <a:t>+170–194 s</a:t>
            </a:r>
            <a:endParaRPr lang="en-US" sz="2800" dirty="0"/>
          </a:p>
        </p:txBody>
      </p:sp>
      <p:sp>
        <p:nvSpPr>
          <p:cNvPr id="11" name="Accident cost label"/>
          <p:cNvSpPr txBox="1"/>
          <p:nvPr/>
        </p:nvSpPr>
        <p:spPr>
          <a:xfrm>
            <a:off x="8138160" y="2414930"/>
            <a:ext cx="3319272" cy="503834"/>
          </a:xfrm>
          <a:prstGeom prst="rect">
            <a:avLst/>
          </a:prstGeom>
          <a:noFill/>
          <a:ln/>
        </p:spPr>
        <p:txBody>
          <a:bodyPr wrap="square" lIns="0" tIns="0" rIns="0" bIns="0" rtlCol="0" anchor="t"/>
          <a:lstStyle/>
          <a:p>
            <a:pPr indent="0" marL="0">
              <a:buNone/>
            </a:pPr>
            <a:r>
              <a:rPr lang="en-US" sz="1400" dirty="0">
                <a:solidFill>
                  <a:schemeClr val="accent4"/>
                </a:solidFill>
              </a:rPr>
              <a:t>per car added by the accident; max-pressure +199</a:t>
            </a:r>
            <a:endParaRPr lang="en-US" sz="1400" dirty="0"/>
          </a:p>
        </p:txBody>
      </p:sp>
      <p:sp>
        <p:nvSpPr>
          <p:cNvPr id="12" name="Gridlock card"/>
          <p:cNvSpPr/>
          <p:nvPr/>
        </p:nvSpPr>
        <p:spPr>
          <a:xfrm>
            <a:off x="7955280" y="3108960"/>
            <a:ext cx="3685032" cy="1417320"/>
          </a:xfrm>
          <a:prstGeom prst="roundRect">
            <a:avLst>
              <a:gd name="adj" fmla="val 5161"/>
            </a:avLst>
          </a:prstGeom>
          <a:solidFill>
            <a:schemeClr val="bg2"/>
          </a:solidFill>
          <a:ln/>
        </p:spPr>
      </p:sp>
      <p:sp>
        <p:nvSpPr>
          <p:cNvPr id="13" name="Gridlock text"/>
          <p:cNvSpPr txBox="1"/>
          <p:nvPr/>
        </p:nvSpPr>
        <p:spPr>
          <a:xfrm>
            <a:off x="8138160" y="3108960"/>
            <a:ext cx="3319272" cy="1417320"/>
          </a:xfrm>
          <a:prstGeom prst="rect">
            <a:avLst/>
          </a:prstGeom>
          <a:noFill/>
          <a:ln/>
        </p:spPr>
        <p:txBody>
          <a:bodyPr wrap="square" lIns="0" tIns="0" rIns="0" bIns="0" rtlCol="0" anchor="ctr"/>
          <a:lstStyle/>
          <a:p>
            <a:pPr indent="0" marL="0">
              <a:buNone/>
            </a:pPr>
            <a:r>
              <a:rPr lang="en-US" sz="1600" b="1" dirty="0">
                <a:solidFill>
                  <a:schemeClr val="tx1"/>
                </a:solidFill>
              </a:rPr>
              <a:t>Gridlock</a:t>
            </a:r>
            <a:endParaRPr lang="en-US" sz="1400" dirty="0"/>
          </a:p>
          <a:p>
            <a:pPr indent="0" marL="0">
              <a:buNone/>
            </a:pPr>
            <a:r>
              <a:rPr lang="en-US" sz="1400" dirty="0">
                <a:solidFill>
                  <a:schemeClr val="accent4"/>
                </a:solidFill>
              </a:rPr>
              <a:t>5 controllers locked the network once each. The default optimiser did not on 10 seeds, which may be luck.</a:t>
            </a:r>
            <a:endParaRPr lang="en-US" sz="1400" dirty="0"/>
          </a:p>
        </p:txBody>
      </p:sp>
      <p:sp>
        <p:nvSpPr>
          <p:cNvPr id="14" name="Tried card"/>
          <p:cNvSpPr/>
          <p:nvPr/>
        </p:nvSpPr>
        <p:spPr>
          <a:xfrm>
            <a:off x="7955280" y="4663440"/>
            <a:ext cx="3685032" cy="1417320"/>
          </a:xfrm>
          <a:prstGeom prst="roundRect">
            <a:avLst>
              <a:gd name="adj" fmla="val 5161"/>
            </a:avLst>
          </a:prstGeom>
          <a:solidFill>
            <a:schemeClr val="bg2"/>
          </a:solidFill>
          <a:ln/>
        </p:spPr>
      </p:sp>
      <p:sp>
        <p:nvSpPr>
          <p:cNvPr id="15" name="Tried text"/>
          <p:cNvSpPr txBox="1"/>
          <p:nvPr/>
        </p:nvSpPr>
        <p:spPr>
          <a:xfrm>
            <a:off x="8138160" y="4663440"/>
            <a:ext cx="3319272" cy="1417320"/>
          </a:xfrm>
          <a:prstGeom prst="rect">
            <a:avLst/>
          </a:prstGeom>
          <a:noFill/>
          <a:ln/>
        </p:spPr>
        <p:txBody>
          <a:bodyPr wrap="square" lIns="0" tIns="0" rIns="0" bIns="0" rtlCol="0" anchor="ctr"/>
          <a:lstStyle/>
          <a:p>
            <a:pPr indent="0" marL="0">
              <a:buNone/>
            </a:pPr>
            <a:r>
              <a:rPr lang="en-US" sz="1600" b="1" dirty="0">
                <a:solidFill>
                  <a:schemeClr val="tx1"/>
                </a:solidFill>
              </a:rPr>
              <a:t>Tried, not adopted</a:t>
            </a:r>
            <a:endParaRPr lang="en-US" sz="1400" dirty="0"/>
          </a:p>
          <a:p>
            <a:pPr indent="0" marL="0">
              <a:buNone/>
            </a:pPr>
            <a:r>
              <a:rPr lang="en-US" sz="1400" dirty="0">
                <a:solidFill>
                  <a:schemeClr val="accent4"/>
                </a:solidFill>
              </a:rPr>
              <a:t>Won on seeds 200–202 (206.6 → 198.2 s), lost on 203–209 (420 vs 267 s).</a:t>
            </a:r>
            <a:endParaRPr lang="en-US" sz="1400" dirty="0"/>
          </a:p>
        </p:txBody>
      </p:sp>
      <p:sp>
        <p:nvSpPr>
          <p:cNvPr id="16" name="Source line"/>
          <p:cNvSpPr txBox="1"/>
          <p:nvPr/>
        </p:nvSpPr>
        <p:spPr>
          <a:xfrm>
            <a:off x="548640" y="6144768"/>
            <a:ext cx="10515600" cy="228600"/>
          </a:xfrm>
          <a:prstGeom prst="rect">
            <a:avLst/>
          </a:prstGeom>
          <a:noFill/>
          <a:ln/>
        </p:spPr>
        <p:txBody>
          <a:bodyPr wrap="square" lIns="0" tIns="0" rIns="0" bIns="0" rtlCol="0" anchor="t"/>
          <a:lstStyle/>
          <a:p>
            <a:pPr indent="0" marL="0">
              <a:buNone/>
            </a:pPr>
            <a:r>
              <a:rPr lang="en-US" sz="1000" dirty="0">
                <a:solidFill>
                  <a:schemeClr val="accent5"/>
                </a:solidFill>
              </a:rPr>
              <a:t>Held-out seeds 200–209, outputs/final_eval/ (am_accident, am_ramp, variants)</a:t>
            </a:r>
            <a:endParaRPr lang="en-US" sz="10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7406640" cy="685800"/>
          </a:xfrm>
          <a:prstGeom prst="rect">
            <a:avLst/>
          </a:prstGeom>
          <a:noFill/>
          <a:ln/>
        </p:spPr>
        <p:txBody>
          <a:bodyPr wrap="square" lIns="0" tIns="0" rIns="0" bIns="0" rtlCol="0" anchor="ctr"/>
          <a:lstStyle/>
          <a:p>
            <a:pPr algn="l" indent="0" marL="0">
              <a:buNone/>
            </a:pPr>
            <a:r>
              <a:rPr lang="en-US" sz="3200" b="1" dirty="0">
                <a:solidFill>
                  <a:schemeClr val="tx1"/>
                </a:solidFill>
              </a:rPr>
              <a:t>Scalability and engineering</a:t>
            </a:r>
            <a:endParaRPr lang="en-US" sz="3200" dirty="0"/>
          </a:p>
        </p:txBody>
      </p:sp>
      <p:sp>
        <p:nvSpPr>
          <p:cNvPr id="3" name="Message"/>
          <p:cNvSpPr txBox="1"/>
          <p:nvPr/>
        </p:nvSpPr>
        <p:spPr>
          <a:xfrm>
            <a:off x="548640" y="1005840"/>
            <a:ext cx="11091672" cy="411480"/>
          </a:xfrm>
          <a:prstGeom prst="rect">
            <a:avLst/>
          </a:prstGeom>
          <a:noFill/>
          <a:ln/>
        </p:spPr>
        <p:txBody>
          <a:bodyPr wrap="square" lIns="0" tIns="0" rIns="0" bIns="0" rtlCol="0" anchor="t"/>
          <a:lstStyle/>
          <a:p>
            <a:pPr indent="0" marL="0">
              <a:buNone/>
            </a:pPr>
            <a:r>
              <a:rPr lang="en-US" sz="1800" dirty="0">
                <a:solidFill>
                  <a:schemeClr val="accent5"/>
                </a:solidFill>
              </a:rPr>
              <a:t>Solve time grows roughly linearly: about 20 ms per intersection</a:t>
            </a:r>
            <a:endParaRPr lang="en-US" sz="1800" dirty="0"/>
          </a:p>
        </p:txBody>
      </p:sp>
      <p:sp>
        <p:nvSpPr>
          <p:cNvPr id="4" name="Rubric tag"/>
          <p:cNvSpPr/>
          <p:nvPr/>
        </p:nvSpPr>
        <p:spPr>
          <a:xfrm>
            <a:off x="8074152" y="457200"/>
            <a:ext cx="3566160" cy="310896"/>
          </a:xfrm>
          <a:prstGeom prst="roundRect">
            <a:avLst>
              <a:gd name="adj" fmla="val 50000"/>
            </a:avLst>
          </a:prstGeom>
          <a:solidFill>
            <a:schemeClr val="bg2"/>
          </a:solidFill>
          <a:ln/>
        </p:spPr>
      </p:sp>
      <p:sp>
        <p:nvSpPr>
          <p:cNvPr id="5" name="Rubric tag text"/>
          <p:cNvSpPr txBox="1"/>
          <p:nvPr/>
        </p:nvSpPr>
        <p:spPr>
          <a:xfrm>
            <a:off x="8074152" y="457200"/>
            <a:ext cx="3566160" cy="310896"/>
          </a:xfrm>
          <a:prstGeom prst="rect">
            <a:avLst/>
          </a:prstGeom>
          <a:noFill/>
          <a:ln/>
        </p:spPr>
        <p:txBody>
          <a:bodyPr wrap="square" lIns="0" tIns="0" rIns="0" bIns="0" rtlCol="0" anchor="ctr"/>
          <a:lstStyle/>
          <a:p>
            <a:pPr algn="ctr" indent="0" marL="0">
              <a:buNone/>
            </a:pPr>
            <a:r>
              <a:rPr lang="en-US" sz="1100" dirty="0">
                <a:solidFill>
                  <a:schemeClr val="accent5"/>
                </a:solidFill>
              </a:rPr>
              <a:t>Rubric: Software eng. – scalability · testing</a:t>
            </a:r>
            <a:endParaRPr lang="en-US" sz="1100" dirty="0"/>
          </a:p>
        </p:txBody>
      </p:sp>
      <p:graphicFrame>
        <p:nvGraphicFramePr>
          <p:cNvPr id="7" name="Chart 0" descr=""/>
          <p:cNvGraphicFramePr/>
          <p:nvPr/>
        </p:nvGraphicFramePr>
        <p:xfrm>
          <a:off x="548640" y="1600200"/>
          <a:ext cx="6035040" cy="3566160"/>
        </p:xfrm>
        <a:graphic xmlns:a="http://schemas.openxmlformats.org/drawingml/2006/main">
          <a:graphicData uri="http://schemas.openxmlformats.org/drawingml/2006/chart">
            <c:chart xmlns:c="http://schemas.openxmlformats.org/drawingml/2006/chart" r:id="rId1"/>
          </a:graphicData>
        </a:graphic>
      </p:graphicFrame>
      <p:sp>
        <p:nvSpPr>
          <p:cNvPr id="8" name="Scalability caveat"/>
          <p:cNvSpPr txBox="1"/>
          <p:nvPr/>
        </p:nvSpPr>
        <p:spPr>
          <a:xfrm>
            <a:off x="548640" y="5303520"/>
            <a:ext cx="6035040" cy="685800"/>
          </a:xfrm>
          <a:prstGeom prst="rect">
            <a:avLst/>
          </a:prstGeom>
          <a:noFill/>
          <a:ln/>
        </p:spPr>
        <p:txBody>
          <a:bodyPr wrap="square" lIns="0" tIns="0" rIns="0" bIns="0" rtlCol="0" anchor="t"/>
          <a:lstStyle/>
          <a:p>
            <a:pPr indent="0" marL="0">
              <a:buNone/>
            </a:pPr>
            <a:r>
              <a:rPr lang="en-US" sz="1300" dirty="0">
                <a:solidFill>
                  <a:schemeClr val="accent4"/>
                </a:solidFill>
              </a:rPr>
              <a:t>Decision interval is 60 s. Larger grids use the persistence forecast; delay there is about equal to the fixed plan (nothing tuned).</a:t>
            </a:r>
            <a:endParaRPr lang="en-US" sz="1300" dirty="0"/>
          </a:p>
        </p:txBody>
      </p:sp>
      <p:sp>
        <p:nvSpPr>
          <p:cNvPr id="9" name="Engineering card 1"/>
          <p:cNvSpPr/>
          <p:nvPr/>
        </p:nvSpPr>
        <p:spPr>
          <a:xfrm>
            <a:off x="6949440" y="1645920"/>
            <a:ext cx="4690872" cy="1371600"/>
          </a:xfrm>
          <a:prstGeom prst="roundRect">
            <a:avLst>
              <a:gd name="adj" fmla="val 5333"/>
            </a:avLst>
          </a:prstGeom>
          <a:solidFill>
            <a:schemeClr val="bg2"/>
          </a:solidFill>
          <a:ln/>
        </p:spPr>
      </p:sp>
      <p:sp>
        <p:nvSpPr>
          <p:cNvPr id="10" name="Engineering text 1"/>
          <p:cNvSpPr txBox="1"/>
          <p:nvPr/>
        </p:nvSpPr>
        <p:spPr>
          <a:xfrm>
            <a:off x="7178040" y="1645920"/>
            <a:ext cx="4233672" cy="1371600"/>
          </a:xfrm>
          <a:prstGeom prst="rect">
            <a:avLst/>
          </a:prstGeom>
          <a:noFill/>
          <a:ln/>
        </p:spPr>
        <p:txBody>
          <a:bodyPr wrap="square" lIns="0" tIns="0" rIns="0" bIns="0" rtlCol="0" anchor="ctr"/>
          <a:lstStyle/>
          <a:p>
            <a:pPr indent="0" marL="0">
              <a:buNone/>
            </a:pPr>
            <a:r>
              <a:rPr lang="en-US" sz="2000" b="1" dirty="0">
                <a:solidFill>
                  <a:schemeClr val="tx1"/>
                </a:solidFill>
                <a:latin typeface="+mj-lt" pitchFamily="34" charset="0"/>
                <a:ea typeface="+mj-lt" pitchFamily="34" charset="-122"/>
                <a:cs typeface="+mj-lt" pitchFamily="34" charset="-120"/>
              </a:rPr>
              <a:t>26 tests</a:t>
            </a:r>
            <a:endParaRPr lang="en-US" sz="1400" dirty="0"/>
          </a:p>
          <a:p>
            <a:pPr indent="0" marL="0">
              <a:buNone/>
            </a:pPr>
            <a:r>
              <a:rPr lang="en-US" sz="1400" dirty="0">
                <a:solidFill>
                  <a:schemeClr val="accent4"/>
                </a:solidFill>
              </a:rPr>
              <a:t>Conservation, common random numbers, no future data in features, optimiser constraints</a:t>
            </a:r>
            <a:endParaRPr lang="en-US" sz="1400" dirty="0"/>
          </a:p>
        </p:txBody>
      </p:sp>
      <p:sp>
        <p:nvSpPr>
          <p:cNvPr id="11" name="Engineering card 2"/>
          <p:cNvSpPr/>
          <p:nvPr/>
        </p:nvSpPr>
        <p:spPr>
          <a:xfrm>
            <a:off x="6949440" y="3154680"/>
            <a:ext cx="4690872" cy="1371600"/>
          </a:xfrm>
          <a:prstGeom prst="roundRect">
            <a:avLst>
              <a:gd name="adj" fmla="val 5333"/>
            </a:avLst>
          </a:prstGeom>
          <a:solidFill>
            <a:schemeClr val="bg2"/>
          </a:solidFill>
          <a:ln/>
        </p:spPr>
      </p:sp>
      <p:sp>
        <p:nvSpPr>
          <p:cNvPr id="12" name="Engineering text 2"/>
          <p:cNvSpPr txBox="1"/>
          <p:nvPr/>
        </p:nvSpPr>
        <p:spPr>
          <a:xfrm>
            <a:off x="7178040" y="3154680"/>
            <a:ext cx="4233672" cy="1371600"/>
          </a:xfrm>
          <a:prstGeom prst="rect">
            <a:avLst/>
          </a:prstGeom>
          <a:noFill/>
          <a:ln/>
        </p:spPr>
        <p:txBody>
          <a:bodyPr wrap="square" lIns="0" tIns="0" rIns="0" bIns="0" rtlCol="0" anchor="ctr"/>
          <a:lstStyle/>
          <a:p>
            <a:pPr indent="0" marL="0">
              <a:buNone/>
            </a:pPr>
            <a:r>
              <a:rPr lang="en-US" sz="2000" b="1" dirty="0">
                <a:solidFill>
                  <a:schemeClr val="tx1"/>
                </a:solidFill>
                <a:latin typeface="+mj-lt" pitchFamily="34" charset="0"/>
                <a:ea typeface="+mj-lt" pitchFamily="34" charset="-122"/>
                <a:cs typeface="+mj-lt" pitchFamily="34" charset="-120"/>
              </a:rPr>
              <a:t>Reproducible</a:t>
            </a:r>
            <a:endParaRPr lang="en-US" sz="1400" dirty="0"/>
          </a:p>
          <a:p>
            <a:pPr indent="0" marL="0">
              <a:buNone/>
            </a:pPr>
            <a:r>
              <a:rPr lang="en-US" sz="1400" dirty="0">
                <a:solidFill>
                  <a:schemeClr val="accent4"/>
                </a:solidFill>
              </a:rPr>
              <a:t>One entry point, main.py. Seeds: tuning 100–104, evaluation 200+, demo 300</a:t>
            </a:r>
            <a:endParaRPr lang="en-US" sz="1400" dirty="0"/>
          </a:p>
        </p:txBody>
      </p:sp>
      <p:sp>
        <p:nvSpPr>
          <p:cNvPr id="13" name="Engineering card 3"/>
          <p:cNvSpPr/>
          <p:nvPr/>
        </p:nvSpPr>
        <p:spPr>
          <a:xfrm>
            <a:off x="6949440" y="4663440"/>
            <a:ext cx="4690872" cy="1371600"/>
          </a:xfrm>
          <a:prstGeom prst="roundRect">
            <a:avLst>
              <a:gd name="adj" fmla="val 5333"/>
            </a:avLst>
          </a:prstGeom>
          <a:solidFill>
            <a:schemeClr val="bg2"/>
          </a:solidFill>
          <a:ln/>
        </p:spPr>
      </p:sp>
      <p:sp>
        <p:nvSpPr>
          <p:cNvPr id="14" name="Engineering text 3"/>
          <p:cNvSpPr txBox="1"/>
          <p:nvPr/>
        </p:nvSpPr>
        <p:spPr>
          <a:xfrm>
            <a:off x="7178040" y="4663440"/>
            <a:ext cx="4233672" cy="1371600"/>
          </a:xfrm>
          <a:prstGeom prst="rect">
            <a:avLst/>
          </a:prstGeom>
          <a:noFill/>
          <a:ln/>
        </p:spPr>
        <p:txBody>
          <a:bodyPr wrap="square" lIns="0" tIns="0" rIns="0" bIns="0" rtlCol="0" anchor="ctr"/>
          <a:lstStyle/>
          <a:p>
            <a:pPr indent="0" marL="0">
              <a:buNone/>
            </a:pPr>
            <a:r>
              <a:rPr lang="en-US" sz="2000" b="1" dirty="0">
                <a:solidFill>
                  <a:schemeClr val="tx1"/>
                </a:solidFill>
                <a:latin typeface="+mj-lt" pitchFamily="34" charset="0"/>
                <a:ea typeface="+mj-lt" pitchFamily="34" charset="-122"/>
                <a:cs typeface="+mj-lt" pitchFamily="34" charset="-120"/>
              </a:rPr>
              <a:t>Structure</a:t>
            </a:r>
            <a:endParaRPr lang="en-US" sz="1400" dirty="0"/>
          </a:p>
          <a:p>
            <a:pPr indent="0" marL="0">
              <a:buNone/>
            </a:pPr>
            <a:r>
              <a:rPr lang="en-US" sz="1400" dirty="0">
                <a:solidFill>
                  <a:schemeClr val="accent4"/>
                </a:solidFill>
              </a:rPr>
              <a:t>src/traffic: simulator, controllers, forecasting, experiments, viz</a:t>
            </a:r>
            <a:endParaRPr lang="en-US" sz="1400" dirty="0"/>
          </a:p>
        </p:txBody>
      </p:sp>
      <p:sp>
        <p:nvSpPr>
          <p:cNvPr id="15" name="Source line"/>
          <p:cNvSpPr txBox="1"/>
          <p:nvPr/>
        </p:nvSpPr>
        <p:spPr>
          <a:xfrm>
            <a:off x="548640" y="6144768"/>
            <a:ext cx="10515600" cy="228600"/>
          </a:xfrm>
          <a:prstGeom prst="rect">
            <a:avLst/>
          </a:prstGeom>
          <a:noFill/>
          <a:ln/>
        </p:spPr>
        <p:txBody>
          <a:bodyPr wrap="square" lIns="0" tIns="0" rIns="0" bIns="0" rtlCol="0" anchor="t"/>
          <a:lstStyle/>
          <a:p>
            <a:pPr indent="0" marL="0">
              <a:buNone/>
            </a:pPr>
            <a:r>
              <a:rPr lang="en-US" sz="1000" dirty="0">
                <a:solidFill>
                  <a:schemeClr val="accent5"/>
                </a:solidFill>
              </a:rPr>
              <a:t>scripts/scalability.py, outputs/scalability.csv (20 simulated minutes)</a:t>
            </a:r>
            <a:endParaRPr lang="en-US" sz="10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7406640" cy="685800"/>
          </a:xfrm>
          <a:prstGeom prst="rect">
            <a:avLst/>
          </a:prstGeom>
          <a:noFill/>
          <a:ln/>
        </p:spPr>
        <p:txBody>
          <a:bodyPr wrap="square" lIns="0" tIns="0" rIns="0" bIns="0" rtlCol="0" anchor="ctr"/>
          <a:lstStyle/>
          <a:p>
            <a:pPr algn="l" indent="0" marL="0">
              <a:buNone/>
            </a:pPr>
            <a:r>
              <a:rPr lang="en-US" sz="3200" b="1" dirty="0">
                <a:solidFill>
                  <a:schemeClr val="tx1"/>
                </a:solidFill>
              </a:rPr>
              <a:t>Insights and limitations</a:t>
            </a:r>
            <a:endParaRPr lang="en-US" sz="3200" dirty="0"/>
          </a:p>
        </p:txBody>
      </p:sp>
      <p:sp>
        <p:nvSpPr>
          <p:cNvPr id="3" name="Message"/>
          <p:cNvSpPr txBox="1"/>
          <p:nvPr/>
        </p:nvSpPr>
        <p:spPr>
          <a:xfrm>
            <a:off x="548640" y="1005840"/>
            <a:ext cx="11091672" cy="411480"/>
          </a:xfrm>
          <a:prstGeom prst="rect">
            <a:avLst/>
          </a:prstGeom>
          <a:noFill/>
          <a:ln/>
        </p:spPr>
        <p:txBody>
          <a:bodyPr wrap="square" lIns="0" tIns="0" rIns="0" bIns="0" rtlCol="0" anchor="t"/>
          <a:lstStyle/>
          <a:p>
            <a:pPr indent="0" marL="0">
              <a:buNone/>
            </a:pPr>
            <a:r>
              <a:rPr lang="en-US" sz="1800" dirty="0">
                <a:solidFill>
                  <a:schemeClr val="accent5"/>
                </a:solidFill>
              </a:rPr>
              <a:t>Each finding comes with a decision or a next step</a:t>
            </a:r>
            <a:endParaRPr lang="en-US" sz="1800" dirty="0"/>
          </a:p>
        </p:txBody>
      </p:sp>
      <p:sp>
        <p:nvSpPr>
          <p:cNvPr id="4" name="Rubric tag"/>
          <p:cNvSpPr/>
          <p:nvPr/>
        </p:nvSpPr>
        <p:spPr>
          <a:xfrm>
            <a:off x="8074152" y="457200"/>
            <a:ext cx="3566160" cy="310896"/>
          </a:xfrm>
          <a:prstGeom prst="roundRect">
            <a:avLst>
              <a:gd name="adj" fmla="val 50000"/>
            </a:avLst>
          </a:prstGeom>
          <a:solidFill>
            <a:schemeClr val="bg2"/>
          </a:solidFill>
          <a:ln/>
        </p:spPr>
      </p:sp>
      <p:sp>
        <p:nvSpPr>
          <p:cNvPr id="5" name="Rubric tag text"/>
          <p:cNvSpPr txBox="1"/>
          <p:nvPr/>
        </p:nvSpPr>
        <p:spPr>
          <a:xfrm>
            <a:off x="8074152" y="457200"/>
            <a:ext cx="3566160" cy="310896"/>
          </a:xfrm>
          <a:prstGeom prst="rect">
            <a:avLst/>
          </a:prstGeom>
          <a:noFill/>
          <a:ln/>
        </p:spPr>
        <p:txBody>
          <a:bodyPr wrap="square" lIns="0" tIns="0" rIns="0" bIns="0" rtlCol="0" anchor="ctr"/>
          <a:lstStyle/>
          <a:p>
            <a:pPr algn="ctr" indent="0" marL="0">
              <a:buNone/>
            </a:pPr>
            <a:r>
              <a:rPr lang="en-US" sz="1100" dirty="0">
                <a:solidFill>
                  <a:schemeClr val="accent5"/>
                </a:solidFill>
              </a:rPr>
              <a:t>Rubric: Presentation – clear explanation</a:t>
            </a:r>
            <a:endParaRPr lang="en-US" sz="1100" dirty="0"/>
          </a:p>
        </p:txBody>
      </p:sp>
      <p:graphicFrame>
        <p:nvGraphicFramePr>
          <p:cNvPr id="15" name="Findings table"/>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3931920"/>
                <a:gridCol w="7159752"/>
              </a:tblGrid>
              <a:tr h="384048">
                <a:tc>
                  <a:txBody>
                    <a:bodyPr/>
                    <a:lstStyle/>
                    <a:p>
                      <a:pPr algn="l" indent="0" marL="0">
                        <a:buNone/>
                      </a:pPr>
                      <a:r>
                        <a:rPr lang="en-US" sz="1400" b="1" dirty="0">
                          <a:solidFill>
                            <a:schemeClr val="bg1"/>
                          </a:solidFill>
                        </a:rPr>
                        <a:t>Finding</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Decision or next step</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tx2"/>
                    </a:solidFill>
                  </a:tcPr>
                </a:tc>
              </a:tr>
              <a:tr h="768096">
                <a:tc>
                  <a:txBody>
                    <a:bodyPr/>
                    <a:lstStyle/>
                    <a:p>
                      <a:pPr indent="0" marL="0">
                        <a:buNone/>
                      </a:pPr>
                      <a:r>
                        <a:rPr lang="en-US" sz="1400" b="1" dirty="0">
                          <a:solidFill>
                            <a:schemeClr val="tx1"/>
                          </a:solidFill>
                        </a:rPr>
                        <a:t>The forecast adds little to control</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indent="0" marL="0">
                        <a:buNone/>
                      </a:pPr>
                      <a:r>
                        <a:rPr lang="en-US" sz="1400" dirty="0">
                          <a:solidFill>
                            <a:schemeClr val="tx1"/>
                          </a:solidFill>
                        </a:rPr>
                        <a:t>Keep the live-count model, report the ablation. Next: robust optimisation over forecast uncertainty</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r>
              <a:tr h="768096">
                <a:tc>
                  <a:txBody>
                    <a:bodyPr/>
                    <a:lstStyle/>
                    <a:p>
                      <a:pPr indent="0" marL="0">
                        <a:buNone/>
                      </a:pPr>
                      <a:r>
                        <a:rPr lang="en-US" sz="1400" b="1" dirty="0">
                          <a:solidFill>
                            <a:schemeClr val="tx1"/>
                          </a:solidFill>
                        </a:rPr>
                        <a:t>Tail delay worse in evening and accident</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indent="0" marL="0">
                        <a:buNone/>
                      </a:pPr>
                      <a:r>
                        <a:rPr lang="en-US" sz="1400" dirty="0">
                          <a:solidFill>
                            <a:schemeClr val="tx1"/>
                          </a:solidFill>
                        </a:rPr>
                        <a:t>p95 reported beside the mean (272 → 353 s, 924 → 1108 s); the quadratic queue weight is the lever</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r>
              <a:tr h="768096">
                <a:tc>
                  <a:txBody>
                    <a:bodyPr/>
                    <a:lstStyle/>
                    <a:p>
                      <a:pPr indent="0" marL="0">
                        <a:buNone/>
                      </a:pPr>
                      <a:r>
                        <a:rPr lang="en-US" sz="1400" b="1" dirty="0">
                          <a:solidFill>
                            <a:schemeClr val="tx1"/>
                          </a:solidFill>
                        </a:rPr>
                        <a:t>3 seeds is thin</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indent="0" marL="0">
                        <a:buNone/>
                      </a:pPr>
                      <a:r>
                        <a:rPr lang="en-US" sz="1400" dirty="0">
                          <a:solidFill>
                            <a:schemeClr val="tx1"/>
                          </a:solidFill>
                        </a:rPr>
                        <a:t>Used 10 seeds where it mattered (accident, typical); intervals reported. Next: more seeds everywhere</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r>
              <a:tr h="768096">
                <a:tc>
                  <a:txBody>
                    <a:bodyPr/>
                    <a:lstStyle/>
                    <a:p>
                      <a:pPr indent="0" marL="0">
                        <a:buNone/>
                      </a:pPr>
                      <a:r>
                        <a:rPr lang="en-US" sz="1400" b="1" dirty="0">
                          <a:solidFill>
                            <a:schemeClr val="tx1"/>
                          </a:solidFill>
                        </a:rPr>
                        <a:t>Synthetic data only</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indent="0" marL="0">
                        <a:buNone/>
                      </a:pPr>
                      <a:r>
                        <a:rPr lang="en-US" sz="1400" dirty="0">
                          <a:solidFill>
                            <a:schemeClr val="tx1"/>
                          </a:solidFill>
                        </a:rPr>
                        <a:t>Synthetic storms, assumed rain and accident rates; stated, not hidden. Next: calibrate to real counts</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r>
              <a:tr h="768096">
                <a:tc>
                  <a:txBody>
                    <a:bodyPr/>
                    <a:lstStyle/>
                    <a:p>
                      <a:pPr indent="0" marL="0">
                        <a:buNone/>
                      </a:pPr>
                      <a:r>
                        <a:rPr lang="en-US" sz="1400" b="1" dirty="0">
                          <a:solidFill>
                            <a:schemeClr val="tx1"/>
                          </a:solidFill>
                        </a:rPr>
                        <a:t>No rerouting</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indent="0" marL="0">
                        <a:buNone/>
                      </a:pPr>
                      <a:r>
                        <a:rPr lang="en-US" sz="1400" dirty="0">
                          <a:solidFill>
                            <a:schemeClr val="tx1"/>
                          </a:solidFill>
                        </a:rPr>
                        <a:t>Accident treated as a closure: damage limitation. Next: planned closures with diversions</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7406640" cy="685800"/>
          </a:xfrm>
          <a:prstGeom prst="rect">
            <a:avLst/>
          </a:prstGeom>
          <a:noFill/>
          <a:ln/>
        </p:spPr>
        <p:txBody>
          <a:bodyPr wrap="square" lIns="0" tIns="0" rIns="0" bIns="0" rtlCol="0" anchor="ctr"/>
          <a:lstStyle/>
          <a:p>
            <a:pPr algn="l" indent="0" marL="0">
              <a:buNone/>
            </a:pPr>
            <a:r>
              <a:rPr lang="en-US" sz="3200" b="1" dirty="0">
                <a:solidFill>
                  <a:schemeClr val="tx1"/>
                </a:solidFill>
              </a:rPr>
              <a:t>Next steps</a:t>
            </a:r>
            <a:endParaRPr lang="en-US" sz="3200" dirty="0"/>
          </a:p>
        </p:txBody>
      </p:sp>
      <p:sp>
        <p:nvSpPr>
          <p:cNvPr id="3" name="Message"/>
          <p:cNvSpPr txBox="1"/>
          <p:nvPr/>
        </p:nvSpPr>
        <p:spPr>
          <a:xfrm>
            <a:off x="548640" y="1005840"/>
            <a:ext cx="11091672" cy="411480"/>
          </a:xfrm>
          <a:prstGeom prst="rect">
            <a:avLst/>
          </a:prstGeom>
          <a:noFill/>
          <a:ln/>
        </p:spPr>
        <p:txBody>
          <a:bodyPr wrap="square" lIns="0" tIns="0" rIns="0" bIns="0" rtlCol="0" anchor="t"/>
          <a:lstStyle/>
          <a:p>
            <a:pPr indent="0" marL="0">
              <a:buNone/>
            </a:pPr>
            <a:r>
              <a:rPr lang="en-US" sz="1800" dirty="0">
                <a:solidFill>
                  <a:schemeClr val="accent5"/>
                </a:solidFill>
              </a:rPr>
              <a:t>Five extensions, each tied to a finding</a:t>
            </a:r>
            <a:endParaRPr lang="en-US" sz="1800" dirty="0"/>
          </a:p>
        </p:txBody>
      </p:sp>
      <p:sp>
        <p:nvSpPr>
          <p:cNvPr id="4" name="Rubric tag"/>
          <p:cNvSpPr/>
          <p:nvPr/>
        </p:nvSpPr>
        <p:spPr>
          <a:xfrm>
            <a:off x="8074152" y="457200"/>
            <a:ext cx="3566160" cy="310896"/>
          </a:xfrm>
          <a:prstGeom prst="roundRect">
            <a:avLst>
              <a:gd name="adj" fmla="val 50000"/>
            </a:avLst>
          </a:prstGeom>
          <a:solidFill>
            <a:schemeClr val="bg2"/>
          </a:solidFill>
          <a:ln/>
        </p:spPr>
      </p:sp>
      <p:sp>
        <p:nvSpPr>
          <p:cNvPr id="5" name="Rubric tag text"/>
          <p:cNvSpPr txBox="1"/>
          <p:nvPr/>
        </p:nvSpPr>
        <p:spPr>
          <a:xfrm>
            <a:off x="8074152" y="457200"/>
            <a:ext cx="3566160" cy="310896"/>
          </a:xfrm>
          <a:prstGeom prst="rect">
            <a:avLst/>
          </a:prstGeom>
          <a:noFill/>
          <a:ln/>
        </p:spPr>
        <p:txBody>
          <a:bodyPr wrap="square" lIns="0" tIns="0" rIns="0" bIns="0" rtlCol="0" anchor="ctr"/>
          <a:lstStyle/>
          <a:p>
            <a:pPr algn="ctr" indent="0" marL="0">
              <a:buNone/>
            </a:pPr>
            <a:r>
              <a:rPr lang="en-US" sz="1100" dirty="0">
                <a:solidFill>
                  <a:schemeClr val="accent5"/>
                </a:solidFill>
              </a:rPr>
              <a:t>Rubric: Presentation – insights</a:t>
            </a:r>
            <a:endParaRPr lang="en-US" sz="1100" dirty="0"/>
          </a:p>
        </p:txBody>
      </p:sp>
      <p:sp>
        <p:nvSpPr>
          <p:cNvPr id="7" name="Next step card 1"/>
          <p:cNvSpPr/>
          <p:nvPr/>
        </p:nvSpPr>
        <p:spPr>
          <a:xfrm>
            <a:off x="548640" y="1737360"/>
            <a:ext cx="2103120" cy="4023360"/>
          </a:xfrm>
          <a:prstGeom prst="roundRect">
            <a:avLst>
              <a:gd name="adj" fmla="val 3478"/>
            </a:avLst>
          </a:prstGeom>
          <a:solidFill>
            <a:schemeClr val="bg2"/>
          </a:solidFill>
          <a:ln/>
        </p:spPr>
      </p:sp>
      <p:sp>
        <p:nvSpPr>
          <p:cNvPr id="8" name="Next step badge 1"/>
          <p:cNvSpPr/>
          <p:nvPr/>
        </p:nvSpPr>
        <p:spPr>
          <a:xfrm>
            <a:off x="777240" y="2011680"/>
            <a:ext cx="640080" cy="640080"/>
          </a:xfrm>
          <a:prstGeom prst="ellipse">
            <a:avLst/>
          </a:prstGeom>
          <a:solidFill>
            <a:schemeClr val="accent1"/>
          </a:solidFill>
          <a:ln/>
        </p:spPr>
      </p:sp>
      <p:sp>
        <p:nvSpPr>
          <p:cNvPr id="9" name="Next step number 1"/>
          <p:cNvSpPr txBox="1"/>
          <p:nvPr/>
        </p:nvSpPr>
        <p:spPr>
          <a:xfrm>
            <a:off x="777240" y="201168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1</a:t>
            </a:r>
            <a:endParaRPr lang="en-US" sz="2200" dirty="0"/>
          </a:p>
        </p:txBody>
      </p:sp>
      <p:sp>
        <p:nvSpPr>
          <p:cNvPr id="10" name="Next step title 1"/>
          <p:cNvSpPr txBox="1"/>
          <p:nvPr/>
        </p:nvSpPr>
        <p:spPr>
          <a:xfrm>
            <a:off x="777240" y="2834640"/>
            <a:ext cx="1645920" cy="822960"/>
          </a:xfrm>
          <a:prstGeom prst="rect">
            <a:avLst/>
          </a:prstGeom>
          <a:noFill/>
          <a:ln/>
        </p:spPr>
        <p:txBody>
          <a:bodyPr wrap="square" lIns="0" tIns="0" rIns="0" bIns="0" rtlCol="0" anchor="t"/>
          <a:lstStyle/>
          <a:p>
            <a:pPr indent="0" marL="0">
              <a:buNone/>
            </a:pPr>
            <a:r>
              <a:rPr lang="en-US" sz="1800" b="1" dirty="0">
                <a:solidFill>
                  <a:schemeClr val="tx1"/>
                </a:solidFill>
                <a:latin typeface="+mj-lt" pitchFamily="34" charset="0"/>
                <a:ea typeface="+mj-lt" pitchFamily="34" charset="-122"/>
                <a:cs typeface="+mj-lt" pitchFamily="34" charset="-120"/>
              </a:rPr>
              <a:t>Robust optimisation</a:t>
            </a:r>
            <a:endParaRPr lang="en-US" sz="1800" dirty="0"/>
          </a:p>
        </p:txBody>
      </p:sp>
      <p:sp>
        <p:nvSpPr>
          <p:cNvPr id="11" name="Next step text 1"/>
          <p:cNvSpPr txBox="1"/>
          <p:nvPr/>
        </p:nvSpPr>
        <p:spPr>
          <a:xfrm>
            <a:off x="777240" y="3749040"/>
            <a:ext cx="1645920" cy="1828800"/>
          </a:xfrm>
          <a:prstGeom prst="rect">
            <a:avLst/>
          </a:prstGeom>
          <a:noFill/>
          <a:ln/>
        </p:spPr>
        <p:txBody>
          <a:bodyPr wrap="square" lIns="0" tIns="0" rIns="0" bIns="0" rtlCol="0" anchor="t"/>
          <a:lstStyle/>
          <a:p>
            <a:pPr indent="0" marL="0">
              <a:buNone/>
            </a:pPr>
            <a:r>
              <a:rPr lang="en-US" sz="1400" dirty="0">
                <a:solidFill>
                  <a:schemeClr val="accent4"/>
                </a:solidFill>
              </a:rPr>
              <a:t>Plan over forecast uncertainty: the obvious way to make the forecast useful to control</a:t>
            </a:r>
            <a:endParaRPr lang="en-US" sz="1400" dirty="0"/>
          </a:p>
        </p:txBody>
      </p:sp>
      <p:sp>
        <p:nvSpPr>
          <p:cNvPr id="12" name="Next step card 2"/>
          <p:cNvSpPr/>
          <p:nvPr/>
        </p:nvSpPr>
        <p:spPr>
          <a:xfrm>
            <a:off x="2795778" y="1737360"/>
            <a:ext cx="2103120" cy="4023360"/>
          </a:xfrm>
          <a:prstGeom prst="roundRect">
            <a:avLst>
              <a:gd name="adj" fmla="val 3478"/>
            </a:avLst>
          </a:prstGeom>
          <a:solidFill>
            <a:schemeClr val="bg2"/>
          </a:solidFill>
          <a:ln/>
        </p:spPr>
      </p:sp>
      <p:sp>
        <p:nvSpPr>
          <p:cNvPr id="13" name="Next step badge 2"/>
          <p:cNvSpPr/>
          <p:nvPr/>
        </p:nvSpPr>
        <p:spPr>
          <a:xfrm>
            <a:off x="3024378" y="2011680"/>
            <a:ext cx="640080" cy="640080"/>
          </a:xfrm>
          <a:prstGeom prst="ellipse">
            <a:avLst/>
          </a:prstGeom>
          <a:solidFill>
            <a:schemeClr val="accent1"/>
          </a:solidFill>
          <a:ln/>
        </p:spPr>
      </p:sp>
      <p:sp>
        <p:nvSpPr>
          <p:cNvPr id="14" name="Next step number 2"/>
          <p:cNvSpPr txBox="1"/>
          <p:nvPr/>
        </p:nvSpPr>
        <p:spPr>
          <a:xfrm>
            <a:off x="3024378" y="201168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2</a:t>
            </a:r>
            <a:endParaRPr lang="en-US" sz="2200" dirty="0"/>
          </a:p>
        </p:txBody>
      </p:sp>
      <p:sp>
        <p:nvSpPr>
          <p:cNvPr id="15" name="Next step title 2"/>
          <p:cNvSpPr txBox="1"/>
          <p:nvPr/>
        </p:nvSpPr>
        <p:spPr>
          <a:xfrm>
            <a:off x="3024378" y="2834640"/>
            <a:ext cx="1645920" cy="822960"/>
          </a:xfrm>
          <a:prstGeom prst="rect">
            <a:avLst/>
          </a:prstGeom>
          <a:noFill/>
          <a:ln/>
        </p:spPr>
        <p:txBody>
          <a:bodyPr wrap="square" lIns="0" tIns="0" rIns="0" bIns="0" rtlCol="0" anchor="t"/>
          <a:lstStyle/>
          <a:p>
            <a:pPr indent="0" marL="0">
              <a:buNone/>
            </a:pPr>
            <a:r>
              <a:rPr lang="en-US" sz="1800" b="1" dirty="0">
                <a:solidFill>
                  <a:schemeClr val="tx1"/>
                </a:solidFill>
                <a:latin typeface="+mj-lt" pitchFamily="34" charset="0"/>
                <a:ea typeface="+mj-lt" pitchFamily="34" charset="-122"/>
                <a:cs typeface="+mj-lt" pitchFamily="34" charset="-120"/>
              </a:rPr>
              <a:t>Coordination offsets</a:t>
            </a:r>
            <a:endParaRPr lang="en-US" sz="1800" dirty="0"/>
          </a:p>
        </p:txBody>
      </p:sp>
      <p:sp>
        <p:nvSpPr>
          <p:cNvPr id="16" name="Next step text 2"/>
          <p:cNvSpPr txBox="1"/>
          <p:nvPr/>
        </p:nvSpPr>
        <p:spPr>
          <a:xfrm>
            <a:off x="3024378" y="3749040"/>
            <a:ext cx="1645920" cy="1828800"/>
          </a:xfrm>
          <a:prstGeom prst="rect">
            <a:avLst/>
          </a:prstGeom>
          <a:noFill/>
          <a:ln/>
        </p:spPr>
        <p:txBody>
          <a:bodyPr wrap="square" lIns="0" tIns="0" rIns="0" bIns="0" rtlCol="0" anchor="t"/>
          <a:lstStyle/>
          <a:p>
            <a:pPr indent="0" marL="0">
              <a:buNone/>
            </a:pPr>
            <a:r>
              <a:rPr lang="en-US" sz="1400" dirty="0">
                <a:solidFill>
                  <a:schemeClr val="accent4"/>
                </a:solidFill>
              </a:rPr>
              <a:t>Neighbouring intersections are not yet coordinated</a:t>
            </a:r>
            <a:endParaRPr lang="en-US" sz="1400" dirty="0"/>
          </a:p>
        </p:txBody>
      </p:sp>
      <p:sp>
        <p:nvSpPr>
          <p:cNvPr id="17" name="Next step card 3"/>
          <p:cNvSpPr/>
          <p:nvPr/>
        </p:nvSpPr>
        <p:spPr>
          <a:xfrm>
            <a:off x="5042916" y="1737360"/>
            <a:ext cx="2103120" cy="4023360"/>
          </a:xfrm>
          <a:prstGeom prst="roundRect">
            <a:avLst>
              <a:gd name="adj" fmla="val 3478"/>
            </a:avLst>
          </a:prstGeom>
          <a:solidFill>
            <a:schemeClr val="bg2"/>
          </a:solidFill>
          <a:ln/>
        </p:spPr>
      </p:sp>
      <p:sp>
        <p:nvSpPr>
          <p:cNvPr id="18" name="Next step badge 3"/>
          <p:cNvSpPr/>
          <p:nvPr/>
        </p:nvSpPr>
        <p:spPr>
          <a:xfrm>
            <a:off x="5271516" y="2011680"/>
            <a:ext cx="640080" cy="640080"/>
          </a:xfrm>
          <a:prstGeom prst="ellipse">
            <a:avLst/>
          </a:prstGeom>
          <a:solidFill>
            <a:schemeClr val="accent1"/>
          </a:solidFill>
          <a:ln/>
        </p:spPr>
      </p:sp>
      <p:sp>
        <p:nvSpPr>
          <p:cNvPr id="19" name="Next step number 3"/>
          <p:cNvSpPr txBox="1"/>
          <p:nvPr/>
        </p:nvSpPr>
        <p:spPr>
          <a:xfrm>
            <a:off x="5271516" y="201168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3</a:t>
            </a:r>
            <a:endParaRPr lang="en-US" sz="2200" dirty="0"/>
          </a:p>
        </p:txBody>
      </p:sp>
      <p:sp>
        <p:nvSpPr>
          <p:cNvPr id="20" name="Next step title 3"/>
          <p:cNvSpPr txBox="1"/>
          <p:nvPr/>
        </p:nvSpPr>
        <p:spPr>
          <a:xfrm>
            <a:off x="5271516" y="2834640"/>
            <a:ext cx="1645920" cy="822960"/>
          </a:xfrm>
          <a:prstGeom prst="rect">
            <a:avLst/>
          </a:prstGeom>
          <a:noFill/>
          <a:ln/>
        </p:spPr>
        <p:txBody>
          <a:bodyPr wrap="square" lIns="0" tIns="0" rIns="0" bIns="0" rtlCol="0" anchor="t"/>
          <a:lstStyle/>
          <a:p>
            <a:pPr indent="0" marL="0">
              <a:buNone/>
            </a:pPr>
            <a:r>
              <a:rPr lang="en-US" sz="1800" b="1" dirty="0">
                <a:solidFill>
                  <a:schemeClr val="tx1"/>
                </a:solidFill>
                <a:latin typeface="+mj-lt" pitchFamily="34" charset="0"/>
                <a:ea typeface="+mj-lt" pitchFamily="34" charset="-122"/>
                <a:cs typeface="+mj-lt" pitchFamily="34" charset="-120"/>
              </a:rPr>
              <a:t>Incident detection</a:t>
            </a:r>
            <a:endParaRPr lang="en-US" sz="1800" dirty="0"/>
          </a:p>
        </p:txBody>
      </p:sp>
      <p:sp>
        <p:nvSpPr>
          <p:cNvPr id="21" name="Next step text 3"/>
          <p:cNvSpPr txBox="1"/>
          <p:nvPr/>
        </p:nvSpPr>
        <p:spPr>
          <a:xfrm>
            <a:off x="5271516" y="3749040"/>
            <a:ext cx="1645920" cy="1828800"/>
          </a:xfrm>
          <a:prstGeom prst="rect">
            <a:avLst/>
          </a:prstGeom>
          <a:noFill/>
          <a:ln/>
        </p:spPr>
        <p:txBody>
          <a:bodyPr wrap="square" lIns="0" tIns="0" rIns="0" bIns="0" rtlCol="0" anchor="t"/>
          <a:lstStyle/>
          <a:p>
            <a:pPr indent="0" marL="0">
              <a:buNone/>
            </a:pPr>
            <a:r>
              <a:rPr lang="en-US" sz="1400" dirty="0">
                <a:solidFill>
                  <a:schemeClr val="accent4"/>
                </a:solidFill>
              </a:rPr>
              <a:t>Accident handling is damage limitation only; four attempts were not adopted</a:t>
            </a:r>
            <a:endParaRPr lang="en-US" sz="1400" dirty="0"/>
          </a:p>
        </p:txBody>
      </p:sp>
      <p:sp>
        <p:nvSpPr>
          <p:cNvPr id="22" name="Next step card 4"/>
          <p:cNvSpPr/>
          <p:nvPr/>
        </p:nvSpPr>
        <p:spPr>
          <a:xfrm>
            <a:off x="7290054" y="1737360"/>
            <a:ext cx="2103120" cy="4023360"/>
          </a:xfrm>
          <a:prstGeom prst="roundRect">
            <a:avLst>
              <a:gd name="adj" fmla="val 3478"/>
            </a:avLst>
          </a:prstGeom>
          <a:solidFill>
            <a:schemeClr val="bg2"/>
          </a:solidFill>
          <a:ln/>
        </p:spPr>
      </p:sp>
      <p:sp>
        <p:nvSpPr>
          <p:cNvPr id="23" name="Next step badge 4"/>
          <p:cNvSpPr/>
          <p:nvPr/>
        </p:nvSpPr>
        <p:spPr>
          <a:xfrm>
            <a:off x="7518654" y="2011680"/>
            <a:ext cx="640080" cy="640080"/>
          </a:xfrm>
          <a:prstGeom prst="ellipse">
            <a:avLst/>
          </a:prstGeom>
          <a:solidFill>
            <a:schemeClr val="accent1"/>
          </a:solidFill>
          <a:ln/>
        </p:spPr>
      </p:sp>
      <p:sp>
        <p:nvSpPr>
          <p:cNvPr id="24" name="Next step number 4"/>
          <p:cNvSpPr txBox="1"/>
          <p:nvPr/>
        </p:nvSpPr>
        <p:spPr>
          <a:xfrm>
            <a:off x="7518654" y="201168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4</a:t>
            </a:r>
            <a:endParaRPr lang="en-US" sz="2200" dirty="0"/>
          </a:p>
        </p:txBody>
      </p:sp>
      <p:sp>
        <p:nvSpPr>
          <p:cNvPr id="25" name="Next step title 4"/>
          <p:cNvSpPr txBox="1"/>
          <p:nvPr/>
        </p:nvSpPr>
        <p:spPr>
          <a:xfrm>
            <a:off x="7518654" y="2834640"/>
            <a:ext cx="1645920" cy="822960"/>
          </a:xfrm>
          <a:prstGeom prst="rect">
            <a:avLst/>
          </a:prstGeom>
          <a:noFill/>
          <a:ln/>
        </p:spPr>
        <p:txBody>
          <a:bodyPr wrap="square" lIns="0" tIns="0" rIns="0" bIns="0" rtlCol="0" anchor="t"/>
          <a:lstStyle/>
          <a:p>
            <a:pPr indent="0" marL="0">
              <a:buNone/>
            </a:pPr>
            <a:r>
              <a:rPr lang="en-US" sz="1800" b="1" dirty="0">
                <a:solidFill>
                  <a:schemeClr val="tx1"/>
                </a:solidFill>
                <a:latin typeface="+mj-lt" pitchFamily="34" charset="0"/>
                <a:ea typeface="+mj-lt" pitchFamily="34" charset="-122"/>
                <a:cs typeface="+mj-lt" pitchFamily="34" charset="-120"/>
              </a:rPr>
              <a:t>Closures with diversions</a:t>
            </a:r>
            <a:endParaRPr lang="en-US" sz="1800" dirty="0"/>
          </a:p>
        </p:txBody>
      </p:sp>
      <p:sp>
        <p:nvSpPr>
          <p:cNvPr id="26" name="Next step text 4"/>
          <p:cNvSpPr txBox="1"/>
          <p:nvPr/>
        </p:nvSpPr>
        <p:spPr>
          <a:xfrm>
            <a:off x="7518654" y="3749040"/>
            <a:ext cx="1645920" cy="1828800"/>
          </a:xfrm>
          <a:prstGeom prst="rect">
            <a:avLst/>
          </a:prstGeom>
          <a:noFill/>
          <a:ln/>
        </p:spPr>
        <p:txBody>
          <a:bodyPr wrap="square" lIns="0" tIns="0" rIns="0" bIns="0" rtlCol="0" anchor="t"/>
          <a:lstStyle/>
          <a:p>
            <a:pPr indent="0" marL="0">
              <a:buNone/>
            </a:pPr>
            <a:r>
              <a:rPr lang="en-US" sz="1400" dirty="0">
                <a:solidFill>
                  <a:schemeClr val="accent4"/>
                </a:solidFill>
              </a:rPr>
              <a:t>The optimiser can update its turning model; a fixed plan cannot</a:t>
            </a:r>
            <a:endParaRPr lang="en-US" sz="1400" dirty="0"/>
          </a:p>
        </p:txBody>
      </p:sp>
      <p:sp>
        <p:nvSpPr>
          <p:cNvPr id="27" name="Next step card 5"/>
          <p:cNvSpPr/>
          <p:nvPr/>
        </p:nvSpPr>
        <p:spPr>
          <a:xfrm>
            <a:off x="9537192" y="1737360"/>
            <a:ext cx="2103120" cy="4023360"/>
          </a:xfrm>
          <a:prstGeom prst="roundRect">
            <a:avLst>
              <a:gd name="adj" fmla="val 3478"/>
            </a:avLst>
          </a:prstGeom>
          <a:solidFill>
            <a:schemeClr val="bg2"/>
          </a:solidFill>
          <a:ln/>
        </p:spPr>
      </p:sp>
      <p:sp>
        <p:nvSpPr>
          <p:cNvPr id="28" name="Next step badge 5"/>
          <p:cNvSpPr/>
          <p:nvPr/>
        </p:nvSpPr>
        <p:spPr>
          <a:xfrm>
            <a:off x="9765792" y="2011680"/>
            <a:ext cx="640080" cy="640080"/>
          </a:xfrm>
          <a:prstGeom prst="ellipse">
            <a:avLst/>
          </a:prstGeom>
          <a:solidFill>
            <a:schemeClr val="accent1"/>
          </a:solidFill>
          <a:ln/>
        </p:spPr>
      </p:sp>
      <p:sp>
        <p:nvSpPr>
          <p:cNvPr id="29" name="Next step number 5"/>
          <p:cNvSpPr txBox="1"/>
          <p:nvPr/>
        </p:nvSpPr>
        <p:spPr>
          <a:xfrm>
            <a:off x="9765792" y="201168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5</a:t>
            </a:r>
            <a:endParaRPr lang="en-US" sz="2200" dirty="0"/>
          </a:p>
        </p:txBody>
      </p:sp>
      <p:sp>
        <p:nvSpPr>
          <p:cNvPr id="30" name="Next step title 5"/>
          <p:cNvSpPr txBox="1"/>
          <p:nvPr/>
        </p:nvSpPr>
        <p:spPr>
          <a:xfrm>
            <a:off x="9765792" y="2834640"/>
            <a:ext cx="1645920" cy="822960"/>
          </a:xfrm>
          <a:prstGeom prst="rect">
            <a:avLst/>
          </a:prstGeom>
          <a:noFill/>
          <a:ln/>
        </p:spPr>
        <p:txBody>
          <a:bodyPr wrap="square" lIns="0" tIns="0" rIns="0" bIns="0" rtlCol="0" anchor="t"/>
          <a:lstStyle/>
          <a:p>
            <a:pPr indent="0" marL="0">
              <a:buNone/>
            </a:pPr>
            <a:r>
              <a:rPr lang="en-US" sz="1800" b="1" dirty="0">
                <a:solidFill>
                  <a:schemeClr val="tx1"/>
                </a:solidFill>
                <a:latin typeface="+mj-lt" pitchFamily="34" charset="0"/>
                <a:ea typeface="+mj-lt" pitchFamily="34" charset="-122"/>
                <a:cs typeface="+mj-lt" pitchFamily="34" charset="-120"/>
              </a:rPr>
              <a:t>Multi-agent RL</a:t>
            </a:r>
            <a:endParaRPr lang="en-US" sz="1800" dirty="0"/>
          </a:p>
        </p:txBody>
      </p:sp>
      <p:sp>
        <p:nvSpPr>
          <p:cNvPr id="31" name="Next step text 5"/>
          <p:cNvSpPr txBox="1"/>
          <p:nvPr/>
        </p:nvSpPr>
        <p:spPr>
          <a:xfrm>
            <a:off x="9765792" y="3749040"/>
            <a:ext cx="1645920" cy="1828800"/>
          </a:xfrm>
          <a:prstGeom prst="rect">
            <a:avLst/>
          </a:prstGeom>
          <a:noFill/>
          <a:ln/>
        </p:spPr>
        <p:txBody>
          <a:bodyPr wrap="square" lIns="0" tIns="0" rIns="0" bIns="0" rtlCol="0" anchor="t"/>
          <a:lstStyle/>
          <a:p>
            <a:pPr indent="0" marL="0">
              <a:buNone/>
            </a:pPr>
            <a:r>
              <a:rPr lang="en-US" sz="1400" dirty="0">
                <a:solidFill>
                  <a:schemeClr val="accent4"/>
                </a:solidFill>
              </a:rPr>
              <a:t>The natural next step if the queue model stops being accurate</a:t>
            </a:r>
            <a:endParaRPr lang="en-US" sz="14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7406640" cy="685800"/>
          </a:xfrm>
          <a:prstGeom prst="rect">
            <a:avLst/>
          </a:prstGeom>
          <a:noFill/>
          <a:ln/>
        </p:spPr>
        <p:txBody>
          <a:bodyPr wrap="square" lIns="0" tIns="0" rIns="0" bIns="0" rtlCol="0" anchor="ctr"/>
          <a:lstStyle/>
          <a:p>
            <a:pPr algn="l" indent="0" marL="0">
              <a:buNone/>
            </a:pPr>
            <a:r>
              <a:rPr lang="en-US" sz="3200" b="1" dirty="0">
                <a:solidFill>
                  <a:schemeClr val="tx1"/>
                </a:solidFill>
              </a:rPr>
              <a:t>Rubric map</a:t>
            </a:r>
            <a:endParaRPr lang="en-US" sz="3200" dirty="0"/>
          </a:p>
        </p:txBody>
      </p:sp>
      <p:sp>
        <p:nvSpPr>
          <p:cNvPr id="3" name="Message"/>
          <p:cNvSpPr txBox="1"/>
          <p:nvPr/>
        </p:nvSpPr>
        <p:spPr>
          <a:xfrm>
            <a:off x="548640" y="1005840"/>
            <a:ext cx="11091672" cy="411480"/>
          </a:xfrm>
          <a:prstGeom prst="rect">
            <a:avLst/>
          </a:prstGeom>
          <a:noFill/>
          <a:ln/>
        </p:spPr>
        <p:txBody>
          <a:bodyPr wrap="square" lIns="0" tIns="0" rIns="0" bIns="0" rtlCol="0" anchor="t"/>
          <a:lstStyle/>
          <a:p>
            <a:pPr indent="0" marL="0">
              <a:buNone/>
            </a:pPr>
            <a:r>
              <a:rPr lang="en-US" sz="1800" dirty="0">
                <a:solidFill>
                  <a:schemeClr val="accent5"/>
                </a:solidFill>
              </a:rPr>
              <a:t>Where each of the 100 points is shown, in the deck and in the code</a:t>
            </a:r>
            <a:endParaRPr lang="en-US" sz="1800" dirty="0"/>
          </a:p>
        </p:txBody>
      </p:sp>
      <p:sp>
        <p:nvSpPr>
          <p:cNvPr id="4" name="Rubric tag"/>
          <p:cNvSpPr/>
          <p:nvPr/>
        </p:nvSpPr>
        <p:spPr>
          <a:xfrm>
            <a:off x="8074152" y="457200"/>
            <a:ext cx="3566160" cy="310896"/>
          </a:xfrm>
          <a:prstGeom prst="roundRect">
            <a:avLst>
              <a:gd name="adj" fmla="val 50000"/>
            </a:avLst>
          </a:prstGeom>
          <a:solidFill>
            <a:schemeClr val="bg2"/>
          </a:solidFill>
          <a:ln/>
        </p:spPr>
      </p:sp>
      <p:sp>
        <p:nvSpPr>
          <p:cNvPr id="5" name="Rubric tag text"/>
          <p:cNvSpPr txBox="1"/>
          <p:nvPr/>
        </p:nvSpPr>
        <p:spPr>
          <a:xfrm>
            <a:off x="8074152" y="457200"/>
            <a:ext cx="3566160" cy="310896"/>
          </a:xfrm>
          <a:prstGeom prst="rect">
            <a:avLst/>
          </a:prstGeom>
          <a:noFill/>
          <a:ln/>
        </p:spPr>
        <p:txBody>
          <a:bodyPr wrap="square" lIns="0" tIns="0" rIns="0" bIns="0" rtlCol="0" anchor="ctr"/>
          <a:lstStyle/>
          <a:p>
            <a:pPr algn="ctr" indent="0" marL="0">
              <a:buNone/>
            </a:pPr>
            <a:r>
              <a:rPr lang="en-US" sz="1100" dirty="0">
                <a:solidFill>
                  <a:schemeClr val="accent5"/>
                </a:solidFill>
              </a:rPr>
              <a:t>Rubric: all items</a:t>
            </a:r>
            <a:endParaRPr lang="en-US" sz="1100" dirty="0"/>
          </a:p>
        </p:txBody>
      </p:sp>
      <p:graphicFrame>
        <p:nvGraphicFramePr>
          <p:cNvPr id="17" name="Rubric map 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4297680"/>
                <a:gridCol w="1371600"/>
                <a:gridCol w="5422392"/>
              </a:tblGrid>
              <a:tr h="329184">
                <a:tc>
                  <a:txBody>
                    <a:bodyPr/>
                    <a:lstStyle/>
                    <a:p>
                      <a:pPr algn="l" indent="0" marL="0">
                        <a:buNone/>
                      </a:pPr>
                      <a:r>
                        <a:rPr lang="en-US" sz="1200" b="1" dirty="0">
                          <a:solidFill>
                            <a:schemeClr val="bg1"/>
                          </a:solidFill>
                        </a:rPr>
                        <a:t>Rubric item (points)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Slides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tx2"/>
                    </a:solidFill>
                  </a:tcPr>
                </a:tc>
                <a:tc>
                  <a:txBody>
                    <a:bodyPr/>
                    <a:lstStyle/>
                    <a:p>
                      <a:pPr algn="l" indent="0" marL="0">
                        <a:buNone/>
                      </a:pPr>
                      <a:r>
                        <a:rPr lang="en-US" sz="1200" b="1" dirty="0">
                          <a:solidFill>
                            <a:schemeClr val="bg1"/>
                          </a:solidFill>
                        </a:rPr>
                        <a:t>Code or output</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tx2"/>
                    </a:solidFill>
                  </a:tcPr>
                </a:tc>
              </a:tr>
              <a:tr h="329184">
                <a:tc>
                  <a:txBody>
                    <a:bodyPr/>
                    <a:lstStyle/>
                    <a:p>
                      <a:pPr indent="0" marL="0">
                        <a:buNone/>
                      </a:pPr>
                      <a:r>
                        <a:rPr lang="en-US" sz="1200" dirty="0">
                          <a:solidFill>
                            <a:schemeClr val="tx1"/>
                          </a:solidFill>
                        </a:rPr>
                        <a:t>ML · Model selection and justification (10)</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200" dirty="0">
                          <a:solidFill>
                            <a:schemeClr val="tx1"/>
                          </a:solidFill>
                        </a:rPr>
                        <a:t>5, 6</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indent="0" marL="0">
                        <a:buNone/>
                      </a:pPr>
                      <a:r>
                        <a:rPr lang="en-US" sz="1200" dirty="0">
                          <a:solidFill>
                            <a:schemeClr val="tx1"/>
                          </a:solidFill>
                        </a:rPr>
                        <a:t>src/traffic/forecasting/model.py</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r>
              <a:tr h="329184">
                <a:tc>
                  <a:txBody>
                    <a:bodyPr/>
                    <a:lstStyle/>
                    <a:p>
                      <a:pPr indent="0" marL="0">
                        <a:buNone/>
                      </a:pPr>
                      <a:r>
                        <a:rPr lang="en-US" sz="1200" dirty="0">
                          <a:solidFill>
                            <a:schemeClr val="tx1"/>
                          </a:solidFill>
                        </a:rPr>
                        <a:t>ML · Feature engineering (5)</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200" dirty="0">
                          <a:solidFill>
                            <a:schemeClr val="tx1"/>
                          </a:solidFill>
                        </a:rPr>
                        <a:t>5</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indent="0" marL="0">
                        <a:buNone/>
                      </a:pPr>
                      <a:r>
                        <a:rPr lang="en-US" sz="1200" dirty="0">
                          <a:solidFill>
                            <a:schemeClr val="tx1"/>
                          </a:solidFill>
                        </a:rPr>
                        <a:t>src/traffic/forecasting/features.py</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r>
              <a:tr h="329184">
                <a:tc>
                  <a:txBody>
                    <a:bodyPr/>
                    <a:lstStyle/>
                    <a:p>
                      <a:pPr indent="0" marL="0">
                        <a:buNone/>
                      </a:pPr>
                      <a:r>
                        <a:rPr lang="en-US" sz="1200" dirty="0">
                          <a:solidFill>
                            <a:schemeClr val="tx1"/>
                          </a:solidFill>
                        </a:rPr>
                        <a:t>ML · Validation methodology (5)</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200" dirty="0">
                          <a:solidFill>
                            <a:schemeClr val="tx1"/>
                          </a:solidFill>
                        </a:rPr>
                        <a:t>6</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indent="0" marL="0">
                        <a:buNone/>
                      </a:pPr>
                      <a:r>
                        <a:rPr lang="en-US" sz="1200" dirty="0">
                          <a:solidFill>
                            <a:schemeClr val="tx1"/>
                          </a:solidFill>
                        </a:rPr>
                        <a:t>forecasting/evaluate.py, tests/test_forecasting.py</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r>
              <a:tr h="329184">
                <a:tc>
                  <a:txBody>
                    <a:bodyPr/>
                    <a:lstStyle/>
                    <a:p>
                      <a:pPr indent="0" marL="0">
                        <a:buNone/>
                      </a:pPr>
                      <a:r>
                        <a:rPr lang="en-US" sz="1200" dirty="0">
                          <a:solidFill>
                            <a:schemeClr val="tx1"/>
                          </a:solidFill>
                        </a:rPr>
                        <a:t>ML · Performance on test set (5)</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200" dirty="0">
                          <a:solidFill>
                            <a:schemeClr val="tx1"/>
                          </a:solidFill>
                        </a:rPr>
                        <a:t>5, 6, 11</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indent="0" marL="0">
                        <a:buNone/>
                      </a:pPr>
                      <a:r>
                        <a:rPr lang="en-US" sz="1200" dirty="0">
                          <a:solidFill>
                            <a:schemeClr val="tx1"/>
                          </a:solidFill>
                        </a:rPr>
                        <a:t>outputs/forecast_skill.png, outputs/final_eval/</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r>
              <a:tr h="329184">
                <a:tc>
                  <a:txBody>
                    <a:bodyPr/>
                    <a:lstStyle/>
                    <a:p>
                      <a:pPr indent="0" marL="0">
                        <a:buNone/>
                      </a:pPr>
                      <a:r>
                        <a:rPr lang="en-US" sz="1200" dirty="0">
                          <a:solidFill>
                            <a:schemeClr val="tx1"/>
                          </a:solidFill>
                        </a:rPr>
                        <a:t>Opt · Problem formulation (10)</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200" dirty="0">
                          <a:solidFill>
                            <a:schemeClr val="tx1"/>
                          </a:solidFill>
                        </a:rPr>
                        <a:t>7</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indent="0" marL="0">
                        <a:buNone/>
                      </a:pPr>
                      <a:r>
                        <a:rPr lang="en-US" sz="1200" dirty="0">
                          <a:solidFill>
                            <a:schemeClr val="tx1"/>
                          </a:solidFill>
                        </a:rPr>
                        <a:t>src/traffic/controllers/optimiser.py</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r>
              <a:tr h="329184">
                <a:tc>
                  <a:txBody>
                    <a:bodyPr/>
                    <a:lstStyle/>
                    <a:p>
                      <a:pPr indent="0" marL="0">
                        <a:buNone/>
                      </a:pPr>
                      <a:r>
                        <a:rPr lang="en-US" sz="1200" dirty="0">
                          <a:solidFill>
                            <a:schemeClr val="tx1"/>
                          </a:solidFill>
                        </a:rPr>
                        <a:t>Opt · Algorithm choice and efficiency (5)</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200" dirty="0">
                          <a:solidFill>
                            <a:schemeClr val="tx1"/>
                          </a:solidFill>
                        </a:rPr>
                        <a:t>8, 13</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indent="0" marL="0">
                        <a:buNone/>
                      </a:pPr>
                      <a:r>
                        <a:rPr lang="en-US" sz="1200" dirty="0">
                          <a:solidFill>
                            <a:schemeClr val="tx1"/>
                          </a:solidFill>
                        </a:rPr>
                        <a:t>optimiser.py (CVXPY, Clarabel), scripts/scalability.py</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r>
              <a:tr h="329184">
                <a:tc>
                  <a:txBody>
                    <a:bodyPr/>
                    <a:lstStyle/>
                    <a:p>
                      <a:pPr indent="0" marL="0">
                        <a:buNone/>
                      </a:pPr>
                      <a:r>
                        <a:rPr lang="en-US" sz="1200" dirty="0">
                          <a:solidFill>
                            <a:schemeClr val="tx1"/>
                          </a:solidFill>
                        </a:rPr>
                        <a:t>Opt · Constraint handling (5)</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200" dirty="0">
                          <a:solidFill>
                            <a:schemeClr val="tx1"/>
                          </a:solidFill>
                        </a:rPr>
                        <a:t>7, 12</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indent="0" marL="0">
                        <a:buNone/>
                      </a:pPr>
                      <a:r>
                        <a:rPr lang="en-US" sz="1200" dirty="0">
                          <a:solidFill>
                            <a:schemeClr val="tx1"/>
                          </a:solidFill>
                        </a:rPr>
                        <a:t>optimiser.py, tests/test_optimiser.py</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r>
              <a:tr h="329184">
                <a:tc>
                  <a:txBody>
                    <a:bodyPr/>
                    <a:lstStyle/>
                    <a:p>
                      <a:pPr indent="0" marL="0">
                        <a:buNone/>
                      </a:pPr>
                      <a:r>
                        <a:rPr lang="en-US" sz="1200" dirty="0">
                          <a:solidFill>
                            <a:schemeClr val="tx1"/>
                          </a:solidFill>
                        </a:rPr>
                        <a:t>Opt · Solution quality (5)</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200" dirty="0">
                          <a:solidFill>
                            <a:schemeClr val="tx1"/>
                          </a:solidFill>
                        </a:rPr>
                        <a:t>10, 11, 12</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indent="0" marL="0">
                        <a:buNone/>
                      </a:pPr>
                      <a:r>
                        <a:rPr lang="en-US" sz="1200" dirty="0">
                          <a:solidFill>
                            <a:schemeClr val="tx1"/>
                          </a:solidFill>
                        </a:rPr>
                        <a:t>outputs/final_eval/</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r>
              <a:tr h="329184">
                <a:tc>
                  <a:txBody>
                    <a:bodyPr/>
                    <a:lstStyle/>
                    <a:p>
                      <a:pPr indent="0" marL="0">
                        <a:buNone/>
                      </a:pPr>
                      <a:r>
                        <a:rPr lang="en-US" sz="1200" dirty="0">
                          <a:solidFill>
                            <a:schemeClr val="tx1"/>
                          </a:solidFill>
                        </a:rPr>
                        <a:t>SW · Code quality and structure (5)</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200" dirty="0">
                          <a:solidFill>
                            <a:schemeClr val="tx1"/>
                          </a:solidFill>
                        </a:rPr>
                        <a:t>3, 4</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indent="0" marL="0">
                        <a:buNone/>
                      </a:pPr>
                      <a:r>
                        <a:rPr lang="en-US" sz="1200" dirty="0">
                          <a:solidFill>
                            <a:schemeClr val="tx1"/>
                          </a:solidFill>
                        </a:rPr>
                        <a:t>src/traffic/ (sim, controllers, forecasting, experiments, viz)</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r>
              <a:tr h="329184">
                <a:tc>
                  <a:txBody>
                    <a:bodyPr/>
                    <a:lstStyle/>
                    <a:p>
                      <a:pPr indent="0" marL="0">
                        <a:buNone/>
                      </a:pPr>
                      <a:r>
                        <a:rPr lang="en-US" sz="1200" dirty="0">
                          <a:solidFill>
                            <a:schemeClr val="tx1"/>
                          </a:solidFill>
                        </a:rPr>
                        <a:t>SW · Working demo / visualisation (10)</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200" dirty="0">
                          <a:solidFill>
                            <a:schemeClr val="tx1"/>
                          </a:solidFill>
                        </a:rPr>
                        <a:t>9</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indent="0" marL="0">
                        <a:buNone/>
                      </a:pPr>
                      <a:r>
                        <a:rPr lang="en-US" sz="1200" dirty="0">
                          <a:solidFill>
                            <a:schemeClr val="tx1"/>
                          </a:solidFill>
                        </a:rPr>
                        <a:t>outputs/demo_viewer.html (python main.py viz-clips)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r>
              <a:tr h="329184">
                <a:tc>
                  <a:txBody>
                    <a:bodyPr/>
                    <a:lstStyle/>
                    <a:p>
                      <a:pPr indent="0" marL="0">
                        <a:buNone/>
                      </a:pPr>
                      <a:r>
                        <a:rPr lang="en-US" sz="1200" dirty="0">
                          <a:solidFill>
                            <a:schemeClr val="tx1"/>
                          </a:solidFill>
                        </a:rPr>
                        <a:t>SW · Scalability (5)</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200" dirty="0">
                          <a:solidFill>
                            <a:schemeClr val="tx1"/>
                          </a:solidFill>
                        </a:rPr>
                        <a:t>13</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indent="0" marL="0">
                        <a:buNone/>
                      </a:pPr>
                      <a:r>
                        <a:rPr lang="en-US" sz="1200" dirty="0">
                          <a:solidFill>
                            <a:schemeClr val="tx1"/>
                          </a:solidFill>
                        </a:rPr>
                        <a:t>scripts/scalability.py, outputs/scalability.csv</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r>
              <a:tr h="329184">
                <a:tc>
                  <a:txBody>
                    <a:bodyPr/>
                    <a:lstStyle/>
                    <a:p>
                      <a:pPr indent="0" marL="0">
                        <a:buNone/>
                      </a:pPr>
                      <a:r>
                        <a:rPr lang="en-US" sz="1200" dirty="0">
                          <a:solidFill>
                            <a:schemeClr val="tx1"/>
                          </a:solidFill>
                        </a:rPr>
                        <a:t>SW · Testing and error handling (5)</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200" dirty="0">
                          <a:solidFill>
                            <a:schemeClr val="tx1"/>
                          </a:solidFill>
                        </a:rPr>
                        <a:t>13</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indent="0" marL="0">
                        <a:buNone/>
                      </a:pPr>
                      <a:r>
                        <a:rPr lang="en-US" sz="1200" dirty="0">
                          <a:solidFill>
                            <a:schemeClr val="tx1"/>
                          </a:solidFill>
                        </a:rPr>
                        <a:t>tests/ (26 tests)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r>
              <a:tr h="329184">
                <a:tc>
                  <a:txBody>
                    <a:bodyPr/>
                    <a:lstStyle/>
                    <a:p>
                      <a:pPr indent="0" marL="0">
                        <a:buNone/>
                      </a:pPr>
                      <a:r>
                        <a:rPr lang="en-US" sz="1200" dirty="0">
                          <a:solidFill>
                            <a:schemeClr val="tx1"/>
                          </a:solidFill>
                        </a:rPr>
                        <a:t>Presentation · Explanation (15), Q&amp;A (10)</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200" dirty="0">
                          <a:solidFill>
                            <a:schemeClr val="tx1"/>
                          </a:solidFill>
                        </a:rPr>
                        <a:t>all, backups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indent="0" marL="0">
                        <a:buNone/>
                      </a:pPr>
                      <a:r>
                        <a:rPr lang="en-US" sz="1200" dirty="0">
                          <a:solidFill>
                            <a:schemeClr val="tx1"/>
                          </a:solidFill>
                        </a:rPr>
                        <a:t>Speaker notes, backup slides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7406640" cy="685800"/>
          </a:xfrm>
          <a:prstGeom prst="rect">
            <a:avLst/>
          </a:prstGeom>
          <a:noFill/>
          <a:ln/>
        </p:spPr>
        <p:txBody>
          <a:bodyPr wrap="square" lIns="0" tIns="0" rIns="0" bIns="0" rtlCol="0" anchor="ctr"/>
          <a:lstStyle/>
          <a:p>
            <a:pPr algn="l" indent="0" marL="0">
              <a:buNone/>
            </a:pPr>
            <a:r>
              <a:rPr lang="en-US" sz="3200" b="1" dirty="0">
                <a:solidFill>
                  <a:schemeClr val="bg1"/>
                </a:solidFill>
              </a:rPr>
              <a:t>Summary and questions</a:t>
            </a:r>
            <a:endParaRPr lang="en-US" sz="3200" dirty="0"/>
          </a:p>
        </p:txBody>
      </p:sp>
      <p:sp>
        <p:nvSpPr>
          <p:cNvPr id="3" name="Message"/>
          <p:cNvSpPr txBox="1"/>
          <p:nvPr/>
        </p:nvSpPr>
        <p:spPr>
          <a:xfrm>
            <a:off x="548640" y="1005840"/>
            <a:ext cx="11091672" cy="411480"/>
          </a:xfrm>
          <a:prstGeom prst="rect">
            <a:avLst/>
          </a:prstGeom>
          <a:noFill/>
          <a:ln/>
        </p:spPr>
        <p:txBody>
          <a:bodyPr wrap="square" lIns="0" tIns="0" rIns="0" bIns="0" rtlCol="0" anchor="t"/>
          <a:lstStyle/>
          <a:p>
            <a:pPr indent="0" marL="0">
              <a:buNone/>
            </a:pPr>
            <a:r>
              <a:rPr lang="en-US" sz="1800" dirty="0">
                <a:solidFill>
                  <a:schemeClr val="accent3"/>
                </a:solidFill>
              </a:rPr>
              <a:t>Backup slides follow: IDM, Webster, censoring guard, seeds, tuning, AI use, references</a:t>
            </a:r>
            <a:endParaRPr lang="en-US" sz="1800" dirty="0"/>
          </a:p>
        </p:txBody>
      </p:sp>
      <p:sp>
        <p:nvSpPr>
          <p:cNvPr id="5" name="Summary card 1"/>
          <p:cNvSpPr/>
          <p:nvPr/>
        </p:nvSpPr>
        <p:spPr>
          <a:xfrm>
            <a:off x="548640" y="1737360"/>
            <a:ext cx="11091672" cy="1143000"/>
          </a:xfrm>
          <a:prstGeom prst="roundRect">
            <a:avLst>
              <a:gd name="adj" fmla="val 6400"/>
            </a:avLst>
          </a:prstGeom>
          <a:solidFill>
            <a:schemeClr val="tx1"/>
          </a:solidFill>
          <a:ln/>
        </p:spPr>
      </p:sp>
      <p:sp>
        <p:nvSpPr>
          <p:cNvPr id="6" name="Summary badge 1"/>
          <p:cNvSpPr/>
          <p:nvPr/>
        </p:nvSpPr>
        <p:spPr>
          <a:xfrm>
            <a:off x="822960" y="1993392"/>
            <a:ext cx="640080" cy="640080"/>
          </a:xfrm>
          <a:prstGeom prst="ellipse">
            <a:avLst/>
          </a:prstGeom>
          <a:solidFill>
            <a:schemeClr val="accent1"/>
          </a:solidFill>
          <a:ln/>
        </p:spPr>
      </p:sp>
      <p:sp>
        <p:nvSpPr>
          <p:cNvPr id="7" name="Summary number 1"/>
          <p:cNvSpPr txBox="1"/>
          <p:nvPr/>
        </p:nvSpPr>
        <p:spPr>
          <a:xfrm>
            <a:off x="822960" y="1993392"/>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1</a:t>
            </a:r>
            <a:endParaRPr lang="en-US" sz="2200" dirty="0"/>
          </a:p>
        </p:txBody>
      </p:sp>
      <p:sp>
        <p:nvSpPr>
          <p:cNvPr id="8" name="Summary text 1"/>
          <p:cNvSpPr txBox="1"/>
          <p:nvPr/>
        </p:nvSpPr>
        <p:spPr>
          <a:xfrm>
            <a:off x="1737360" y="1737360"/>
            <a:ext cx="9628632" cy="1143000"/>
          </a:xfrm>
          <a:prstGeom prst="rect">
            <a:avLst/>
          </a:prstGeom>
          <a:noFill/>
          <a:ln/>
        </p:spPr>
        <p:txBody>
          <a:bodyPr wrap="square" lIns="0" tIns="0" rIns="0" bIns="0" rtlCol="0" anchor="ctr"/>
          <a:lstStyle/>
          <a:p>
            <a:pPr indent="0" marL="0">
              <a:buNone/>
            </a:pPr>
            <a:r>
              <a:rPr lang="en-US" sz="2000" b="1" dirty="0">
                <a:solidFill>
                  <a:schemeClr val="bg1"/>
                </a:solidFill>
              </a:rPr>
              <a:t>Live queues + a queue model</a:t>
            </a:r>
            <a:endParaRPr lang="en-US" sz="1400" dirty="0"/>
          </a:p>
          <a:p>
            <a:pPr indent="0" marL="0">
              <a:buNone/>
            </a:pPr>
            <a:r>
              <a:rPr lang="en-US" sz="1600" dirty="0">
                <a:solidFill>
                  <a:schemeClr val="accent3"/>
                </a:solidFill>
              </a:rPr>
              <a:t>drive the gain: 22% over tuned fixed on typical and busy mornings</a:t>
            </a:r>
            <a:endParaRPr lang="en-US" sz="1400" dirty="0"/>
          </a:p>
        </p:txBody>
      </p:sp>
      <p:sp>
        <p:nvSpPr>
          <p:cNvPr id="9" name="Summary card 2"/>
          <p:cNvSpPr/>
          <p:nvPr/>
        </p:nvSpPr>
        <p:spPr>
          <a:xfrm>
            <a:off x="548640" y="3108960"/>
            <a:ext cx="11091672" cy="1143000"/>
          </a:xfrm>
          <a:prstGeom prst="roundRect">
            <a:avLst>
              <a:gd name="adj" fmla="val 6400"/>
            </a:avLst>
          </a:prstGeom>
          <a:solidFill>
            <a:schemeClr val="tx1"/>
          </a:solidFill>
          <a:ln/>
        </p:spPr>
      </p:sp>
      <p:sp>
        <p:nvSpPr>
          <p:cNvPr id="10" name="Summary badge 2"/>
          <p:cNvSpPr/>
          <p:nvPr/>
        </p:nvSpPr>
        <p:spPr>
          <a:xfrm>
            <a:off x="822960" y="3364992"/>
            <a:ext cx="640080" cy="640080"/>
          </a:xfrm>
          <a:prstGeom prst="ellipse">
            <a:avLst/>
          </a:prstGeom>
          <a:solidFill>
            <a:schemeClr val="accent1"/>
          </a:solidFill>
          <a:ln/>
        </p:spPr>
      </p:sp>
      <p:sp>
        <p:nvSpPr>
          <p:cNvPr id="11" name="Summary number 2"/>
          <p:cNvSpPr txBox="1"/>
          <p:nvPr/>
        </p:nvSpPr>
        <p:spPr>
          <a:xfrm>
            <a:off x="822960" y="3364992"/>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2</a:t>
            </a:r>
            <a:endParaRPr lang="en-US" sz="2200" dirty="0"/>
          </a:p>
        </p:txBody>
      </p:sp>
      <p:sp>
        <p:nvSpPr>
          <p:cNvPr id="12" name="Summary text 2"/>
          <p:cNvSpPr txBox="1"/>
          <p:nvPr/>
        </p:nvSpPr>
        <p:spPr>
          <a:xfrm>
            <a:off x="1737360" y="3108960"/>
            <a:ext cx="9628632" cy="1143000"/>
          </a:xfrm>
          <a:prstGeom prst="rect">
            <a:avLst/>
          </a:prstGeom>
          <a:noFill/>
          <a:ln/>
        </p:spPr>
        <p:txBody>
          <a:bodyPr wrap="square" lIns="0" tIns="0" rIns="0" bIns="0" rtlCol="0" anchor="ctr"/>
          <a:lstStyle/>
          <a:p>
            <a:pPr indent="0" marL="0">
              <a:buNone/>
            </a:pPr>
            <a:r>
              <a:rPr lang="en-US" sz="2000" b="1" dirty="0">
                <a:solidFill>
                  <a:schemeClr val="bg1"/>
                </a:solidFill>
              </a:rPr>
              <a:t>Accurate forecast, small effect</a:t>
            </a:r>
            <a:endParaRPr lang="en-US" sz="1400" dirty="0"/>
          </a:p>
          <a:p>
            <a:pPr indent="0" marL="0">
              <a:buNone/>
            </a:pPr>
            <a:r>
              <a:rPr lang="en-US" sz="1600" dirty="0">
                <a:solidFill>
                  <a:schemeClr val="accent3"/>
                </a:solidFill>
              </a:rPr>
              <a:t>6.8% vs 9.8% error, but little change in delay</a:t>
            </a:r>
            <a:endParaRPr lang="en-US" sz="1400" dirty="0"/>
          </a:p>
        </p:txBody>
      </p:sp>
      <p:sp>
        <p:nvSpPr>
          <p:cNvPr id="13" name="Summary card 3"/>
          <p:cNvSpPr/>
          <p:nvPr/>
        </p:nvSpPr>
        <p:spPr>
          <a:xfrm>
            <a:off x="548640" y="4480560"/>
            <a:ext cx="11091672" cy="1143000"/>
          </a:xfrm>
          <a:prstGeom prst="roundRect">
            <a:avLst>
              <a:gd name="adj" fmla="val 6400"/>
            </a:avLst>
          </a:prstGeom>
          <a:solidFill>
            <a:schemeClr val="tx1"/>
          </a:solidFill>
          <a:ln/>
        </p:spPr>
      </p:sp>
      <p:sp>
        <p:nvSpPr>
          <p:cNvPr id="14" name="Summary badge 3"/>
          <p:cNvSpPr/>
          <p:nvPr/>
        </p:nvSpPr>
        <p:spPr>
          <a:xfrm>
            <a:off x="822960" y="4736592"/>
            <a:ext cx="640080" cy="640080"/>
          </a:xfrm>
          <a:prstGeom prst="ellipse">
            <a:avLst/>
          </a:prstGeom>
          <a:solidFill>
            <a:schemeClr val="accent1"/>
          </a:solidFill>
          <a:ln/>
        </p:spPr>
      </p:sp>
      <p:sp>
        <p:nvSpPr>
          <p:cNvPr id="15" name="Summary number 3"/>
          <p:cNvSpPr txBox="1"/>
          <p:nvPr/>
        </p:nvSpPr>
        <p:spPr>
          <a:xfrm>
            <a:off x="822960" y="4736592"/>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3</a:t>
            </a:r>
            <a:endParaRPr lang="en-US" sz="2200" dirty="0"/>
          </a:p>
        </p:txBody>
      </p:sp>
      <p:sp>
        <p:nvSpPr>
          <p:cNvPr id="16" name="Summary text 3"/>
          <p:cNvSpPr txBox="1"/>
          <p:nvPr/>
        </p:nvSpPr>
        <p:spPr>
          <a:xfrm>
            <a:off x="1737360" y="4480560"/>
            <a:ext cx="9628632" cy="1143000"/>
          </a:xfrm>
          <a:prstGeom prst="rect">
            <a:avLst/>
          </a:prstGeom>
          <a:noFill/>
          <a:ln/>
        </p:spPr>
        <p:txBody>
          <a:bodyPr wrap="square" lIns="0" tIns="0" rIns="0" bIns="0" rtlCol="0" anchor="ctr"/>
          <a:lstStyle/>
          <a:p>
            <a:pPr indent="0" marL="0">
              <a:buNone/>
            </a:pPr>
            <a:r>
              <a:rPr lang="en-US" sz="2000" b="1" dirty="0">
                <a:solidFill>
                  <a:schemeClr val="bg1"/>
                </a:solidFill>
              </a:rPr>
              <a:t>Accidents are damage limitation</a:t>
            </a:r>
            <a:endParaRPr lang="en-US" sz="1400" dirty="0"/>
          </a:p>
          <a:p>
            <a:pPr indent="0" marL="0">
              <a:buNone/>
            </a:pPr>
            <a:r>
              <a:rPr lang="en-US" sz="1600" dirty="0">
                <a:solidFill>
                  <a:schemeClr val="accent3"/>
                </a:solidFill>
              </a:rPr>
              <a:t>170–199 s per car whatever the lights do</a:t>
            </a:r>
            <a:endParaRPr lang="en-US" sz="14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7406640" cy="685800"/>
          </a:xfrm>
          <a:prstGeom prst="rect">
            <a:avLst/>
          </a:prstGeom>
          <a:noFill/>
          <a:ln/>
        </p:spPr>
        <p:txBody>
          <a:bodyPr wrap="square" lIns="0" tIns="0" rIns="0" bIns="0" rtlCol="0" anchor="ctr"/>
          <a:lstStyle/>
          <a:p>
            <a:pPr algn="l" indent="0" marL="0">
              <a:buNone/>
            </a:pPr>
            <a:r>
              <a:rPr lang="en-US" sz="3200" b="1" dirty="0">
                <a:solidFill>
                  <a:schemeClr val="tx1"/>
                </a:solidFill>
              </a:rPr>
              <a:t>Backup: car-following model</a:t>
            </a:r>
            <a:endParaRPr lang="en-US" sz="3200" dirty="0"/>
          </a:p>
        </p:txBody>
      </p:sp>
      <p:sp>
        <p:nvSpPr>
          <p:cNvPr id="3" name="Message"/>
          <p:cNvSpPr txBox="1"/>
          <p:nvPr/>
        </p:nvSpPr>
        <p:spPr>
          <a:xfrm>
            <a:off x="548640" y="1005840"/>
            <a:ext cx="11091672" cy="411480"/>
          </a:xfrm>
          <a:prstGeom prst="rect">
            <a:avLst/>
          </a:prstGeom>
          <a:noFill/>
          <a:ln/>
        </p:spPr>
        <p:txBody>
          <a:bodyPr wrap="square" lIns="0" tIns="0" rIns="0" bIns="0" rtlCol="0" anchor="t"/>
          <a:lstStyle/>
          <a:p>
            <a:pPr indent="0" marL="0">
              <a:buNone/>
            </a:pPr>
            <a:r>
              <a:rPr lang="en-US" sz="1800" dirty="0">
                <a:solidFill>
                  <a:schemeClr val="accent5"/>
                </a:solidFill>
              </a:rPr>
              <a:t>Intelligent Driver Model, stepped every 0.5 s</a:t>
            </a:r>
            <a:endParaRPr lang="en-US" sz="1800" dirty="0"/>
          </a:p>
        </p:txBody>
      </p:sp>
      <p:sp>
        <p:nvSpPr>
          <p:cNvPr id="4" name="Rubric tag"/>
          <p:cNvSpPr/>
          <p:nvPr/>
        </p:nvSpPr>
        <p:spPr>
          <a:xfrm>
            <a:off x="8074152" y="457200"/>
            <a:ext cx="3566160" cy="310896"/>
          </a:xfrm>
          <a:prstGeom prst="roundRect">
            <a:avLst>
              <a:gd name="adj" fmla="val 50000"/>
            </a:avLst>
          </a:prstGeom>
          <a:solidFill>
            <a:schemeClr val="bg2"/>
          </a:solidFill>
          <a:ln/>
        </p:spPr>
      </p:sp>
      <p:sp>
        <p:nvSpPr>
          <p:cNvPr id="5" name="Rubric tag text"/>
          <p:cNvSpPr txBox="1"/>
          <p:nvPr/>
        </p:nvSpPr>
        <p:spPr>
          <a:xfrm>
            <a:off x="8074152" y="457200"/>
            <a:ext cx="3566160" cy="310896"/>
          </a:xfrm>
          <a:prstGeom prst="rect">
            <a:avLst/>
          </a:prstGeom>
          <a:noFill/>
          <a:ln/>
        </p:spPr>
        <p:txBody>
          <a:bodyPr wrap="square" lIns="0" tIns="0" rIns="0" bIns="0" rtlCol="0" anchor="ctr"/>
          <a:lstStyle/>
          <a:p>
            <a:pPr algn="ctr" indent="0" marL="0">
              <a:buNone/>
            </a:pPr>
            <a:r>
              <a:rPr lang="en-US" sz="1100" dirty="0">
                <a:solidFill>
                  <a:schemeClr val="accent5"/>
                </a:solidFill>
              </a:rPr>
              <a:t>Backup</a:t>
            </a:r>
            <a:endParaRPr lang="en-US" sz="1100" dirty="0"/>
          </a:p>
        </p:txBody>
      </p:sp>
      <p:sp>
        <p:nvSpPr>
          <p:cNvPr id="7" name="Equation card"/>
          <p:cNvSpPr/>
          <p:nvPr/>
        </p:nvSpPr>
        <p:spPr>
          <a:xfrm>
            <a:off x="548640" y="1691640"/>
            <a:ext cx="11091672" cy="1920240"/>
          </a:xfrm>
          <a:prstGeom prst="roundRect">
            <a:avLst>
              <a:gd name="adj" fmla="val 3810"/>
            </a:avLst>
          </a:prstGeom>
          <a:solidFill>
            <a:schemeClr val="bg2"/>
          </a:solidFill>
          <a:ln/>
        </p:spPr>
      </p:sp>
      <p:sp>
        <p:nvSpPr>
          <p:cNvPr id="8" name="IDM equations"/>
          <p:cNvSpPr txBox="1"/>
          <p:nvPr/>
        </p:nvSpPr>
        <p:spPr>
          <a:xfrm>
            <a:off x="914400" y="1691640"/>
            <a:ext cx="10360152" cy="1920240"/>
          </a:xfrm>
          <a:prstGeom prst="rect">
            <a:avLst/>
          </a:prstGeom>
          <a:noFill/>
          <a:ln/>
        </p:spPr>
        <p:txBody>
          <a:bodyPr wrap="square" lIns="0" tIns="0" rIns="0" bIns="0" rtlCol="0" anchor="ctr"/>
          <a:lstStyle/>
          <a:p>
            <a:pPr indent="0" marL="0">
              <a:spcAft>
                <a:spcPts val="1400"/>
              </a:spcAft>
              <a:buNone/>
            </a:pPr>
            <a:r>
              <a:rPr lang="en-US" sz="2400" dirty="0">
                <a:solidFill>
                  <a:schemeClr val="tx1"/>
                </a:solidFill>
              </a:rPr>
              <a:t>dv/dt  =  a [ 1 − (v / v</a:t>
            </a:r>
            <a:pPr indent="0" marL="0">
              <a:spcAft>
                <a:spcPts val="1400"/>
              </a:spcAft>
              <a:buNone/>
            </a:pPr>
            <a:r>
              <a:rPr lang="en-US" sz="2400" baseline="-40000" dirty="0">
                <a:solidFill>
                  <a:schemeClr val="tx1"/>
                </a:solidFill>
              </a:rPr>
              <a:t>0</a:t>
            </a:r>
            <a:pPr indent="0" marL="0">
              <a:spcAft>
                <a:spcPts val="1400"/>
              </a:spcAft>
              <a:buNone/>
            </a:pPr>
            <a:r>
              <a:rPr lang="en-US" sz="2400" dirty="0">
                <a:solidFill>
                  <a:schemeClr val="tx1"/>
                </a:solidFill>
              </a:rPr>
              <a:t>)</a:t>
            </a:r>
            <a:pPr indent="0" marL="0">
              <a:spcAft>
                <a:spcPts val="1400"/>
              </a:spcAft>
              <a:buNone/>
            </a:pPr>
            <a:r>
              <a:rPr lang="en-US" sz="2400" baseline="30000" dirty="0">
                <a:solidFill>
                  <a:schemeClr val="tx1"/>
                </a:solidFill>
              </a:rPr>
              <a:t>4</a:t>
            </a:r>
            <a:pPr indent="0" marL="0">
              <a:spcAft>
                <a:spcPts val="1400"/>
              </a:spcAft>
              <a:buNone/>
            </a:pPr>
            <a:r>
              <a:rPr lang="en-US" sz="2400" dirty="0">
                <a:solidFill>
                  <a:schemeClr val="tx1"/>
                </a:solidFill>
              </a:rPr>
              <a:t> − (s* / s)</a:t>
            </a:r>
            <a:pPr indent="0" marL="0">
              <a:spcAft>
                <a:spcPts val="1400"/>
              </a:spcAft>
              <a:buNone/>
            </a:pPr>
            <a:r>
              <a:rPr lang="en-US" sz="2400" baseline="30000" dirty="0">
                <a:solidFill>
                  <a:schemeClr val="tx1"/>
                </a:solidFill>
              </a:rPr>
              <a:t>2</a:t>
            </a:r>
            <a:pPr indent="0" marL="0">
              <a:spcAft>
                <a:spcPts val="1400"/>
              </a:spcAft>
              <a:buNone/>
            </a:pPr>
            <a:r>
              <a:rPr lang="en-US" sz="2400" dirty="0">
                <a:solidFill>
                  <a:schemeClr val="tx1"/>
                </a:solidFill>
              </a:rPr>
              <a:t> ]</a:t>
            </a:r>
            <a:endParaRPr lang="en-US" sz="1400" dirty="0"/>
          </a:p>
          <a:p>
            <a:pPr indent="0" marL="0">
              <a:spcAft>
                <a:spcPts val="1400"/>
              </a:spcAft>
              <a:buNone/>
            </a:pPr>
            <a:r>
              <a:rPr lang="en-US" sz="2400" dirty="0">
                <a:solidFill>
                  <a:schemeClr val="tx1"/>
                </a:solidFill>
              </a:rPr>
              <a:t>s*  =  s</a:t>
            </a:r>
            <a:pPr indent="0" marL="0">
              <a:spcAft>
                <a:spcPts val="1400"/>
              </a:spcAft>
              <a:buNone/>
            </a:pPr>
            <a:r>
              <a:rPr lang="en-US" sz="2400" baseline="-40000" dirty="0">
                <a:solidFill>
                  <a:schemeClr val="tx1"/>
                </a:solidFill>
              </a:rPr>
              <a:t>0</a:t>
            </a:r>
            <a:pPr indent="0" marL="0">
              <a:spcAft>
                <a:spcPts val="1400"/>
              </a:spcAft>
              <a:buNone/>
            </a:pPr>
            <a:r>
              <a:rPr lang="en-US" sz="2400" dirty="0">
                <a:solidFill>
                  <a:schemeClr val="tx1"/>
                </a:solidFill>
              </a:rPr>
              <a:t> + v T + v Δv / ( 2 √(a b) )</a:t>
            </a:r>
            <a:endParaRPr lang="en-US" sz="1400" dirty="0"/>
          </a:p>
        </p:txBody>
      </p:sp>
      <p:sp>
        <p:nvSpPr>
          <p:cNvPr id="9" name="IDM tile 1 card"/>
          <p:cNvSpPr/>
          <p:nvPr/>
        </p:nvSpPr>
        <p:spPr>
          <a:xfrm>
            <a:off x="548640" y="3840480"/>
            <a:ext cx="2103120" cy="1371600"/>
          </a:xfrm>
          <a:prstGeom prst="roundRect">
            <a:avLst>
              <a:gd name="adj" fmla="val 5333"/>
            </a:avLst>
          </a:prstGeom>
          <a:solidFill>
            <a:schemeClr val="bg2"/>
          </a:solidFill>
          <a:ln/>
        </p:spPr>
      </p:sp>
      <p:sp>
        <p:nvSpPr>
          <p:cNvPr id="10" name="IDM tile 1 value"/>
          <p:cNvSpPr txBox="1"/>
          <p:nvPr/>
        </p:nvSpPr>
        <p:spPr>
          <a:xfrm>
            <a:off x="731520" y="3950208"/>
            <a:ext cx="1737360" cy="685800"/>
          </a:xfrm>
          <a:prstGeom prst="rect">
            <a:avLst/>
          </a:prstGeom>
          <a:noFill/>
          <a:ln/>
        </p:spPr>
        <p:txBody>
          <a:bodyPr wrap="square" lIns="0" tIns="0" rIns="0" bIns="0" rtlCol="0" anchor="ctr"/>
          <a:lstStyle/>
          <a:p>
            <a:pPr indent="0" marL="0">
              <a:buNone/>
            </a:pPr>
            <a:r>
              <a:rPr lang="en-US" sz="2600" b="1" dirty="0">
                <a:solidFill>
                  <a:schemeClr val="tx1"/>
                </a:solidFill>
                <a:latin typeface="+mj-lt" pitchFamily="34" charset="0"/>
                <a:ea typeface="+mj-lt" pitchFamily="34" charset="-122"/>
                <a:cs typeface="+mj-lt" pitchFamily="34" charset="-120"/>
              </a:rPr>
              <a:t>13.9 m/s</a:t>
            </a:r>
            <a:endParaRPr lang="en-US" sz="2600" dirty="0"/>
          </a:p>
        </p:txBody>
      </p:sp>
      <p:sp>
        <p:nvSpPr>
          <p:cNvPr id="11" name="IDM tile 1 label"/>
          <p:cNvSpPr txBox="1"/>
          <p:nvPr/>
        </p:nvSpPr>
        <p:spPr>
          <a:xfrm>
            <a:off x="731520" y="4636008"/>
            <a:ext cx="1737360" cy="521208"/>
          </a:xfrm>
          <a:prstGeom prst="rect">
            <a:avLst/>
          </a:prstGeom>
          <a:noFill/>
          <a:ln/>
        </p:spPr>
        <p:txBody>
          <a:bodyPr wrap="square" lIns="0" tIns="0" rIns="0" bIns="0" rtlCol="0" anchor="t"/>
          <a:lstStyle/>
          <a:p>
            <a:pPr indent="0" marL="0">
              <a:buNone/>
            </a:pPr>
            <a:r>
              <a:rPr lang="en-US" sz="1400" dirty="0">
                <a:solidFill>
                  <a:schemeClr val="accent4"/>
                </a:solidFill>
              </a:rPr>
              <a:t>desired speed v₀</a:t>
            </a:r>
            <a:endParaRPr lang="en-US" sz="1400" dirty="0"/>
          </a:p>
        </p:txBody>
      </p:sp>
      <p:sp>
        <p:nvSpPr>
          <p:cNvPr id="12" name="IDM tile 2 card"/>
          <p:cNvSpPr/>
          <p:nvPr/>
        </p:nvSpPr>
        <p:spPr>
          <a:xfrm>
            <a:off x="2795778" y="3840480"/>
            <a:ext cx="2103120" cy="1371600"/>
          </a:xfrm>
          <a:prstGeom prst="roundRect">
            <a:avLst>
              <a:gd name="adj" fmla="val 5333"/>
            </a:avLst>
          </a:prstGeom>
          <a:solidFill>
            <a:schemeClr val="bg2"/>
          </a:solidFill>
          <a:ln/>
        </p:spPr>
      </p:sp>
      <p:sp>
        <p:nvSpPr>
          <p:cNvPr id="13" name="IDM tile 2 value"/>
          <p:cNvSpPr txBox="1"/>
          <p:nvPr/>
        </p:nvSpPr>
        <p:spPr>
          <a:xfrm>
            <a:off x="2978658" y="3950208"/>
            <a:ext cx="1737360" cy="685800"/>
          </a:xfrm>
          <a:prstGeom prst="rect">
            <a:avLst/>
          </a:prstGeom>
          <a:noFill/>
          <a:ln/>
        </p:spPr>
        <p:txBody>
          <a:bodyPr wrap="square" lIns="0" tIns="0" rIns="0" bIns="0" rtlCol="0" anchor="ctr"/>
          <a:lstStyle/>
          <a:p>
            <a:pPr indent="0" marL="0">
              <a:buNone/>
            </a:pPr>
            <a:r>
              <a:rPr lang="en-US" sz="2600" b="1" dirty="0">
                <a:solidFill>
                  <a:schemeClr val="tx1"/>
                </a:solidFill>
                <a:latin typeface="+mj-lt" pitchFamily="34" charset="0"/>
                <a:ea typeface="+mj-lt" pitchFamily="34" charset="-122"/>
                <a:cs typeface="+mj-lt" pitchFamily="34" charset="-120"/>
              </a:rPr>
              <a:t>1.5 s</a:t>
            </a:r>
            <a:endParaRPr lang="en-US" sz="2600" dirty="0"/>
          </a:p>
        </p:txBody>
      </p:sp>
      <p:sp>
        <p:nvSpPr>
          <p:cNvPr id="14" name="IDM tile 2 label"/>
          <p:cNvSpPr txBox="1"/>
          <p:nvPr/>
        </p:nvSpPr>
        <p:spPr>
          <a:xfrm>
            <a:off x="2978658" y="4636008"/>
            <a:ext cx="1737360" cy="521208"/>
          </a:xfrm>
          <a:prstGeom prst="rect">
            <a:avLst/>
          </a:prstGeom>
          <a:noFill/>
          <a:ln/>
        </p:spPr>
        <p:txBody>
          <a:bodyPr wrap="square" lIns="0" tIns="0" rIns="0" bIns="0" rtlCol="0" anchor="t"/>
          <a:lstStyle/>
          <a:p>
            <a:pPr indent="0" marL="0">
              <a:buNone/>
            </a:pPr>
            <a:r>
              <a:rPr lang="en-US" sz="1400" dirty="0">
                <a:solidFill>
                  <a:schemeClr val="accent4"/>
                </a:solidFill>
              </a:rPr>
              <a:t>time headway T</a:t>
            </a:r>
            <a:endParaRPr lang="en-US" sz="1400" dirty="0"/>
          </a:p>
        </p:txBody>
      </p:sp>
      <p:sp>
        <p:nvSpPr>
          <p:cNvPr id="15" name="IDM tile 3 card"/>
          <p:cNvSpPr/>
          <p:nvPr/>
        </p:nvSpPr>
        <p:spPr>
          <a:xfrm>
            <a:off x="5042916" y="3840480"/>
            <a:ext cx="2103120" cy="1371600"/>
          </a:xfrm>
          <a:prstGeom prst="roundRect">
            <a:avLst>
              <a:gd name="adj" fmla="val 5333"/>
            </a:avLst>
          </a:prstGeom>
          <a:solidFill>
            <a:schemeClr val="bg2"/>
          </a:solidFill>
          <a:ln/>
        </p:spPr>
      </p:sp>
      <p:sp>
        <p:nvSpPr>
          <p:cNvPr id="16" name="IDM tile 3 value"/>
          <p:cNvSpPr txBox="1"/>
          <p:nvPr/>
        </p:nvSpPr>
        <p:spPr>
          <a:xfrm>
            <a:off x="5225796" y="3950208"/>
            <a:ext cx="1737360" cy="685800"/>
          </a:xfrm>
          <a:prstGeom prst="rect">
            <a:avLst/>
          </a:prstGeom>
          <a:noFill/>
          <a:ln/>
        </p:spPr>
        <p:txBody>
          <a:bodyPr wrap="square" lIns="0" tIns="0" rIns="0" bIns="0" rtlCol="0" anchor="ctr"/>
          <a:lstStyle/>
          <a:p>
            <a:pPr indent="0" marL="0">
              <a:buNone/>
            </a:pPr>
            <a:r>
              <a:rPr lang="en-US" sz="2600" b="1" dirty="0">
                <a:solidFill>
                  <a:schemeClr val="tx1"/>
                </a:solidFill>
                <a:latin typeface="+mj-lt" pitchFamily="34" charset="0"/>
                <a:ea typeface="+mj-lt" pitchFamily="34" charset="-122"/>
                <a:cs typeface="+mj-lt" pitchFamily="34" charset="-120"/>
              </a:rPr>
              <a:t>1.5 m/s²</a:t>
            </a:r>
            <a:endParaRPr lang="en-US" sz="2600" dirty="0"/>
          </a:p>
        </p:txBody>
      </p:sp>
      <p:sp>
        <p:nvSpPr>
          <p:cNvPr id="17" name="IDM tile 3 label"/>
          <p:cNvSpPr txBox="1"/>
          <p:nvPr/>
        </p:nvSpPr>
        <p:spPr>
          <a:xfrm>
            <a:off x="5225796" y="4636008"/>
            <a:ext cx="1737360" cy="521208"/>
          </a:xfrm>
          <a:prstGeom prst="rect">
            <a:avLst/>
          </a:prstGeom>
          <a:noFill/>
          <a:ln/>
        </p:spPr>
        <p:txBody>
          <a:bodyPr wrap="square" lIns="0" tIns="0" rIns="0" bIns="0" rtlCol="0" anchor="t"/>
          <a:lstStyle/>
          <a:p>
            <a:pPr indent="0" marL="0">
              <a:buNone/>
            </a:pPr>
            <a:r>
              <a:rPr lang="en-US" sz="1400" dirty="0">
                <a:solidFill>
                  <a:schemeClr val="accent4"/>
                </a:solidFill>
              </a:rPr>
              <a:t>max acceleration a</a:t>
            </a:r>
            <a:endParaRPr lang="en-US" sz="1400" dirty="0"/>
          </a:p>
        </p:txBody>
      </p:sp>
      <p:sp>
        <p:nvSpPr>
          <p:cNvPr id="18" name="IDM tile 4 card"/>
          <p:cNvSpPr/>
          <p:nvPr/>
        </p:nvSpPr>
        <p:spPr>
          <a:xfrm>
            <a:off x="7290054" y="3840480"/>
            <a:ext cx="2103120" cy="1371600"/>
          </a:xfrm>
          <a:prstGeom prst="roundRect">
            <a:avLst>
              <a:gd name="adj" fmla="val 5333"/>
            </a:avLst>
          </a:prstGeom>
          <a:solidFill>
            <a:schemeClr val="bg2"/>
          </a:solidFill>
          <a:ln/>
        </p:spPr>
      </p:sp>
      <p:sp>
        <p:nvSpPr>
          <p:cNvPr id="19" name="IDM tile 4 value"/>
          <p:cNvSpPr txBox="1"/>
          <p:nvPr/>
        </p:nvSpPr>
        <p:spPr>
          <a:xfrm>
            <a:off x="7472934" y="3950208"/>
            <a:ext cx="1737360" cy="685800"/>
          </a:xfrm>
          <a:prstGeom prst="rect">
            <a:avLst/>
          </a:prstGeom>
          <a:noFill/>
          <a:ln/>
        </p:spPr>
        <p:txBody>
          <a:bodyPr wrap="square" lIns="0" tIns="0" rIns="0" bIns="0" rtlCol="0" anchor="ctr"/>
          <a:lstStyle/>
          <a:p>
            <a:pPr indent="0" marL="0">
              <a:buNone/>
            </a:pPr>
            <a:r>
              <a:rPr lang="en-US" sz="2600" b="1" dirty="0">
                <a:solidFill>
                  <a:schemeClr val="tx1"/>
                </a:solidFill>
                <a:latin typeface="+mj-lt" pitchFamily="34" charset="0"/>
                <a:ea typeface="+mj-lt" pitchFamily="34" charset="-122"/>
                <a:cs typeface="+mj-lt" pitchFamily="34" charset="-120"/>
              </a:rPr>
              <a:t>2.0 m/s²</a:t>
            </a:r>
            <a:endParaRPr lang="en-US" sz="2600" dirty="0"/>
          </a:p>
        </p:txBody>
      </p:sp>
      <p:sp>
        <p:nvSpPr>
          <p:cNvPr id="20" name="IDM tile 4 label"/>
          <p:cNvSpPr txBox="1"/>
          <p:nvPr/>
        </p:nvSpPr>
        <p:spPr>
          <a:xfrm>
            <a:off x="7472934" y="4636008"/>
            <a:ext cx="1737360" cy="521208"/>
          </a:xfrm>
          <a:prstGeom prst="rect">
            <a:avLst/>
          </a:prstGeom>
          <a:noFill/>
          <a:ln/>
        </p:spPr>
        <p:txBody>
          <a:bodyPr wrap="square" lIns="0" tIns="0" rIns="0" bIns="0" rtlCol="0" anchor="t"/>
          <a:lstStyle/>
          <a:p>
            <a:pPr indent="0" marL="0">
              <a:buNone/>
            </a:pPr>
            <a:r>
              <a:rPr lang="en-US" sz="1400" dirty="0">
                <a:solidFill>
                  <a:schemeClr val="accent4"/>
                </a:solidFill>
              </a:rPr>
              <a:t>comfortable braking b</a:t>
            </a:r>
            <a:endParaRPr lang="en-US" sz="1400" dirty="0"/>
          </a:p>
        </p:txBody>
      </p:sp>
      <p:sp>
        <p:nvSpPr>
          <p:cNvPr id="21" name="IDM tile 5 card"/>
          <p:cNvSpPr/>
          <p:nvPr/>
        </p:nvSpPr>
        <p:spPr>
          <a:xfrm>
            <a:off x="9537192" y="3840480"/>
            <a:ext cx="2103120" cy="1371600"/>
          </a:xfrm>
          <a:prstGeom prst="roundRect">
            <a:avLst>
              <a:gd name="adj" fmla="val 5333"/>
            </a:avLst>
          </a:prstGeom>
          <a:solidFill>
            <a:schemeClr val="bg2"/>
          </a:solidFill>
          <a:ln/>
        </p:spPr>
      </p:sp>
      <p:sp>
        <p:nvSpPr>
          <p:cNvPr id="22" name="IDM tile 5 value"/>
          <p:cNvSpPr txBox="1"/>
          <p:nvPr/>
        </p:nvSpPr>
        <p:spPr>
          <a:xfrm>
            <a:off x="9720072" y="3950208"/>
            <a:ext cx="1737360" cy="685800"/>
          </a:xfrm>
          <a:prstGeom prst="rect">
            <a:avLst/>
          </a:prstGeom>
          <a:noFill/>
          <a:ln/>
        </p:spPr>
        <p:txBody>
          <a:bodyPr wrap="square" lIns="0" tIns="0" rIns="0" bIns="0" rtlCol="0" anchor="ctr"/>
          <a:lstStyle/>
          <a:p>
            <a:pPr indent="0" marL="0">
              <a:buNone/>
            </a:pPr>
            <a:r>
              <a:rPr lang="en-US" sz="2600" b="1" dirty="0">
                <a:solidFill>
                  <a:schemeClr val="tx1"/>
                </a:solidFill>
                <a:latin typeface="+mj-lt" pitchFamily="34" charset="0"/>
                <a:ea typeface="+mj-lt" pitchFamily="34" charset="-122"/>
                <a:cs typeface="+mj-lt" pitchFamily="34" charset="-120"/>
              </a:rPr>
              <a:t>2 m</a:t>
            </a:r>
            <a:endParaRPr lang="en-US" sz="2600" dirty="0"/>
          </a:p>
        </p:txBody>
      </p:sp>
      <p:sp>
        <p:nvSpPr>
          <p:cNvPr id="23" name="IDM tile 5 label"/>
          <p:cNvSpPr txBox="1"/>
          <p:nvPr/>
        </p:nvSpPr>
        <p:spPr>
          <a:xfrm>
            <a:off x="9720072" y="4636008"/>
            <a:ext cx="1737360" cy="521208"/>
          </a:xfrm>
          <a:prstGeom prst="rect">
            <a:avLst/>
          </a:prstGeom>
          <a:noFill/>
          <a:ln/>
        </p:spPr>
        <p:txBody>
          <a:bodyPr wrap="square" lIns="0" tIns="0" rIns="0" bIns="0" rtlCol="0" anchor="t"/>
          <a:lstStyle/>
          <a:p>
            <a:pPr indent="0" marL="0">
              <a:buNone/>
            </a:pPr>
            <a:r>
              <a:rPr lang="en-US" sz="1400" dirty="0">
                <a:solidFill>
                  <a:schemeClr val="accent4"/>
                </a:solidFill>
              </a:rPr>
              <a:t>standstill gap s₀</a:t>
            </a:r>
            <a:endParaRPr lang="en-US" sz="1400" dirty="0"/>
          </a:p>
        </p:txBody>
      </p:sp>
      <p:sp>
        <p:nvSpPr>
          <p:cNvPr id="24" name="IDM note"/>
          <p:cNvSpPr txBox="1"/>
          <p:nvPr/>
        </p:nvSpPr>
        <p:spPr>
          <a:xfrm>
            <a:off x="548640" y="5440680"/>
            <a:ext cx="10972800" cy="320040"/>
          </a:xfrm>
          <a:prstGeom prst="rect">
            <a:avLst/>
          </a:prstGeom>
          <a:noFill/>
          <a:ln/>
        </p:spPr>
        <p:txBody>
          <a:bodyPr wrap="square" lIns="0" tIns="0" rIns="0" bIns="0" rtlCol="0" anchor="t"/>
          <a:lstStyle/>
          <a:p>
            <a:pPr indent="0" marL="0">
              <a:buNone/>
            </a:pPr>
            <a:r>
              <a:rPr lang="en-US" sz="1400" dirty="0">
                <a:solidFill>
                  <a:schemeClr val="accent4"/>
                </a:solidFill>
              </a:rPr>
              <a:t>Car 4.5 m long → 6.5 m per queued car, about 30 cars on a 200 m link. Saturation flow is emergent: 0.40 veh/s measured.</a:t>
            </a:r>
            <a:endParaRPr lang="en-US" sz="1400" dirty="0"/>
          </a:p>
        </p:txBody>
      </p:sp>
      <p:sp>
        <p:nvSpPr>
          <p:cNvPr id="25" name="IDM citation"/>
          <p:cNvSpPr txBox="1"/>
          <p:nvPr/>
        </p:nvSpPr>
        <p:spPr>
          <a:xfrm>
            <a:off x="548640" y="5852160"/>
            <a:ext cx="10972800" cy="274320"/>
          </a:xfrm>
          <a:prstGeom prst="rect">
            <a:avLst/>
          </a:prstGeom>
          <a:noFill/>
          <a:ln/>
        </p:spPr>
        <p:txBody>
          <a:bodyPr wrap="square" lIns="0" tIns="0" rIns="0" bIns="0" rtlCol="0" anchor="t"/>
          <a:lstStyle/>
          <a:p>
            <a:pPr indent="0" marL="0">
              <a:buNone/>
            </a:pPr>
            <a:r>
              <a:rPr lang="en-US" sz="1200" dirty="0">
                <a:solidFill>
                  <a:schemeClr val="accent5"/>
                </a:solidFill>
              </a:rPr>
              <a:t>Treiber, Hennecke &amp; Helbing (2000), Physical Review E 62(2), 1805–1824</a:t>
            </a:r>
            <a:endParaRPr lang="en-US" sz="12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7406640" cy="685800"/>
          </a:xfrm>
          <a:prstGeom prst="rect">
            <a:avLst/>
          </a:prstGeom>
          <a:noFill/>
          <a:ln/>
        </p:spPr>
        <p:txBody>
          <a:bodyPr wrap="square" lIns="0" tIns="0" rIns="0" bIns="0" rtlCol="0" anchor="ctr"/>
          <a:lstStyle/>
          <a:p>
            <a:pPr algn="l" indent="0" marL="0">
              <a:buNone/>
            </a:pPr>
            <a:r>
              <a:rPr lang="en-US" sz="3200" b="1" dirty="0">
                <a:solidFill>
                  <a:schemeClr val="tx1"/>
                </a:solidFill>
              </a:rPr>
              <a:t>Backup: Webster cycle length</a:t>
            </a:r>
            <a:endParaRPr lang="en-US" sz="3200" dirty="0"/>
          </a:p>
        </p:txBody>
      </p:sp>
      <p:sp>
        <p:nvSpPr>
          <p:cNvPr id="3" name="Message"/>
          <p:cNvSpPr txBox="1"/>
          <p:nvPr/>
        </p:nvSpPr>
        <p:spPr>
          <a:xfrm>
            <a:off x="548640" y="1005840"/>
            <a:ext cx="11091672" cy="411480"/>
          </a:xfrm>
          <a:prstGeom prst="rect">
            <a:avLst/>
          </a:prstGeom>
          <a:noFill/>
          <a:ln/>
        </p:spPr>
        <p:txBody>
          <a:bodyPr wrap="square" lIns="0" tIns="0" rIns="0" bIns="0" rtlCol="0" anchor="t"/>
          <a:lstStyle/>
          <a:p>
            <a:pPr indent="0" marL="0">
              <a:buNone/>
            </a:pPr>
            <a:r>
              <a:rPr lang="en-US" sz="1800" dirty="0">
                <a:solidFill>
                  <a:schemeClr val="accent5"/>
                </a:solidFill>
              </a:rPr>
              <a:t>Cycle length from forecast flows; greens from the QP</a:t>
            </a:r>
            <a:endParaRPr lang="en-US" sz="1800" dirty="0"/>
          </a:p>
        </p:txBody>
      </p:sp>
      <p:sp>
        <p:nvSpPr>
          <p:cNvPr id="4" name="Rubric tag"/>
          <p:cNvSpPr/>
          <p:nvPr/>
        </p:nvSpPr>
        <p:spPr>
          <a:xfrm>
            <a:off x="8074152" y="457200"/>
            <a:ext cx="3566160" cy="310896"/>
          </a:xfrm>
          <a:prstGeom prst="roundRect">
            <a:avLst>
              <a:gd name="adj" fmla="val 50000"/>
            </a:avLst>
          </a:prstGeom>
          <a:solidFill>
            <a:schemeClr val="bg2"/>
          </a:solidFill>
          <a:ln/>
        </p:spPr>
      </p:sp>
      <p:sp>
        <p:nvSpPr>
          <p:cNvPr id="5" name="Rubric tag text"/>
          <p:cNvSpPr txBox="1"/>
          <p:nvPr/>
        </p:nvSpPr>
        <p:spPr>
          <a:xfrm>
            <a:off x="8074152" y="457200"/>
            <a:ext cx="3566160" cy="310896"/>
          </a:xfrm>
          <a:prstGeom prst="rect">
            <a:avLst/>
          </a:prstGeom>
          <a:noFill/>
          <a:ln/>
        </p:spPr>
        <p:txBody>
          <a:bodyPr wrap="square" lIns="0" tIns="0" rIns="0" bIns="0" rtlCol="0" anchor="ctr"/>
          <a:lstStyle/>
          <a:p>
            <a:pPr algn="ctr" indent="0" marL="0">
              <a:buNone/>
            </a:pPr>
            <a:r>
              <a:rPr lang="en-US" sz="1100" dirty="0">
                <a:solidFill>
                  <a:schemeClr val="accent5"/>
                </a:solidFill>
              </a:rPr>
              <a:t>Backup</a:t>
            </a:r>
            <a:endParaRPr lang="en-US" sz="1100" dirty="0"/>
          </a:p>
        </p:txBody>
      </p:sp>
      <p:sp>
        <p:nvSpPr>
          <p:cNvPr id="7" name="Webster equation card"/>
          <p:cNvSpPr/>
          <p:nvPr/>
        </p:nvSpPr>
        <p:spPr>
          <a:xfrm>
            <a:off x="548640" y="1691640"/>
            <a:ext cx="11091672" cy="1463040"/>
          </a:xfrm>
          <a:prstGeom prst="roundRect">
            <a:avLst>
              <a:gd name="adj" fmla="val 5000"/>
            </a:avLst>
          </a:prstGeom>
          <a:solidFill>
            <a:schemeClr val="bg2"/>
          </a:solidFill>
          <a:ln/>
        </p:spPr>
      </p:sp>
      <p:sp>
        <p:nvSpPr>
          <p:cNvPr id="8" name="Webster equation"/>
          <p:cNvSpPr txBox="1"/>
          <p:nvPr/>
        </p:nvSpPr>
        <p:spPr>
          <a:xfrm>
            <a:off x="914400" y="1691640"/>
            <a:ext cx="6400800" cy="1463040"/>
          </a:xfrm>
          <a:prstGeom prst="rect">
            <a:avLst/>
          </a:prstGeom>
          <a:noFill/>
          <a:ln/>
        </p:spPr>
        <p:txBody>
          <a:bodyPr wrap="square" lIns="0" tIns="0" rIns="0" bIns="0" rtlCol="0" anchor="ctr"/>
          <a:lstStyle/>
          <a:p>
            <a:pPr indent="0" marL="0">
              <a:buNone/>
            </a:pPr>
            <a:r>
              <a:rPr lang="en-US" sz="3000" dirty="0">
                <a:solidFill>
                  <a:schemeClr val="tx1"/>
                </a:solidFill>
              </a:rPr>
              <a:t>C  =  (1.5 L + 5) / (1 − Y)</a:t>
            </a:r>
            <a:endParaRPr lang="en-US" sz="3000" dirty="0"/>
          </a:p>
        </p:txBody>
      </p:sp>
      <p:sp>
        <p:nvSpPr>
          <p:cNvPr id="9" name="Webster legend"/>
          <p:cNvSpPr txBox="1"/>
          <p:nvPr/>
        </p:nvSpPr>
        <p:spPr>
          <a:xfrm>
            <a:off x="6400800" y="1691640"/>
            <a:ext cx="5212080" cy="1463040"/>
          </a:xfrm>
          <a:prstGeom prst="rect">
            <a:avLst/>
          </a:prstGeom>
          <a:noFill/>
          <a:ln/>
        </p:spPr>
        <p:txBody>
          <a:bodyPr wrap="square" lIns="0" tIns="0" rIns="0" bIns="0" rtlCol="0" anchor="ctr"/>
          <a:lstStyle/>
          <a:p>
            <a:pPr indent="0" marL="0">
              <a:buNone/>
            </a:pPr>
            <a:r>
              <a:rPr lang="en-US" sz="1400" dirty="0">
                <a:solidFill>
                  <a:schemeClr val="accent4"/>
                </a:solidFill>
              </a:rPr>
              <a:t>L = total lost time per cycle,  Y = sum of critical flow ratios</a:t>
            </a:r>
            <a:endParaRPr lang="en-US" sz="1400" dirty="0"/>
          </a:p>
        </p:txBody>
      </p:sp>
      <p:sp>
        <p:nvSpPr>
          <p:cNvPr id="10" name="Webster tile clamp card"/>
          <p:cNvSpPr/>
          <p:nvPr/>
        </p:nvSpPr>
        <p:spPr>
          <a:xfrm>
            <a:off x="548640" y="3429000"/>
            <a:ext cx="3566160" cy="1645920"/>
          </a:xfrm>
          <a:prstGeom prst="roundRect">
            <a:avLst>
              <a:gd name="adj" fmla="val 4444"/>
            </a:avLst>
          </a:prstGeom>
          <a:solidFill>
            <a:schemeClr val="bg2"/>
          </a:solidFill>
          <a:ln/>
        </p:spPr>
      </p:sp>
      <p:sp>
        <p:nvSpPr>
          <p:cNvPr id="11" name="Webster tile clamp value"/>
          <p:cNvSpPr txBox="1"/>
          <p:nvPr/>
        </p:nvSpPr>
        <p:spPr>
          <a:xfrm>
            <a:off x="731520" y="3538728"/>
            <a:ext cx="3200400" cy="822960"/>
          </a:xfrm>
          <a:prstGeom prst="rect">
            <a:avLst/>
          </a:prstGeom>
          <a:noFill/>
          <a:ln/>
        </p:spPr>
        <p:txBody>
          <a:bodyPr wrap="square" lIns="0" tIns="0" rIns="0" bIns="0" rtlCol="0" anchor="ctr"/>
          <a:lstStyle/>
          <a:p>
            <a:pPr indent="0" marL="0">
              <a:buNone/>
            </a:pPr>
            <a:r>
              <a:rPr lang="en-US" sz="3000" b="1" dirty="0">
                <a:solidFill>
                  <a:schemeClr val="tx1"/>
                </a:solidFill>
                <a:latin typeface="+mj-lt" pitchFamily="34" charset="0"/>
                <a:ea typeface="+mj-lt" pitchFamily="34" charset="-122"/>
                <a:cs typeface="+mj-lt" pitchFamily="34" charset="-120"/>
              </a:rPr>
              <a:t>40–120 s</a:t>
            </a:r>
            <a:endParaRPr lang="en-US" sz="3000" dirty="0"/>
          </a:p>
        </p:txBody>
      </p:sp>
      <p:sp>
        <p:nvSpPr>
          <p:cNvPr id="12" name="Webster tile clamp label"/>
          <p:cNvSpPr txBox="1"/>
          <p:nvPr/>
        </p:nvSpPr>
        <p:spPr>
          <a:xfrm>
            <a:off x="731520" y="4383634"/>
            <a:ext cx="3200400" cy="625450"/>
          </a:xfrm>
          <a:prstGeom prst="rect">
            <a:avLst/>
          </a:prstGeom>
          <a:noFill/>
          <a:ln/>
        </p:spPr>
        <p:txBody>
          <a:bodyPr wrap="square" lIns="0" tIns="0" rIns="0" bIns="0" rtlCol="0" anchor="t"/>
          <a:lstStyle/>
          <a:p>
            <a:pPr indent="0" marL="0">
              <a:buNone/>
            </a:pPr>
            <a:r>
              <a:rPr lang="en-US" sz="1400" dirty="0">
                <a:solidFill>
                  <a:schemeClr val="accent4"/>
                </a:solidFill>
              </a:rPr>
              <a:t>cycle clamp</a:t>
            </a:r>
            <a:endParaRPr lang="en-US" sz="1400" dirty="0"/>
          </a:p>
        </p:txBody>
      </p:sp>
      <p:sp>
        <p:nvSpPr>
          <p:cNvPr id="13" name="Webster tile round card"/>
          <p:cNvSpPr/>
          <p:nvPr/>
        </p:nvSpPr>
        <p:spPr>
          <a:xfrm>
            <a:off x="4311396" y="3429000"/>
            <a:ext cx="3566160" cy="1645920"/>
          </a:xfrm>
          <a:prstGeom prst="roundRect">
            <a:avLst>
              <a:gd name="adj" fmla="val 4444"/>
            </a:avLst>
          </a:prstGeom>
          <a:solidFill>
            <a:schemeClr val="bg2"/>
          </a:solidFill>
          <a:ln/>
        </p:spPr>
      </p:sp>
      <p:sp>
        <p:nvSpPr>
          <p:cNvPr id="14" name="Webster tile round value"/>
          <p:cNvSpPr txBox="1"/>
          <p:nvPr/>
        </p:nvSpPr>
        <p:spPr>
          <a:xfrm>
            <a:off x="4494276" y="3538728"/>
            <a:ext cx="3200400" cy="822960"/>
          </a:xfrm>
          <a:prstGeom prst="rect">
            <a:avLst/>
          </a:prstGeom>
          <a:noFill/>
          <a:ln/>
        </p:spPr>
        <p:txBody>
          <a:bodyPr wrap="square" lIns="0" tIns="0" rIns="0" bIns="0" rtlCol="0" anchor="ctr"/>
          <a:lstStyle/>
          <a:p>
            <a:pPr indent="0" marL="0">
              <a:buNone/>
            </a:pPr>
            <a:r>
              <a:rPr lang="en-US" sz="3000" b="1" dirty="0">
                <a:solidFill>
                  <a:schemeClr val="tx1"/>
                </a:solidFill>
                <a:latin typeface="+mj-lt" pitchFamily="34" charset="0"/>
                <a:ea typeface="+mj-lt" pitchFamily="34" charset="-122"/>
                <a:cs typeface="+mj-lt" pitchFamily="34" charset="-120"/>
              </a:rPr>
              <a:t>5 s</a:t>
            </a:r>
            <a:endParaRPr lang="en-US" sz="3000" dirty="0"/>
          </a:p>
        </p:txBody>
      </p:sp>
      <p:sp>
        <p:nvSpPr>
          <p:cNvPr id="15" name="Webster tile round label"/>
          <p:cNvSpPr txBox="1"/>
          <p:nvPr/>
        </p:nvSpPr>
        <p:spPr>
          <a:xfrm>
            <a:off x="4494276" y="4383634"/>
            <a:ext cx="3200400" cy="625450"/>
          </a:xfrm>
          <a:prstGeom prst="rect">
            <a:avLst/>
          </a:prstGeom>
          <a:noFill/>
          <a:ln/>
        </p:spPr>
        <p:txBody>
          <a:bodyPr wrap="square" lIns="0" tIns="0" rIns="0" bIns="0" rtlCol="0" anchor="t"/>
          <a:lstStyle/>
          <a:p>
            <a:pPr indent="0" marL="0">
              <a:buNone/>
            </a:pPr>
            <a:r>
              <a:rPr lang="en-US" sz="1400" dirty="0">
                <a:solidFill>
                  <a:schemeClr val="accent4"/>
                </a:solidFill>
              </a:rPr>
              <a:t>rounding of the cycle</a:t>
            </a:r>
            <a:endParaRPr lang="en-US" sz="1400" dirty="0"/>
          </a:p>
        </p:txBody>
      </p:sp>
      <p:sp>
        <p:nvSpPr>
          <p:cNvPr id="16" name="Webster tile lost card"/>
          <p:cNvSpPr/>
          <p:nvPr/>
        </p:nvSpPr>
        <p:spPr>
          <a:xfrm>
            <a:off x="8074152" y="3429000"/>
            <a:ext cx="3566160" cy="1645920"/>
          </a:xfrm>
          <a:prstGeom prst="roundRect">
            <a:avLst>
              <a:gd name="adj" fmla="val 4444"/>
            </a:avLst>
          </a:prstGeom>
          <a:solidFill>
            <a:schemeClr val="bg2"/>
          </a:solidFill>
          <a:ln/>
        </p:spPr>
      </p:sp>
      <p:sp>
        <p:nvSpPr>
          <p:cNvPr id="17" name="Webster tile lost value"/>
          <p:cNvSpPr txBox="1"/>
          <p:nvPr/>
        </p:nvSpPr>
        <p:spPr>
          <a:xfrm>
            <a:off x="8257032" y="3538728"/>
            <a:ext cx="3200400" cy="822960"/>
          </a:xfrm>
          <a:prstGeom prst="rect">
            <a:avLst/>
          </a:prstGeom>
          <a:noFill/>
          <a:ln/>
        </p:spPr>
        <p:txBody>
          <a:bodyPr wrap="square" lIns="0" tIns="0" rIns="0" bIns="0" rtlCol="0" anchor="ctr"/>
          <a:lstStyle/>
          <a:p>
            <a:pPr indent="0" marL="0">
              <a:buNone/>
            </a:pPr>
            <a:r>
              <a:rPr lang="en-US" sz="3000" b="1" dirty="0">
                <a:solidFill>
                  <a:schemeClr val="tx1"/>
                </a:solidFill>
                <a:latin typeface="+mj-lt" pitchFamily="34" charset="0"/>
                <a:ea typeface="+mj-lt" pitchFamily="34" charset="-122"/>
                <a:cs typeface="+mj-lt" pitchFamily="34" charset="-120"/>
              </a:rPr>
              <a:t>4 s</a:t>
            </a:r>
            <a:endParaRPr lang="en-US" sz="3000" dirty="0"/>
          </a:p>
        </p:txBody>
      </p:sp>
      <p:sp>
        <p:nvSpPr>
          <p:cNvPr id="18" name="Webster tile lost label"/>
          <p:cNvSpPr txBox="1"/>
          <p:nvPr/>
        </p:nvSpPr>
        <p:spPr>
          <a:xfrm>
            <a:off x="8257032" y="4383634"/>
            <a:ext cx="3200400" cy="625450"/>
          </a:xfrm>
          <a:prstGeom prst="rect">
            <a:avLst/>
          </a:prstGeom>
          <a:noFill/>
          <a:ln/>
        </p:spPr>
        <p:txBody>
          <a:bodyPr wrap="square" lIns="0" tIns="0" rIns="0" bIns="0" rtlCol="0" anchor="t"/>
          <a:lstStyle/>
          <a:p>
            <a:pPr indent="0" marL="0">
              <a:buNone/>
            </a:pPr>
            <a:r>
              <a:rPr lang="en-US" sz="1400" dirty="0">
                <a:solidFill>
                  <a:schemeClr val="accent4"/>
                </a:solidFill>
              </a:rPr>
              <a:t>lost time per switch</a:t>
            </a:r>
            <a:endParaRPr lang="en-US" sz="1400" dirty="0"/>
          </a:p>
        </p:txBody>
      </p:sp>
      <p:sp>
        <p:nvSpPr>
          <p:cNvPr id="19" name="Webster note"/>
          <p:cNvSpPr txBox="1"/>
          <p:nvPr/>
        </p:nvSpPr>
        <p:spPr>
          <a:xfrm>
            <a:off x="548640" y="5303520"/>
            <a:ext cx="11064240" cy="548640"/>
          </a:xfrm>
          <a:prstGeom prst="rect">
            <a:avLst/>
          </a:prstGeom>
          <a:noFill/>
          <a:ln/>
        </p:spPr>
        <p:txBody>
          <a:bodyPr wrap="square" lIns="0" tIns="0" rIns="0" bIns="0" rtlCol="0" anchor="t"/>
          <a:lstStyle/>
          <a:p>
            <a:pPr indent="0" marL="0">
              <a:buNone/>
            </a:pPr>
            <a:r>
              <a:rPr lang="en-US" sz="1400" dirty="0">
                <a:solidFill>
                  <a:schemeClr val="accent4"/>
                </a:solidFill>
              </a:rPr>
              <a:t>Executed as green durations: switch when time in phase reaches C × share − lost time. Gap-out ends an empty green early.</a:t>
            </a:r>
            <a:endParaRPr lang="en-US" sz="1400" dirty="0"/>
          </a:p>
        </p:txBody>
      </p:sp>
      <p:sp>
        <p:nvSpPr>
          <p:cNvPr id="20" name="Webster citation"/>
          <p:cNvSpPr txBox="1"/>
          <p:nvPr/>
        </p:nvSpPr>
        <p:spPr>
          <a:xfrm>
            <a:off x="548640" y="5852160"/>
            <a:ext cx="10972800" cy="274320"/>
          </a:xfrm>
          <a:prstGeom prst="rect">
            <a:avLst/>
          </a:prstGeom>
          <a:noFill/>
          <a:ln/>
        </p:spPr>
        <p:txBody>
          <a:bodyPr wrap="square" lIns="0" tIns="0" rIns="0" bIns="0" rtlCol="0" anchor="t"/>
          <a:lstStyle/>
          <a:p>
            <a:pPr indent="0" marL="0">
              <a:buNone/>
            </a:pPr>
            <a:r>
              <a:rPr lang="en-US" sz="1200" dirty="0">
                <a:solidFill>
                  <a:schemeClr val="accent5"/>
                </a:solidFill>
              </a:rPr>
              <a:t>Webster (1958), Traffic Signal Settings, Road Research Technical Paper No. 39, HMSO</a:t>
            </a:r>
            <a:endParaRPr lang="en-US" sz="12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7406640" cy="685800"/>
          </a:xfrm>
          <a:prstGeom prst="rect">
            <a:avLst/>
          </a:prstGeom>
          <a:noFill/>
          <a:ln/>
        </p:spPr>
        <p:txBody>
          <a:bodyPr wrap="square" lIns="0" tIns="0" rIns="0" bIns="0" rtlCol="0" anchor="ctr"/>
          <a:lstStyle/>
          <a:p>
            <a:pPr algn="l" indent="0" marL="0">
              <a:buNone/>
            </a:pPr>
            <a:r>
              <a:rPr lang="en-US" sz="3200" b="1" dirty="0">
                <a:solidFill>
                  <a:schemeClr val="tx1"/>
                </a:solidFill>
              </a:rPr>
              <a:t>Backup: the censoring guard</a:t>
            </a:r>
            <a:endParaRPr lang="en-US" sz="3200" dirty="0"/>
          </a:p>
        </p:txBody>
      </p:sp>
      <p:sp>
        <p:nvSpPr>
          <p:cNvPr id="3" name="Message"/>
          <p:cNvSpPr txBox="1"/>
          <p:nvPr/>
        </p:nvSpPr>
        <p:spPr>
          <a:xfrm>
            <a:off x="548640" y="1005840"/>
            <a:ext cx="11091672" cy="411480"/>
          </a:xfrm>
          <a:prstGeom prst="rect">
            <a:avLst/>
          </a:prstGeom>
          <a:noFill/>
          <a:ln/>
        </p:spPr>
        <p:txBody>
          <a:bodyPr wrap="square" lIns="0" tIns="0" rIns="0" bIns="0" rtlCol="0" anchor="t"/>
          <a:lstStyle/>
          <a:p>
            <a:pPr indent="0" marL="0">
              <a:buNone/>
            </a:pPr>
            <a:r>
              <a:rPr lang="en-US" sz="1800" dirty="0">
                <a:solidFill>
                  <a:schemeClr val="accent5"/>
                </a:solidFill>
              </a:rPr>
              <a:t>When a road is full, sensors report the blockage, not demand</a:t>
            </a:r>
            <a:endParaRPr lang="en-US" sz="1800" dirty="0"/>
          </a:p>
        </p:txBody>
      </p:sp>
      <p:sp>
        <p:nvSpPr>
          <p:cNvPr id="4" name="Rubric tag"/>
          <p:cNvSpPr/>
          <p:nvPr/>
        </p:nvSpPr>
        <p:spPr>
          <a:xfrm>
            <a:off x="8074152" y="457200"/>
            <a:ext cx="3566160" cy="310896"/>
          </a:xfrm>
          <a:prstGeom prst="roundRect">
            <a:avLst>
              <a:gd name="adj" fmla="val 50000"/>
            </a:avLst>
          </a:prstGeom>
          <a:solidFill>
            <a:schemeClr val="bg2"/>
          </a:solidFill>
          <a:ln/>
        </p:spPr>
      </p:sp>
      <p:sp>
        <p:nvSpPr>
          <p:cNvPr id="5" name="Rubric tag text"/>
          <p:cNvSpPr txBox="1"/>
          <p:nvPr/>
        </p:nvSpPr>
        <p:spPr>
          <a:xfrm>
            <a:off x="8074152" y="457200"/>
            <a:ext cx="3566160" cy="310896"/>
          </a:xfrm>
          <a:prstGeom prst="rect">
            <a:avLst/>
          </a:prstGeom>
          <a:noFill/>
          <a:ln/>
        </p:spPr>
        <p:txBody>
          <a:bodyPr wrap="square" lIns="0" tIns="0" rIns="0" bIns="0" rtlCol="0" anchor="ctr"/>
          <a:lstStyle/>
          <a:p>
            <a:pPr algn="ctr" indent="0" marL="0">
              <a:buNone/>
            </a:pPr>
            <a:r>
              <a:rPr lang="en-US" sz="1100" dirty="0">
                <a:solidFill>
                  <a:schemeClr val="accent5"/>
                </a:solidFill>
              </a:rPr>
              <a:t>Backup</a:t>
            </a:r>
            <a:endParaRPr lang="en-US" sz="1100" dirty="0"/>
          </a:p>
        </p:txBody>
      </p:sp>
      <p:sp>
        <p:nvSpPr>
          <p:cNvPr id="7" name="Guard input"/>
          <p:cNvSpPr/>
          <p:nvPr/>
        </p:nvSpPr>
        <p:spPr>
          <a:xfrm>
            <a:off x="548640" y="2240280"/>
            <a:ext cx="2926080" cy="1188720"/>
          </a:xfrm>
          <a:prstGeom prst="roundRect">
            <a:avLst>
              <a:gd name="adj" fmla="val 7692"/>
            </a:avLst>
          </a:prstGeom>
          <a:solidFill>
            <a:schemeClr val="bg2"/>
          </a:solidFill>
          <a:ln/>
        </p:spPr>
      </p:sp>
      <p:sp>
        <p:nvSpPr>
          <p:cNvPr id="8" name="Guard input text"/>
          <p:cNvSpPr txBox="1"/>
          <p:nvPr/>
        </p:nvSpPr>
        <p:spPr>
          <a:xfrm>
            <a:off x="685800" y="2240280"/>
            <a:ext cx="2651760" cy="1188720"/>
          </a:xfrm>
          <a:prstGeom prst="rect">
            <a:avLst/>
          </a:prstGeom>
          <a:noFill/>
          <a:ln/>
        </p:spPr>
        <p:txBody>
          <a:bodyPr wrap="square" lIns="0" tIns="0" rIns="0" bIns="0" rtlCol="0" anchor="ctr"/>
          <a:lstStyle/>
          <a:p>
            <a:pPr algn="ctr" indent="0" marL="0">
              <a:buNone/>
            </a:pPr>
            <a:r>
              <a:rPr lang="en-US" sz="1800" b="1" dirty="0">
                <a:solidFill>
                  <a:schemeClr val="tx1"/>
                </a:solidFill>
              </a:rPr>
              <a:t>Entry road occupancy</a:t>
            </a:r>
            <a:endParaRPr lang="en-US" sz="1400" dirty="0"/>
          </a:p>
          <a:p>
            <a:pPr algn="ctr" indent="0" marL="0">
              <a:buNone/>
            </a:pPr>
            <a:r>
              <a:rPr lang="en-US" sz="1400" dirty="0">
                <a:solidFill>
                  <a:schemeClr val="accent4"/>
                </a:solidFill>
              </a:rPr>
              <a:t>any road ≥ 55 cars? (capacity ≈ 61)</a:t>
            </a:r>
            <a:endParaRPr lang="en-US" sz="1400" dirty="0"/>
          </a:p>
        </p:txBody>
      </p:sp>
      <p:sp>
        <p:nvSpPr>
          <p:cNvPr id="9" name="Guard branch Yes: fallback"/>
          <p:cNvSpPr/>
          <p:nvPr/>
        </p:nvSpPr>
        <p:spPr>
          <a:xfrm>
            <a:off x="5394960" y="1645920"/>
            <a:ext cx="6217920" cy="1143000"/>
          </a:xfrm>
          <a:prstGeom prst="roundRect">
            <a:avLst>
              <a:gd name="adj" fmla="val 8000"/>
            </a:avLst>
          </a:prstGeom>
          <a:solidFill>
            <a:schemeClr val="bg2"/>
          </a:solidFill>
          <a:ln/>
        </p:spPr>
      </p:sp>
      <p:sp>
        <p:nvSpPr>
          <p:cNvPr id="10" name="Guard branch text Yes: fallback"/>
          <p:cNvSpPr txBox="1"/>
          <p:nvPr/>
        </p:nvSpPr>
        <p:spPr>
          <a:xfrm>
            <a:off x="5623560" y="1645920"/>
            <a:ext cx="5760720" cy="1143000"/>
          </a:xfrm>
          <a:prstGeom prst="rect">
            <a:avLst/>
          </a:prstGeom>
          <a:noFill/>
          <a:ln/>
        </p:spPr>
        <p:txBody>
          <a:bodyPr wrap="square" lIns="0" tIns="0" rIns="0" bIns="0" rtlCol="0" anchor="ctr"/>
          <a:lstStyle/>
          <a:p>
            <a:pPr indent="0" marL="0">
              <a:buNone/>
            </a:pPr>
            <a:r>
              <a:rPr lang="en-US" sz="1800" b="1" dirty="0">
                <a:solidFill>
                  <a:schemeClr val="tx1"/>
                </a:solidFill>
              </a:rPr>
              <a:t>Yes: fallback</a:t>
            </a:r>
            <a:endParaRPr lang="en-US" sz="1400" dirty="0"/>
          </a:p>
          <a:p>
            <a:pPr indent="0" marL="0">
              <a:buNone/>
            </a:pPr>
            <a:r>
              <a:rPr lang="en-US" sz="1400" dirty="0">
                <a:solidFill>
                  <a:schemeClr val="accent4"/>
                </a:solidFill>
              </a:rPr>
              <a:t>profile × multiplier from uncensored data only</a:t>
            </a:r>
            <a:endParaRPr lang="en-US" sz="1400" dirty="0"/>
          </a:p>
        </p:txBody>
      </p:sp>
      <p:sp>
        <p:nvSpPr>
          <p:cNvPr id="11" name="Guard branch No: live model"/>
          <p:cNvSpPr/>
          <p:nvPr/>
        </p:nvSpPr>
        <p:spPr>
          <a:xfrm>
            <a:off x="5394960" y="3108960"/>
            <a:ext cx="6217920" cy="1143000"/>
          </a:xfrm>
          <a:prstGeom prst="roundRect">
            <a:avLst>
              <a:gd name="adj" fmla="val 8000"/>
            </a:avLst>
          </a:prstGeom>
          <a:solidFill>
            <a:schemeClr val="accent1"/>
          </a:solidFill>
          <a:ln/>
        </p:spPr>
      </p:sp>
      <p:sp>
        <p:nvSpPr>
          <p:cNvPr id="12" name="Guard branch text No: live model"/>
          <p:cNvSpPr txBox="1"/>
          <p:nvPr/>
        </p:nvSpPr>
        <p:spPr>
          <a:xfrm>
            <a:off x="5623560" y="3108960"/>
            <a:ext cx="5760720" cy="1143000"/>
          </a:xfrm>
          <a:prstGeom prst="rect">
            <a:avLst/>
          </a:prstGeom>
          <a:noFill/>
          <a:ln/>
        </p:spPr>
        <p:txBody>
          <a:bodyPr wrap="square" lIns="0" tIns="0" rIns="0" bIns="0" rtlCol="0" anchor="ctr"/>
          <a:lstStyle/>
          <a:p>
            <a:pPr indent="0" marL="0">
              <a:buNone/>
            </a:pPr>
            <a:r>
              <a:rPr lang="en-US" sz="1800" b="1" dirty="0">
                <a:solidFill>
                  <a:schemeClr val="tx1"/>
                </a:solidFill>
              </a:rPr>
              <a:t>No: live model</a:t>
            </a:r>
            <a:endParaRPr lang="en-US" sz="1400" dirty="0"/>
          </a:p>
          <a:p>
            <a:pPr indent="0" marL="0">
              <a:buNone/>
            </a:pPr>
            <a:r>
              <a:rPr lang="en-US" sz="1400" dirty="0">
                <a:solidFill>
                  <a:schemeClr val="tx1"/>
                </a:solidFill>
              </a:rPr>
              <a:t>Poisson GLM on recent sensor counts</a:t>
            </a:r>
            <a:endParaRPr lang="en-US" sz="1400" dirty="0"/>
          </a:p>
        </p:txBody>
      </p:sp>
      <p:sp>
        <p:nvSpPr>
          <p:cNvPr id="13" name="Arrow yes"/>
          <p:cNvSpPr/>
          <p:nvPr/>
        </p:nvSpPr>
        <p:spPr>
          <a:xfrm flipV="1">
            <a:off x="3520440" y="2217420"/>
            <a:ext cx="1828800" cy="617220"/>
          </a:xfrm>
          <a:prstGeom prst="line">
            <a:avLst/>
          </a:prstGeom>
          <a:noFill/>
          <a:ln w="25400">
            <a:solidFill>
              <a:srgbClr val="3E4C59"/>
            </a:solidFill>
            <a:prstDash val="solid"/>
            <a:tailEnd type="triangle"/>
          </a:ln>
        </p:spPr>
      </p:sp>
      <p:sp>
        <p:nvSpPr>
          <p:cNvPr id="14" name="Arrow no"/>
          <p:cNvSpPr/>
          <p:nvPr/>
        </p:nvSpPr>
        <p:spPr>
          <a:xfrm>
            <a:off x="3520440" y="2834640"/>
            <a:ext cx="1828800" cy="845820"/>
          </a:xfrm>
          <a:prstGeom prst="line">
            <a:avLst/>
          </a:prstGeom>
          <a:noFill/>
          <a:ln w="25400">
            <a:solidFill>
              <a:srgbClr val="3E4C59"/>
            </a:solidFill>
            <a:prstDash val="solid"/>
            <a:tailEnd type="triangle"/>
          </a:ln>
        </p:spPr>
      </p:sp>
      <p:sp>
        <p:nvSpPr>
          <p:cNvPr id="15" name="Guard tile 1 card"/>
          <p:cNvSpPr/>
          <p:nvPr/>
        </p:nvSpPr>
        <p:spPr>
          <a:xfrm>
            <a:off x="548640" y="4572000"/>
            <a:ext cx="3566160" cy="1463040"/>
          </a:xfrm>
          <a:prstGeom prst="roundRect">
            <a:avLst>
              <a:gd name="adj" fmla="val 5000"/>
            </a:avLst>
          </a:prstGeom>
          <a:solidFill>
            <a:schemeClr val="bg2"/>
          </a:solidFill>
          <a:ln/>
        </p:spPr>
      </p:sp>
      <p:sp>
        <p:nvSpPr>
          <p:cNvPr id="16" name="Guard tile 1 value"/>
          <p:cNvSpPr txBox="1"/>
          <p:nvPr/>
        </p:nvSpPr>
        <p:spPr>
          <a:xfrm>
            <a:off x="731520" y="4681728"/>
            <a:ext cx="3200400" cy="731520"/>
          </a:xfrm>
          <a:prstGeom prst="rect">
            <a:avLst/>
          </a:prstGeom>
          <a:noFill/>
          <a:ln/>
        </p:spPr>
        <p:txBody>
          <a:bodyPr wrap="square" lIns="0" tIns="0" rIns="0" bIns="0" rtlCol="0" anchor="ctr"/>
          <a:lstStyle/>
          <a:p>
            <a:pPr indent="0" marL="0">
              <a:buNone/>
            </a:pPr>
            <a:r>
              <a:rPr lang="en-US" sz="2800" b="1" dirty="0">
                <a:solidFill>
                  <a:schemeClr val="tx1"/>
                </a:solidFill>
                <a:latin typeface="+mj-lt" pitchFamily="34" charset="0"/>
                <a:ea typeface="+mj-lt" pitchFamily="34" charset="-122"/>
                <a:cs typeface="+mj-lt" pitchFamily="34" charset="-120"/>
              </a:rPr>
              <a:t>6.6–6.8%</a:t>
            </a:r>
            <a:endParaRPr lang="en-US" sz="2800" dirty="0"/>
          </a:p>
        </p:txBody>
      </p:sp>
      <p:sp>
        <p:nvSpPr>
          <p:cNvPr id="17" name="Guard tile 1 label"/>
          <p:cNvSpPr txBox="1"/>
          <p:nvPr/>
        </p:nvSpPr>
        <p:spPr>
          <a:xfrm>
            <a:off x="731520" y="5420563"/>
            <a:ext cx="3200400" cy="555955"/>
          </a:xfrm>
          <a:prstGeom prst="rect">
            <a:avLst/>
          </a:prstGeom>
          <a:noFill/>
          <a:ln/>
        </p:spPr>
        <p:txBody>
          <a:bodyPr wrap="square" lIns="0" tIns="0" rIns="0" bIns="0" rtlCol="0" anchor="t"/>
          <a:lstStyle/>
          <a:p>
            <a:pPr indent="0" marL="0">
              <a:buNone/>
            </a:pPr>
            <a:r>
              <a:rPr lang="en-US" sz="1400" dirty="0">
                <a:solidFill>
                  <a:schemeClr val="accent4"/>
                </a:solidFill>
              </a:rPr>
              <a:t>guarded error, 10 fresh days</a:t>
            </a:r>
            <a:endParaRPr lang="en-US" sz="1400" dirty="0"/>
          </a:p>
        </p:txBody>
      </p:sp>
      <p:sp>
        <p:nvSpPr>
          <p:cNvPr id="18" name="Guard tile 2 card"/>
          <p:cNvSpPr/>
          <p:nvPr/>
        </p:nvSpPr>
        <p:spPr>
          <a:xfrm>
            <a:off x="4311396" y="4572000"/>
            <a:ext cx="3566160" cy="1463040"/>
          </a:xfrm>
          <a:prstGeom prst="roundRect">
            <a:avLst>
              <a:gd name="adj" fmla="val 5000"/>
            </a:avLst>
          </a:prstGeom>
          <a:solidFill>
            <a:schemeClr val="bg2"/>
          </a:solidFill>
          <a:ln/>
        </p:spPr>
      </p:sp>
      <p:sp>
        <p:nvSpPr>
          <p:cNvPr id="19" name="Guard tile 2 value"/>
          <p:cNvSpPr txBox="1"/>
          <p:nvPr/>
        </p:nvSpPr>
        <p:spPr>
          <a:xfrm>
            <a:off x="4494276" y="4681728"/>
            <a:ext cx="3200400" cy="731520"/>
          </a:xfrm>
          <a:prstGeom prst="rect">
            <a:avLst/>
          </a:prstGeom>
          <a:noFill/>
          <a:ln/>
        </p:spPr>
        <p:txBody>
          <a:bodyPr wrap="square" lIns="0" tIns="0" rIns="0" bIns="0" rtlCol="0" anchor="ctr"/>
          <a:lstStyle/>
          <a:p>
            <a:pPr indent="0" marL="0">
              <a:buNone/>
            </a:pPr>
            <a:r>
              <a:rPr lang="en-US" sz="2800" b="1" dirty="0">
                <a:solidFill>
                  <a:schemeClr val="tx1"/>
                </a:solidFill>
                <a:latin typeface="+mj-lt" pitchFamily="34" charset="0"/>
                <a:ea typeface="+mj-lt" pitchFamily="34" charset="-122"/>
                <a:cs typeface="+mj-lt" pitchFamily="34" charset="-120"/>
              </a:rPr>
              <a:t>8.4–8.5%</a:t>
            </a:r>
            <a:endParaRPr lang="en-US" sz="2800" dirty="0"/>
          </a:p>
        </p:txBody>
      </p:sp>
      <p:sp>
        <p:nvSpPr>
          <p:cNvPr id="20" name="Guard tile 2 label"/>
          <p:cNvSpPr txBox="1"/>
          <p:nvPr/>
        </p:nvSpPr>
        <p:spPr>
          <a:xfrm>
            <a:off x="4494276" y="5420563"/>
            <a:ext cx="3200400" cy="555955"/>
          </a:xfrm>
          <a:prstGeom prst="rect">
            <a:avLst/>
          </a:prstGeom>
          <a:noFill/>
          <a:ln/>
        </p:spPr>
        <p:txBody>
          <a:bodyPr wrap="square" lIns="0" tIns="0" rIns="0" bIns="0" rtlCol="0" anchor="t"/>
          <a:lstStyle/>
          <a:p>
            <a:pPr indent="0" marL="0">
              <a:buNone/>
            </a:pPr>
            <a:r>
              <a:rPr lang="en-US" sz="1400" dirty="0">
                <a:solidFill>
                  <a:schemeClr val="accent4"/>
                </a:solidFill>
              </a:rPr>
              <a:t>unguarded error, 10 fresh days</a:t>
            </a:r>
            <a:endParaRPr lang="en-US" sz="1400" dirty="0"/>
          </a:p>
        </p:txBody>
      </p:sp>
      <p:sp>
        <p:nvSpPr>
          <p:cNvPr id="21" name="Guard tile 3 card"/>
          <p:cNvSpPr/>
          <p:nvPr/>
        </p:nvSpPr>
        <p:spPr>
          <a:xfrm>
            <a:off x="8074152" y="4572000"/>
            <a:ext cx="3566160" cy="1463040"/>
          </a:xfrm>
          <a:prstGeom prst="roundRect">
            <a:avLst>
              <a:gd name="adj" fmla="val 5000"/>
            </a:avLst>
          </a:prstGeom>
          <a:solidFill>
            <a:schemeClr val="bg2"/>
          </a:solidFill>
          <a:ln/>
        </p:spPr>
      </p:sp>
      <p:sp>
        <p:nvSpPr>
          <p:cNvPr id="22" name="Guard tile 3 value"/>
          <p:cNvSpPr txBox="1"/>
          <p:nvPr/>
        </p:nvSpPr>
        <p:spPr>
          <a:xfrm>
            <a:off x="8257032" y="4681728"/>
            <a:ext cx="3200400" cy="731520"/>
          </a:xfrm>
          <a:prstGeom prst="rect">
            <a:avLst/>
          </a:prstGeom>
          <a:noFill/>
          <a:ln/>
        </p:spPr>
        <p:txBody>
          <a:bodyPr wrap="square" lIns="0" tIns="0" rIns="0" bIns="0" rtlCol="0" anchor="ctr"/>
          <a:lstStyle/>
          <a:p>
            <a:pPr indent="0" marL="0">
              <a:buNone/>
            </a:pPr>
            <a:r>
              <a:rPr lang="en-US" sz="2800" b="1" dirty="0">
                <a:solidFill>
                  <a:schemeClr val="tx1"/>
                </a:solidFill>
                <a:latin typeface="+mj-lt" pitchFamily="34" charset="0"/>
                <a:ea typeface="+mj-lt" pitchFamily="34" charset="-122"/>
                <a:cs typeface="+mj-lt" pitchFamily="34" charset="-120"/>
              </a:rPr>
              <a:t>Day 51</a:t>
            </a:r>
            <a:endParaRPr lang="en-US" sz="2800" dirty="0"/>
          </a:p>
        </p:txBody>
      </p:sp>
      <p:sp>
        <p:nvSpPr>
          <p:cNvPr id="23" name="Guard tile 3 label"/>
          <p:cNvSpPr txBox="1"/>
          <p:nvPr/>
        </p:nvSpPr>
        <p:spPr>
          <a:xfrm>
            <a:off x="8257032" y="5420563"/>
            <a:ext cx="3200400" cy="555955"/>
          </a:xfrm>
          <a:prstGeom prst="rect">
            <a:avLst/>
          </a:prstGeom>
          <a:noFill/>
          <a:ln/>
        </p:spPr>
        <p:txBody>
          <a:bodyPr wrap="square" lIns="0" tIns="0" rIns="0" bIns="0" rtlCol="0" anchor="t"/>
          <a:lstStyle/>
          <a:p>
            <a:pPr indent="0" marL="0">
              <a:buNone/>
            </a:pPr>
            <a:r>
              <a:rPr lang="en-US" sz="1400" dirty="0">
                <a:solidFill>
                  <a:schemeClr val="accent4"/>
                </a:solidFill>
              </a:rPr>
              <a:t>gridlock: every learned model collapsed</a:t>
            </a:r>
            <a:endParaRPr lang="en-US" sz="14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7406640" cy="685800"/>
          </a:xfrm>
          <a:prstGeom prst="rect">
            <a:avLst/>
          </a:prstGeom>
          <a:noFill/>
          <a:ln/>
        </p:spPr>
        <p:txBody>
          <a:bodyPr wrap="square" lIns="0" tIns="0" rIns="0" bIns="0" rtlCol="0" anchor="ctr"/>
          <a:lstStyle/>
          <a:p>
            <a:pPr algn="l" indent="0" marL="0">
              <a:buNone/>
            </a:pPr>
            <a:r>
              <a:rPr lang="en-US" sz="3200" b="1" dirty="0">
                <a:solidFill>
                  <a:schemeClr val="tx1"/>
                </a:solidFill>
              </a:rPr>
              <a:t>Backup: seed conventions</a:t>
            </a:r>
            <a:endParaRPr lang="en-US" sz="3200" dirty="0"/>
          </a:p>
        </p:txBody>
      </p:sp>
      <p:sp>
        <p:nvSpPr>
          <p:cNvPr id="3" name="Message"/>
          <p:cNvSpPr txBox="1"/>
          <p:nvPr/>
        </p:nvSpPr>
        <p:spPr>
          <a:xfrm>
            <a:off x="548640" y="1005840"/>
            <a:ext cx="11091672" cy="411480"/>
          </a:xfrm>
          <a:prstGeom prst="rect">
            <a:avLst/>
          </a:prstGeom>
          <a:noFill/>
          <a:ln/>
        </p:spPr>
        <p:txBody>
          <a:bodyPr wrap="square" lIns="0" tIns="0" rIns="0" bIns="0" rtlCol="0" anchor="t"/>
          <a:lstStyle/>
          <a:p>
            <a:pPr indent="0" marL="0">
              <a:buNone/>
            </a:pPr>
            <a:r>
              <a:rPr lang="en-US" sz="1800" dirty="0">
                <a:solidFill>
                  <a:schemeClr val="accent5"/>
                </a:solidFill>
              </a:rPr>
              <a:t>Separate seeds for tuning, evaluation, demo and training</a:t>
            </a:r>
            <a:endParaRPr lang="en-US" sz="1800" dirty="0"/>
          </a:p>
        </p:txBody>
      </p:sp>
      <p:sp>
        <p:nvSpPr>
          <p:cNvPr id="4" name="Rubric tag"/>
          <p:cNvSpPr/>
          <p:nvPr/>
        </p:nvSpPr>
        <p:spPr>
          <a:xfrm>
            <a:off x="8074152" y="457200"/>
            <a:ext cx="3566160" cy="310896"/>
          </a:xfrm>
          <a:prstGeom prst="roundRect">
            <a:avLst>
              <a:gd name="adj" fmla="val 50000"/>
            </a:avLst>
          </a:prstGeom>
          <a:solidFill>
            <a:schemeClr val="bg2"/>
          </a:solidFill>
          <a:ln/>
        </p:spPr>
      </p:sp>
      <p:sp>
        <p:nvSpPr>
          <p:cNvPr id="5" name="Rubric tag text"/>
          <p:cNvSpPr txBox="1"/>
          <p:nvPr/>
        </p:nvSpPr>
        <p:spPr>
          <a:xfrm>
            <a:off x="8074152" y="457200"/>
            <a:ext cx="3566160" cy="310896"/>
          </a:xfrm>
          <a:prstGeom prst="rect">
            <a:avLst/>
          </a:prstGeom>
          <a:noFill/>
          <a:ln/>
        </p:spPr>
        <p:txBody>
          <a:bodyPr wrap="square" lIns="0" tIns="0" rIns="0" bIns="0" rtlCol="0" anchor="ctr"/>
          <a:lstStyle/>
          <a:p>
            <a:pPr algn="ctr" indent="0" marL="0">
              <a:buNone/>
            </a:pPr>
            <a:r>
              <a:rPr lang="en-US" sz="1100" dirty="0">
                <a:solidFill>
                  <a:schemeClr val="accent5"/>
                </a:solidFill>
              </a:rPr>
              <a:t>Backup</a:t>
            </a:r>
            <a:endParaRPr lang="en-US" sz="1100" dirty="0"/>
          </a:p>
        </p:txBody>
      </p:sp>
      <p:graphicFrame>
        <p:nvGraphicFramePr>
          <p:cNvPr id="22" name="Seed 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3017520"/>
                <a:gridCol w="1554480"/>
                <a:gridCol w="6519672"/>
              </a:tblGrid>
              <a:tr h="411480">
                <a:tc>
                  <a:txBody>
                    <a:bodyPr/>
                    <a:lstStyle/>
                    <a:p>
                      <a:pPr algn="l" indent="0" marL="0">
                        <a:buNone/>
                      </a:pPr>
                      <a:r>
                        <a:rPr lang="en-US" sz="1200" b="1" dirty="0">
                          <a:solidFill>
                            <a:schemeClr val="bg1"/>
                          </a:solidFill>
                        </a:rPr>
                        <a:t>Purpose</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Seeds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tx2"/>
                    </a:solidFill>
                  </a:tcPr>
                </a:tc>
                <a:tc>
                  <a:txBody>
                    <a:bodyPr/>
                    <a:lstStyle/>
                    <a:p>
                      <a:pPr algn="l" indent="0" marL="0">
                        <a:buNone/>
                      </a:pPr>
                      <a:r>
                        <a:rPr lang="en-US" sz="1200" b="1" dirty="0">
                          <a:solidFill>
                            <a:schemeClr val="bg1"/>
                          </a:solidFill>
                        </a:rPr>
                        <a:t>Notes</a:t>
                      </a:r>
                      <a:endParaRPr lang="en-US" sz="12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solidFill>
                      <a:schemeClr val="tx2"/>
                    </a:solidFill>
                  </a:tcPr>
                </a:tc>
              </a:tr>
              <a:tr h="640080">
                <a:tc>
                  <a:txBody>
                    <a:bodyPr/>
                    <a:lstStyle/>
                    <a:p>
                      <a:pPr indent="0" marL="0">
                        <a:buNone/>
                      </a:pPr>
                      <a:r>
                        <a:rPr lang="en-US" sz="1400" b="1" dirty="0">
                          <a:solidFill>
                            <a:schemeClr val="tx1"/>
                          </a:solidFill>
                        </a:rPr>
                        <a:t>Tuning</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400" dirty="0">
                          <a:solidFill>
                            <a:schemeClr val="tx1"/>
                          </a:solidFill>
                        </a:rPr>
                        <a:t>100–104</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indent="0" marL="0">
                        <a:buNone/>
                      </a:pPr>
                      <a:r>
                        <a:rPr lang="en-US" sz="1400" dirty="0">
                          <a:solidFill>
                            <a:schemeClr val="tx1"/>
                          </a:solidFill>
                        </a:rPr>
                        <a:t>Baselines tuned on 100–103; optimiser sweep on tuning seeds</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r>
              <a:tr h="640080">
                <a:tc>
                  <a:txBody>
                    <a:bodyPr/>
                    <a:lstStyle/>
                    <a:p>
                      <a:pPr indent="0" marL="0">
                        <a:buNone/>
                      </a:pPr>
                      <a:r>
                        <a:rPr lang="en-US" sz="1400" b="1" dirty="0">
                          <a:solidFill>
                            <a:schemeClr val="tx1"/>
                          </a:solidFill>
                        </a:rPr>
                        <a:t>Held-out evaluation</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400" dirty="0">
                          <a:solidFill>
                            <a:schemeClr val="tx1"/>
                          </a:solidFill>
                        </a:rPr>
                        <a:t>200–202</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indent="0" marL="0">
                        <a:buNone/>
                      </a:pPr>
                      <a:r>
                        <a:rPr lang="en-US" sz="1400" dirty="0">
                          <a:solidFill>
                            <a:schemeClr val="tx1"/>
                          </a:solidFill>
                        </a:rPr>
                        <a:t>Accident and typical morning also 203–209</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r>
              <a:tr h="640080">
                <a:tc>
                  <a:txBody>
                    <a:bodyPr/>
                    <a:lstStyle/>
                    <a:p>
                      <a:pPr indent="0" marL="0">
                        <a:buNone/>
                      </a:pPr>
                      <a:r>
                        <a:rPr lang="en-US" sz="1400" b="1" dirty="0">
                          <a:solidFill>
                            <a:schemeClr val="tx1"/>
                          </a:solidFill>
                        </a:rPr>
                        <a:t>Demo clips</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400" dirty="0">
                          <a:solidFill>
                            <a:schemeClr val="tx1"/>
                          </a:solidFill>
                        </a:rPr>
                        <a:t>300</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indent="0" marL="0">
                        <a:buNone/>
                      </a:pPr>
                      <a:r>
                        <a:rPr lang="en-US" sz="1400" dirty="0">
                          <a:solidFill>
                            <a:schemeClr val="tx1"/>
                          </a:solidFill>
                        </a:rPr>
                        <a:t>Window chosen by rule: worst quarter-hour of the fixed plan</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r>
              <a:tr h="640080">
                <a:tc>
                  <a:txBody>
                    <a:bodyPr/>
                    <a:lstStyle/>
                    <a:p>
                      <a:pPr indent="0" marL="0">
                        <a:buNone/>
                      </a:pPr>
                      <a:r>
                        <a:rPr lang="en-US" sz="1400" b="1" dirty="0">
                          <a:solidFill>
                            <a:schemeClr val="tx1"/>
                          </a:solidFill>
                        </a:rPr>
                        <a:t>Forecaster training days</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400" dirty="0">
                          <a:solidFill>
                            <a:schemeClr val="tx1"/>
                          </a:solidFill>
                        </a:rPr>
                        <a:t>0–59</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indent="0" marL="0">
                        <a:buNone/>
                      </a:pPr>
                      <a:r>
                        <a:rPr lang="en-US" sz="1400" dirty="0">
                          <a:solidFill>
                            <a:schemeClr val="tx1"/>
                          </a:solidFill>
                        </a:rPr>
                        <a:t>Fresh days from 5000 never used for any decision</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r>
              <a:tr h="640080">
                <a:tc>
                  <a:txBody>
                    <a:bodyPr/>
                    <a:lstStyle/>
                    <a:p>
                      <a:pPr indent="0" marL="0">
                        <a:buNone/>
                      </a:pPr>
                      <a:r>
                        <a:rPr lang="en-US" sz="1400" b="1" dirty="0">
                          <a:solidFill>
                            <a:schemeClr val="tx1"/>
                          </a:solidFill>
                        </a:rPr>
                        <a:t>Old steady-state comparison</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algn="ctr" indent="0" marL="0">
                        <a:buNone/>
                      </a:pPr>
                      <a:r>
                        <a:rPr lang="en-US" sz="1400" dirty="0">
                          <a:solidFill>
                            <a:schemeClr val="tx1"/>
                          </a:solidFill>
                        </a:rPr>
                        <a:t>0–19</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c>
                  <a:txBody>
                    <a:bodyPr/>
                    <a:lstStyle/>
                    <a:p>
                      <a:pPr indent="0" marL="0">
                        <a:buNone/>
                      </a:pPr>
                      <a:r>
                        <a:rPr lang="en-US" sz="1400" dirty="0">
                          <a:solidFill>
                            <a:schemeClr val="tx1"/>
                          </a:solidFill>
                        </a:rPr>
                        <a:t>Shares seeds with forecaster history; not used for headline claims</a:t>
                      </a:r>
                      <a:endParaRPr lang="en-US" sz="1400" dirty="0"/>
                    </a:p>
                  </a:txBody>
                  <a:tcPr marL="91440" marR="91440" marT="45720" marB="45720" anchor="ctr">
                    <a:lnL w="0" cap="flat" cmpd="sng" algn="ctr">
                      <a:noFill/>
                    </a:lnL>
                    <a:lnR w="0" cap="flat" cmpd="sng" algn="ctr">
                      <a:noFill/>
                    </a:lnR>
                    <a:lnT w="0" cap="flat" cmpd="sng" algn="ctr">
                      <a:noFill/>
                    </a:lnT>
                    <a:lnB w="9525" cap="flat" cmpd="sng" algn="ctr">
                      <a:solidFill>
                        <a:srgbClr val="D9DEE3"/>
                      </a:solidFill>
                      <a:prstDash val="solid"/>
                      <a:round/>
                      <a:headEnd type="none" w="med" len="med"/>
                      <a:tailEnd type="none" w="med" len="med"/>
                    </a:lnB>
                  </a:tcPr>
                </a:tc>
              </a:tr>
            </a:tbl>
          </a:graphicData>
        </a:graphic>
      </p:graphicFrame>
      <p:sp>
        <p:nvSpPr>
          <p:cNvPr id="8" name="Seed note"/>
          <p:cNvSpPr txBox="1"/>
          <p:nvPr/>
        </p:nvSpPr>
        <p:spPr>
          <a:xfrm>
            <a:off x="548640" y="5394960"/>
            <a:ext cx="10972800" cy="365760"/>
          </a:xfrm>
          <a:prstGeom prst="rect">
            <a:avLst/>
          </a:prstGeom>
          <a:noFill/>
          <a:ln/>
        </p:spPr>
        <p:txBody>
          <a:bodyPr wrap="square" lIns="0" tIns="0" rIns="0" bIns="0" rtlCol="0" anchor="t"/>
          <a:lstStyle/>
          <a:p>
            <a:pPr indent="0" marL="0">
              <a:buNone/>
            </a:pPr>
            <a:r>
              <a:rPr lang="en-US" sz="1600" b="1" dirty="0">
                <a:solidFill>
                  <a:schemeClr val="tx1"/>
                </a:solidFill>
              </a:rPr>
              <a:t>Same scenario + same seed = identical demand for every controller (common random numbers).</a:t>
            </a:r>
            <a:endParaRPr lang="en-US" sz="16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7406640" cy="685800"/>
          </a:xfrm>
          <a:prstGeom prst="rect">
            <a:avLst/>
          </a:prstGeom>
          <a:noFill/>
          <a:ln/>
        </p:spPr>
        <p:txBody>
          <a:bodyPr wrap="square" lIns="0" tIns="0" rIns="0" bIns="0" rtlCol="0" anchor="ctr"/>
          <a:lstStyle/>
          <a:p>
            <a:pPr algn="l" indent="0" marL="0">
              <a:buNone/>
            </a:pPr>
            <a:r>
              <a:rPr lang="en-US" sz="3200" b="1" dirty="0">
                <a:solidFill>
                  <a:schemeClr val="tx1"/>
                </a:solidFill>
              </a:rPr>
              <a:t>Backup: how baselines were tuned</a:t>
            </a:r>
            <a:endParaRPr lang="en-US" sz="3200" dirty="0"/>
          </a:p>
        </p:txBody>
      </p:sp>
      <p:sp>
        <p:nvSpPr>
          <p:cNvPr id="3" name="Message"/>
          <p:cNvSpPr txBox="1"/>
          <p:nvPr/>
        </p:nvSpPr>
        <p:spPr>
          <a:xfrm>
            <a:off x="548640" y="1005840"/>
            <a:ext cx="11091672" cy="411480"/>
          </a:xfrm>
          <a:prstGeom prst="rect">
            <a:avLst/>
          </a:prstGeom>
          <a:noFill/>
          <a:ln/>
        </p:spPr>
        <p:txBody>
          <a:bodyPr wrap="square" lIns="0" tIns="0" rIns="0" bIns="0" rtlCol="0" anchor="t"/>
          <a:lstStyle/>
          <a:p>
            <a:pPr indent="0" marL="0">
              <a:buNone/>
            </a:pPr>
            <a:r>
              <a:rPr lang="en-US" sz="1800" dirty="0">
                <a:solidFill>
                  <a:schemeClr val="accent5"/>
                </a:solidFill>
              </a:rPr>
              <a:t>Tuned on nominal days only, then applied unchanged</a:t>
            </a:r>
            <a:endParaRPr lang="en-US" sz="1800" dirty="0"/>
          </a:p>
        </p:txBody>
      </p:sp>
      <p:sp>
        <p:nvSpPr>
          <p:cNvPr id="4" name="Rubric tag"/>
          <p:cNvSpPr/>
          <p:nvPr/>
        </p:nvSpPr>
        <p:spPr>
          <a:xfrm>
            <a:off x="8074152" y="457200"/>
            <a:ext cx="3566160" cy="310896"/>
          </a:xfrm>
          <a:prstGeom prst="roundRect">
            <a:avLst>
              <a:gd name="adj" fmla="val 50000"/>
            </a:avLst>
          </a:prstGeom>
          <a:solidFill>
            <a:schemeClr val="bg2"/>
          </a:solidFill>
          <a:ln/>
        </p:spPr>
      </p:sp>
      <p:sp>
        <p:nvSpPr>
          <p:cNvPr id="5" name="Rubric tag text"/>
          <p:cNvSpPr txBox="1"/>
          <p:nvPr/>
        </p:nvSpPr>
        <p:spPr>
          <a:xfrm>
            <a:off x="8074152" y="457200"/>
            <a:ext cx="3566160" cy="310896"/>
          </a:xfrm>
          <a:prstGeom prst="rect">
            <a:avLst/>
          </a:prstGeom>
          <a:noFill/>
          <a:ln/>
        </p:spPr>
        <p:txBody>
          <a:bodyPr wrap="square" lIns="0" tIns="0" rIns="0" bIns="0" rtlCol="0" anchor="ctr"/>
          <a:lstStyle/>
          <a:p>
            <a:pPr algn="ctr" indent="0" marL="0">
              <a:buNone/>
            </a:pPr>
            <a:r>
              <a:rPr lang="en-US" sz="1100" dirty="0">
                <a:solidFill>
                  <a:schemeClr val="accent5"/>
                </a:solidFill>
              </a:rPr>
              <a:t>Backup</a:t>
            </a:r>
            <a:endParaRPr lang="en-US" sz="1100" dirty="0"/>
          </a:p>
        </p:txBody>
      </p:sp>
      <p:sp>
        <p:nvSpPr>
          <p:cNvPr id="7" name="Baselines card"/>
          <p:cNvSpPr/>
          <p:nvPr/>
        </p:nvSpPr>
        <p:spPr>
          <a:xfrm>
            <a:off x="548640" y="1691640"/>
            <a:ext cx="5440680" cy="4114800"/>
          </a:xfrm>
          <a:prstGeom prst="roundRect">
            <a:avLst>
              <a:gd name="adj" fmla="val 1778"/>
            </a:avLst>
          </a:prstGeom>
          <a:solidFill>
            <a:schemeClr val="bg2"/>
          </a:solidFill>
          <a:ln/>
        </p:spPr>
      </p:sp>
      <p:sp>
        <p:nvSpPr>
          <p:cNvPr id="8" name="Baselines title"/>
          <p:cNvSpPr txBox="1"/>
          <p:nvPr/>
        </p:nvSpPr>
        <p:spPr>
          <a:xfrm>
            <a:off x="822960" y="1828800"/>
            <a:ext cx="4846320" cy="36576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Baselines</a:t>
            </a:r>
            <a:endParaRPr lang="en-US" sz="2000" dirty="0"/>
          </a:p>
        </p:txBody>
      </p:sp>
      <p:sp>
        <p:nvSpPr>
          <p:cNvPr id="9" name="Baselines list"/>
          <p:cNvSpPr txBox="1"/>
          <p:nvPr/>
        </p:nvSpPr>
        <p:spPr>
          <a:xfrm>
            <a:off x="822960" y="2377440"/>
            <a:ext cx="4846320" cy="182880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chemeClr val="tx1"/>
                </a:solidFill>
              </a:rPr>
              <a:t>Fixed 60 s plan, untuned</a:t>
            </a:r>
            <a:endParaRPr lang="en-US" sz="1400" dirty="0"/>
          </a:p>
          <a:p>
            <a:pPr marL="203200" indent="-203200">
              <a:spcAft>
                <a:spcPts val="800"/>
              </a:spcAft>
              <a:buSzPct val="100000"/>
              <a:buChar char="•"/>
            </a:pPr>
            <a:r>
              <a:rPr lang="en-US" sz="1600" dirty="0">
                <a:solidFill>
                  <a:schemeClr val="tx1"/>
                </a:solidFill>
              </a:rPr>
              <a:t>Fixed cycle, tuned on the typical morning</a:t>
            </a:r>
            <a:endParaRPr lang="en-US" sz="1400" dirty="0"/>
          </a:p>
          <a:p>
            <a:pPr marL="203200" indent="-203200">
              <a:spcAft>
                <a:spcPts val="800"/>
              </a:spcAft>
              <a:buSzPct val="100000"/>
              <a:buChar char="•"/>
            </a:pPr>
            <a:r>
              <a:rPr lang="en-US" sz="1600" dirty="0">
                <a:solidFill>
                  <a:schemeClr val="tx1"/>
                </a:solidFill>
              </a:rPr>
              <a:t>Time-of-day plan, two bands</a:t>
            </a:r>
            <a:endParaRPr lang="en-US" sz="1400" dirty="0"/>
          </a:p>
          <a:p>
            <a:pPr marL="203200" indent="-203200">
              <a:spcAft>
                <a:spcPts val="800"/>
              </a:spcAft>
              <a:buSzPct val="100000"/>
              <a:buChar char="•"/>
            </a:pPr>
            <a:r>
              <a:rPr lang="en-US" sz="1600" dirty="0">
                <a:solidFill>
                  <a:schemeClr val="tx1"/>
                </a:solidFill>
              </a:rPr>
              <a:t>Max-pressure</a:t>
            </a:r>
            <a:endParaRPr lang="en-US" sz="1400" dirty="0"/>
          </a:p>
        </p:txBody>
      </p:sp>
      <p:sp>
        <p:nvSpPr>
          <p:cNvPr id="10" name="Baselines note"/>
          <p:cNvSpPr txBox="1"/>
          <p:nvPr/>
        </p:nvSpPr>
        <p:spPr>
          <a:xfrm>
            <a:off x="822960" y="4114800"/>
            <a:ext cx="4846320" cy="1554480"/>
          </a:xfrm>
          <a:prstGeom prst="rect">
            <a:avLst/>
          </a:prstGeom>
          <a:noFill/>
          <a:ln/>
        </p:spPr>
        <p:txBody>
          <a:bodyPr wrap="square" lIns="0" tIns="0" rIns="0" bIns="0" rtlCol="0" anchor="t"/>
          <a:lstStyle/>
          <a:p>
            <a:pPr indent="0" marL="0">
              <a:buNone/>
            </a:pPr>
            <a:r>
              <a:rPr lang="en-US" sz="1400" dirty="0">
                <a:solidFill>
                  <a:schemeClr val="accent4"/>
                </a:solidFill>
              </a:rPr>
              <a:t>Tuned on nominal days only (seeds 100–103), applied unchanged to disturbed scenarios. Cycle capped at 180 s, max-pressure hold at 40 s; several tuned values sit at the caps.</a:t>
            </a:r>
            <a:endParaRPr lang="en-US" sz="1400" dirty="0"/>
          </a:p>
        </p:txBody>
      </p:sp>
      <p:sp>
        <p:nvSpPr>
          <p:cNvPr id="11" name="Sweep card"/>
          <p:cNvSpPr/>
          <p:nvPr/>
        </p:nvSpPr>
        <p:spPr>
          <a:xfrm>
            <a:off x="6199632" y="1691640"/>
            <a:ext cx="5440680" cy="4114800"/>
          </a:xfrm>
          <a:prstGeom prst="roundRect">
            <a:avLst>
              <a:gd name="adj" fmla="val 1778"/>
            </a:avLst>
          </a:prstGeom>
          <a:solidFill>
            <a:schemeClr val="bg2"/>
          </a:solidFill>
          <a:ln/>
        </p:spPr>
      </p:sp>
      <p:sp>
        <p:nvSpPr>
          <p:cNvPr id="12" name="Sweep title"/>
          <p:cNvSpPr txBox="1"/>
          <p:nvPr/>
        </p:nvSpPr>
        <p:spPr>
          <a:xfrm>
            <a:off x="6473952" y="1828800"/>
            <a:ext cx="4846320" cy="36576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Optimiser sweep</a:t>
            </a:r>
            <a:endParaRPr lang="en-US" sz="2000" dirty="0"/>
          </a:p>
        </p:txBody>
      </p:sp>
      <p:sp>
        <p:nvSpPr>
          <p:cNvPr id="13" name="Sweep list"/>
          <p:cNvSpPr txBox="1"/>
          <p:nvPr/>
        </p:nvSpPr>
        <p:spPr>
          <a:xfrm>
            <a:off x="6473952" y="2377440"/>
            <a:ext cx="4846320" cy="219456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chemeClr val="tx1"/>
                </a:solidFill>
              </a:rPr>
              <a:t>24 random configurations</a:t>
            </a:r>
            <a:endParaRPr lang="en-US" sz="1400" dirty="0"/>
          </a:p>
          <a:p>
            <a:pPr marL="203200" indent="-203200">
              <a:spcAft>
                <a:spcPts val="800"/>
              </a:spcAft>
              <a:buSzPct val="100000"/>
              <a:buChar char="•"/>
            </a:pPr>
            <a:r>
              <a:rPr lang="en-US" sz="1600" dirty="0">
                <a:solidFill>
                  <a:schemeClr val="tx1"/>
                </a:solidFill>
              </a:rPr>
              <a:t>Look-ahead, decision interval, cycle bounds, five weights</a:t>
            </a:r>
            <a:endParaRPr lang="en-US" sz="1400" dirty="0"/>
          </a:p>
          <a:p>
            <a:pPr marL="203200" indent="-203200">
              <a:spcAft>
                <a:spcPts val="800"/>
              </a:spcAft>
              <a:buSzPct val="100000"/>
              <a:buChar char="•"/>
            </a:pPr>
            <a:r>
              <a:rPr lang="en-US" sz="1600" dirty="0">
                <a:solidFill>
                  <a:schemeClr val="tx1"/>
                </a:solidFill>
              </a:rPr>
              <a:t>Scored on typical morning and evening, tuning seeds</a:t>
            </a:r>
            <a:endParaRPr lang="en-US" sz="1400" dirty="0"/>
          </a:p>
          <a:p>
            <a:pPr marL="203200" indent="-203200">
              <a:spcAft>
                <a:spcPts val="800"/>
              </a:spcAft>
              <a:buSzPct val="100000"/>
              <a:buChar char="•"/>
            </a:pPr>
            <a:r>
              <a:rPr lang="en-US" sz="1600" dirty="0">
                <a:solidFill>
                  <a:schemeClr val="tx1"/>
                </a:solidFill>
              </a:rPr>
              <a:t>Top three within noise</a:t>
            </a:r>
            <a:endParaRPr lang="en-US" sz="1400" dirty="0"/>
          </a:p>
        </p:txBody>
      </p:sp>
      <p:sp>
        <p:nvSpPr>
          <p:cNvPr id="14" name="Sweep tile card"/>
          <p:cNvSpPr/>
          <p:nvPr/>
        </p:nvSpPr>
        <p:spPr>
          <a:xfrm>
            <a:off x="6473952" y="4434840"/>
            <a:ext cx="4892040" cy="1188720"/>
          </a:xfrm>
          <a:prstGeom prst="roundRect">
            <a:avLst>
              <a:gd name="adj" fmla="val 6154"/>
            </a:avLst>
          </a:prstGeom>
          <a:solidFill>
            <a:schemeClr val="accent6"/>
          </a:solidFill>
          <a:ln/>
        </p:spPr>
      </p:sp>
      <p:sp>
        <p:nvSpPr>
          <p:cNvPr id="15" name="Sweep tile value"/>
          <p:cNvSpPr txBox="1"/>
          <p:nvPr/>
        </p:nvSpPr>
        <p:spPr>
          <a:xfrm>
            <a:off x="6656832" y="4544568"/>
            <a:ext cx="4526280" cy="594360"/>
          </a:xfrm>
          <a:prstGeom prst="rect">
            <a:avLst/>
          </a:prstGeom>
          <a:noFill/>
          <a:ln/>
        </p:spPr>
        <p:txBody>
          <a:bodyPr wrap="square" lIns="0" tIns="0" rIns="0" bIns="0" rtlCol="0" anchor="ctr"/>
          <a:lstStyle/>
          <a:p>
            <a:pPr indent="0" marL="0">
              <a:buNone/>
            </a:pPr>
            <a:r>
              <a:rPr lang="en-US" sz="2400" b="1" dirty="0">
                <a:solidFill>
                  <a:schemeClr val="tx1"/>
                </a:solidFill>
                <a:latin typeface="+mj-lt" pitchFamily="34" charset="0"/>
                <a:ea typeface="+mj-lt" pitchFamily="34" charset="-122"/>
                <a:cs typeface="+mj-lt" pitchFamily="34" charset="-120"/>
              </a:rPr>
              <a:t>84.7 s</a:t>
            </a:r>
            <a:endParaRPr lang="en-US" sz="2400" dirty="0"/>
          </a:p>
        </p:txBody>
      </p:sp>
      <p:sp>
        <p:nvSpPr>
          <p:cNvPr id="16" name="Sweep tile label"/>
          <p:cNvSpPr txBox="1"/>
          <p:nvPr/>
        </p:nvSpPr>
        <p:spPr>
          <a:xfrm>
            <a:off x="6656832" y="5124298"/>
            <a:ext cx="4526280" cy="451714"/>
          </a:xfrm>
          <a:prstGeom prst="rect">
            <a:avLst/>
          </a:prstGeom>
          <a:noFill/>
          <a:ln/>
        </p:spPr>
        <p:txBody>
          <a:bodyPr wrap="square" lIns="0" tIns="0" rIns="0" bIns="0" rtlCol="0" anchor="t"/>
          <a:lstStyle/>
          <a:p>
            <a:pPr indent="0" marL="0">
              <a:buNone/>
            </a:pPr>
            <a:r>
              <a:rPr lang="en-US" sz="1400" dirty="0">
                <a:solidFill>
                  <a:schemeClr val="accent4"/>
                </a:solidFill>
              </a:rPr>
              <a:t>defaults on confirmation seeds, vs 86.3 and 87.1 s</a:t>
            </a:r>
            <a:endParaRPr lang="en-US" sz="14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7406640" cy="685800"/>
          </a:xfrm>
          <a:prstGeom prst="rect">
            <a:avLst/>
          </a:prstGeom>
          <a:noFill/>
          <a:ln/>
        </p:spPr>
        <p:txBody>
          <a:bodyPr wrap="square" lIns="0" tIns="0" rIns="0" bIns="0" rtlCol="0" anchor="ctr"/>
          <a:lstStyle/>
          <a:p>
            <a:pPr algn="l" indent="0" marL="0">
              <a:buNone/>
            </a:pPr>
            <a:r>
              <a:rPr lang="en-US" sz="3200" b="1" dirty="0">
                <a:solidFill>
                  <a:schemeClr val="tx1"/>
                </a:solidFill>
              </a:rPr>
              <a:t>Backup: AI use</a:t>
            </a:r>
            <a:endParaRPr lang="en-US" sz="3200" dirty="0"/>
          </a:p>
        </p:txBody>
      </p:sp>
      <p:sp>
        <p:nvSpPr>
          <p:cNvPr id="3" name="Message"/>
          <p:cNvSpPr txBox="1"/>
          <p:nvPr/>
        </p:nvSpPr>
        <p:spPr>
          <a:xfrm>
            <a:off x="548640" y="1005840"/>
            <a:ext cx="11091672" cy="411480"/>
          </a:xfrm>
          <a:prstGeom prst="rect">
            <a:avLst/>
          </a:prstGeom>
          <a:noFill/>
          <a:ln/>
        </p:spPr>
        <p:txBody>
          <a:bodyPr wrap="square" lIns="0" tIns="0" rIns="0" bIns="0" rtlCol="0" anchor="t"/>
          <a:lstStyle/>
          <a:p>
            <a:pPr indent="0" marL="0">
              <a:buNone/>
            </a:pPr>
            <a:r>
              <a:rPr lang="en-US" sz="1800" dirty="0">
                <a:solidFill>
                  <a:schemeClr val="accent5"/>
                </a:solidFill>
              </a:rPr>
              <a:t>Used throughout as a pair-programmer; the decisions are mine</a:t>
            </a:r>
            <a:endParaRPr lang="en-US" sz="1800" dirty="0"/>
          </a:p>
        </p:txBody>
      </p:sp>
      <p:sp>
        <p:nvSpPr>
          <p:cNvPr id="4" name="Rubric tag"/>
          <p:cNvSpPr/>
          <p:nvPr/>
        </p:nvSpPr>
        <p:spPr>
          <a:xfrm>
            <a:off x="8074152" y="457200"/>
            <a:ext cx="3566160" cy="310896"/>
          </a:xfrm>
          <a:prstGeom prst="roundRect">
            <a:avLst>
              <a:gd name="adj" fmla="val 50000"/>
            </a:avLst>
          </a:prstGeom>
          <a:solidFill>
            <a:schemeClr val="bg2"/>
          </a:solidFill>
          <a:ln/>
        </p:spPr>
      </p:sp>
      <p:sp>
        <p:nvSpPr>
          <p:cNvPr id="5" name="Rubric tag text"/>
          <p:cNvSpPr txBox="1"/>
          <p:nvPr/>
        </p:nvSpPr>
        <p:spPr>
          <a:xfrm>
            <a:off x="8074152" y="457200"/>
            <a:ext cx="3566160" cy="310896"/>
          </a:xfrm>
          <a:prstGeom prst="rect">
            <a:avLst/>
          </a:prstGeom>
          <a:noFill/>
          <a:ln/>
        </p:spPr>
        <p:txBody>
          <a:bodyPr wrap="square" lIns="0" tIns="0" rIns="0" bIns="0" rtlCol="0" anchor="ctr"/>
          <a:lstStyle/>
          <a:p>
            <a:pPr algn="ctr" indent="0" marL="0">
              <a:buNone/>
            </a:pPr>
            <a:r>
              <a:rPr lang="en-US" sz="1100" dirty="0">
                <a:solidFill>
                  <a:schemeClr val="accent5"/>
                </a:solidFill>
              </a:rPr>
              <a:t>Backup</a:t>
            </a:r>
            <a:endParaRPr lang="en-US" sz="1100" dirty="0"/>
          </a:p>
        </p:txBody>
      </p:sp>
      <p:sp>
        <p:nvSpPr>
          <p:cNvPr id="7" name="AI use card"/>
          <p:cNvSpPr/>
          <p:nvPr/>
        </p:nvSpPr>
        <p:spPr>
          <a:xfrm>
            <a:off x="548640" y="1691640"/>
            <a:ext cx="11091672" cy="4114800"/>
          </a:xfrm>
          <a:prstGeom prst="roundRect">
            <a:avLst>
              <a:gd name="adj" fmla="val 1778"/>
            </a:avLst>
          </a:prstGeom>
          <a:solidFill>
            <a:schemeClr val="bg2"/>
          </a:solidFill>
          <a:ln/>
        </p:spPr>
      </p:sp>
      <p:sp>
        <p:nvSpPr>
          <p:cNvPr id="8" name="AI use bullets"/>
          <p:cNvSpPr txBox="1"/>
          <p:nvPr/>
        </p:nvSpPr>
        <p:spPr>
          <a:xfrm>
            <a:off x="914400" y="1920240"/>
            <a:ext cx="10360152" cy="365760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chemeClr val="tx1"/>
                </a:solidFill>
              </a:rPr>
              <a:t>Claude (via Claude Code) used throughout as a pair-programmer</a:t>
            </a:r>
            <a:endParaRPr lang="en-US" sz="1400" dirty="0"/>
          </a:p>
          <a:p>
            <a:pPr marL="203200" indent="-203200">
              <a:spcAft>
                <a:spcPts val="800"/>
              </a:spcAft>
              <a:buSzPct val="100000"/>
              <a:buChar char="•"/>
            </a:pPr>
            <a:r>
              <a:rPr lang="en-US" sz="2000" dirty="0">
                <a:solidFill>
                  <a:schemeClr val="tx1"/>
                </a:solidFill>
              </a:rPr>
              <a:t>Wrote or drafted most of the simulator, forecaster, optimiser, tests, viewer and README, from the brief and my direction</a:t>
            </a:r>
            <a:endParaRPr lang="en-US" sz="1400" dirty="0"/>
          </a:p>
          <a:p>
            <a:pPr marL="203200" indent="-203200">
              <a:spcAft>
                <a:spcPts val="800"/>
              </a:spcAft>
              <a:buSzPct val="100000"/>
              <a:buChar char="•"/>
            </a:pPr>
            <a:r>
              <a:rPr lang="en-US" sz="2000" dirty="0">
                <a:solidFill>
                  <a:schemeClr val="tx1"/>
                </a:solidFill>
              </a:rPr>
              <a:t>I set the framing and made the decisions: true-rate targets, live-count model with patterns fallback, time-stepped simulation, headline baseline, how limits are presented</a:t>
            </a:r>
            <a:endParaRPr lang="en-US" sz="1400" dirty="0"/>
          </a:p>
          <a:p>
            <a:pPr marL="203200" indent="-203200">
              <a:spcAft>
                <a:spcPts val="800"/>
              </a:spcAft>
              <a:buSzPct val="100000"/>
              <a:buChar char="•"/>
            </a:pPr>
            <a:r>
              <a:rPr lang="en-US" sz="2000" dirty="0">
                <a:solidFill>
                  <a:schemeClr val="tx1"/>
                </a:solidFill>
              </a:rPr>
              <a:t>Every reported number comes from code in the repo and can be regenerated from the README Setup commands</a:t>
            </a:r>
            <a:endParaRPr lang="en-US" sz="1400" dirty="0"/>
          </a:p>
          <a:p>
            <a:pPr marL="203200" indent="-203200">
              <a:spcAft>
                <a:spcPts val="800"/>
              </a:spcAft>
              <a:buSzPct val="100000"/>
              <a:buChar char="•"/>
            </a:pPr>
            <a:r>
              <a:rPr lang="en-US" sz="2000" dirty="0">
                <a:solidFill>
                  <a:schemeClr val="tx1"/>
                </a:solidFill>
              </a:rPr>
              <a:t>Correctness supported by the test suite and by running the experiments</a:t>
            </a:r>
            <a:endParaRPr lang="en-US" sz="14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7406640" cy="685800"/>
          </a:xfrm>
          <a:prstGeom prst="rect">
            <a:avLst/>
          </a:prstGeom>
          <a:noFill/>
          <a:ln/>
        </p:spPr>
        <p:txBody>
          <a:bodyPr wrap="square" lIns="0" tIns="0" rIns="0" bIns="0" rtlCol="0" anchor="ctr"/>
          <a:lstStyle/>
          <a:p>
            <a:pPr algn="l" indent="0" marL="0">
              <a:buNone/>
            </a:pPr>
            <a:r>
              <a:rPr lang="en-US" sz="3200" b="1" dirty="0">
                <a:solidFill>
                  <a:schemeClr val="tx1"/>
                </a:solidFill>
              </a:rPr>
              <a:t>Backup: references (1 of 2)</a:t>
            </a:r>
            <a:endParaRPr lang="en-US" sz="3200" dirty="0"/>
          </a:p>
        </p:txBody>
      </p:sp>
      <p:sp>
        <p:nvSpPr>
          <p:cNvPr id="3" name="Message"/>
          <p:cNvSpPr txBox="1"/>
          <p:nvPr/>
        </p:nvSpPr>
        <p:spPr>
          <a:xfrm>
            <a:off x="548640" y="1005840"/>
            <a:ext cx="11091672" cy="411480"/>
          </a:xfrm>
          <a:prstGeom prst="rect">
            <a:avLst/>
          </a:prstGeom>
          <a:noFill/>
          <a:ln/>
        </p:spPr>
        <p:txBody>
          <a:bodyPr wrap="square" lIns="0" tIns="0" rIns="0" bIns="0" rtlCol="0" anchor="t"/>
          <a:lstStyle/>
          <a:p>
            <a:pPr indent="0" marL="0">
              <a:buNone/>
            </a:pPr>
            <a:r>
              <a:rPr lang="en-US" sz="1800" dirty="0">
                <a:solidFill>
                  <a:schemeClr val="accent5"/>
                </a:solidFill>
              </a:rPr>
              <a:t>Simulation, signal control and optimisation</a:t>
            </a:r>
            <a:endParaRPr lang="en-US" sz="1800" dirty="0"/>
          </a:p>
        </p:txBody>
      </p:sp>
      <p:sp>
        <p:nvSpPr>
          <p:cNvPr id="4" name="Rubric tag"/>
          <p:cNvSpPr/>
          <p:nvPr/>
        </p:nvSpPr>
        <p:spPr>
          <a:xfrm>
            <a:off x="8074152" y="457200"/>
            <a:ext cx="3566160" cy="310896"/>
          </a:xfrm>
          <a:prstGeom prst="roundRect">
            <a:avLst>
              <a:gd name="adj" fmla="val 50000"/>
            </a:avLst>
          </a:prstGeom>
          <a:solidFill>
            <a:schemeClr val="bg2"/>
          </a:solidFill>
          <a:ln/>
        </p:spPr>
      </p:sp>
      <p:sp>
        <p:nvSpPr>
          <p:cNvPr id="5" name="Rubric tag text"/>
          <p:cNvSpPr txBox="1"/>
          <p:nvPr/>
        </p:nvSpPr>
        <p:spPr>
          <a:xfrm>
            <a:off x="8074152" y="457200"/>
            <a:ext cx="3566160" cy="310896"/>
          </a:xfrm>
          <a:prstGeom prst="rect">
            <a:avLst/>
          </a:prstGeom>
          <a:noFill/>
          <a:ln/>
        </p:spPr>
        <p:txBody>
          <a:bodyPr wrap="square" lIns="0" tIns="0" rIns="0" bIns="0" rtlCol="0" anchor="ctr"/>
          <a:lstStyle/>
          <a:p>
            <a:pPr algn="ctr" indent="0" marL="0">
              <a:buNone/>
            </a:pPr>
            <a:r>
              <a:rPr lang="en-US" sz="1100" dirty="0">
                <a:solidFill>
                  <a:schemeClr val="accent5"/>
                </a:solidFill>
              </a:rPr>
              <a:t>Backup</a:t>
            </a:r>
            <a:endParaRPr lang="en-US" sz="1100" dirty="0"/>
          </a:p>
        </p:txBody>
      </p:sp>
      <p:sp>
        <p:nvSpPr>
          <p:cNvPr id="7" name="References list 1"/>
          <p:cNvSpPr txBox="1"/>
          <p:nvPr/>
        </p:nvSpPr>
        <p:spPr>
          <a:xfrm>
            <a:off x="548640" y="1600200"/>
            <a:ext cx="11091672" cy="457200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tx1"/>
                </a:solidFill>
              </a:rPr>
              <a:t>Treiber, Hennecke &amp; Helbing (2000), “Congested traffic states in empirical observations and microscopic simulations”, Physical Review E 62(2), 1805–1824; Treiber &amp; Kesting (2013), Traffic Flow Dynamics, Springer</a:t>
            </a:r>
            <a:endParaRPr lang="en-US" sz="1400" dirty="0"/>
          </a:p>
          <a:p>
            <a:pPr marL="203200" indent="-203200">
              <a:spcAft>
                <a:spcPts val="800"/>
              </a:spcAft>
              <a:buSzPct val="100000"/>
              <a:buChar char="•"/>
            </a:pPr>
            <a:r>
              <a:rPr lang="en-US" sz="1400" dirty="0">
                <a:solidFill>
                  <a:schemeClr val="tx1"/>
                </a:solidFill>
              </a:rPr>
              <a:t>Gazis, Herman &amp; Maradudin (1960), “The problem of the amber signal light in traffic flow”, Operations Research 8(1), 112–132</a:t>
            </a:r>
            <a:endParaRPr lang="en-US" sz="1400" dirty="0"/>
          </a:p>
          <a:p>
            <a:pPr marL="203200" indent="-203200">
              <a:spcAft>
                <a:spcPts val="800"/>
              </a:spcAft>
              <a:buSzPct val="100000"/>
              <a:buChar char="•"/>
            </a:pPr>
            <a:r>
              <a:rPr lang="en-US" sz="1400" dirty="0">
                <a:solidFill>
                  <a:schemeClr val="tx1"/>
                </a:solidFill>
              </a:rPr>
              <a:t>Law (2015), Simulation Modeling and Analysis, 5th ed., McGraw-Hill, ch. 11 (common random numbers)</a:t>
            </a:r>
            <a:endParaRPr lang="en-US" sz="1400" dirty="0"/>
          </a:p>
          <a:p>
            <a:pPr marL="203200" indent="-203200">
              <a:spcAft>
                <a:spcPts val="800"/>
              </a:spcAft>
              <a:buSzPct val="100000"/>
              <a:buChar char="•"/>
            </a:pPr>
            <a:r>
              <a:rPr lang="en-US" sz="1400" dirty="0">
                <a:solidFill>
                  <a:schemeClr val="tx1"/>
                </a:solidFill>
              </a:rPr>
              <a:t>Webster (1958), Traffic Signal Settings, Road Research Technical Paper No. 39, HMSO</a:t>
            </a:r>
            <a:endParaRPr lang="en-US" sz="1400" dirty="0"/>
          </a:p>
          <a:p>
            <a:pPr marL="203200" indent="-203200">
              <a:spcAft>
                <a:spcPts val="800"/>
              </a:spcAft>
              <a:buSzPct val="100000"/>
              <a:buChar char="•"/>
            </a:pPr>
            <a:r>
              <a:rPr lang="en-US" sz="1400" dirty="0">
                <a:solidFill>
                  <a:schemeClr val="tx1"/>
                </a:solidFill>
              </a:rPr>
              <a:t>Gazis &amp; Potts (1963), “The oversaturated intersection”, Proc. 2nd Int. Symposium on the Theory of Traffic Flow, 221–237; Aboudolas, Papageorgiou &amp; Kosmatopoulos (2009), Transportation Research Part C 17(2), 163–174</a:t>
            </a:r>
            <a:endParaRPr lang="en-US" sz="1400" dirty="0"/>
          </a:p>
          <a:p>
            <a:pPr marL="203200" indent="-203200">
              <a:spcAft>
                <a:spcPts val="800"/>
              </a:spcAft>
              <a:buSzPct val="100000"/>
              <a:buChar char="•"/>
            </a:pPr>
            <a:r>
              <a:rPr lang="en-US" sz="1400" dirty="0">
                <a:solidFill>
                  <a:schemeClr val="tx1"/>
                </a:solidFill>
              </a:rPr>
              <a:t>Mayne, Rawlings, Rao &amp; Scokaert (2000), “Constrained model predictive control: stability and optimality”, Automatica 36(6), 789–814</a:t>
            </a:r>
            <a:endParaRPr lang="en-US" sz="1400" dirty="0"/>
          </a:p>
          <a:p>
            <a:pPr marL="203200" indent="-203200">
              <a:spcAft>
                <a:spcPts val="800"/>
              </a:spcAft>
              <a:buSzPct val="100000"/>
              <a:buChar char="•"/>
            </a:pPr>
            <a:r>
              <a:rPr lang="en-US" sz="1400" dirty="0">
                <a:solidFill>
                  <a:schemeClr val="tx1"/>
                </a:solidFill>
              </a:rPr>
              <a:t>Varaiya (2013), “Max pressure control of a network of signalized intersections”, Transportation Research Part C 36, 177–195</a:t>
            </a:r>
            <a:endParaRPr lang="en-US" sz="1400" dirty="0"/>
          </a:p>
          <a:p>
            <a:pPr marL="203200" indent="-203200">
              <a:spcAft>
                <a:spcPts val="800"/>
              </a:spcAft>
              <a:buSzPct val="100000"/>
              <a:buChar char="•"/>
            </a:pPr>
            <a:r>
              <a:rPr lang="en-US" sz="1400" dirty="0">
                <a:solidFill>
                  <a:schemeClr val="tx1"/>
                </a:solidFill>
              </a:rPr>
              <a:t>Koonce et al. (2008), Traffic Signal Timing Manual, FHWA-HOP-08-024</a:t>
            </a:r>
            <a:endParaRPr lang="en-US" sz="14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7406640" cy="685800"/>
          </a:xfrm>
          <a:prstGeom prst="rect">
            <a:avLst/>
          </a:prstGeom>
          <a:noFill/>
          <a:ln/>
        </p:spPr>
        <p:txBody>
          <a:bodyPr wrap="square" lIns="0" tIns="0" rIns="0" bIns="0" rtlCol="0" anchor="ctr"/>
          <a:lstStyle/>
          <a:p>
            <a:pPr algn="l" indent="0" marL="0">
              <a:buNone/>
            </a:pPr>
            <a:r>
              <a:rPr lang="en-US" sz="3200" b="1" dirty="0">
                <a:solidFill>
                  <a:schemeClr val="tx1"/>
                </a:solidFill>
              </a:rPr>
              <a:t>Backup: references (2 of 2)</a:t>
            </a:r>
            <a:endParaRPr lang="en-US" sz="3200" dirty="0"/>
          </a:p>
        </p:txBody>
      </p:sp>
      <p:sp>
        <p:nvSpPr>
          <p:cNvPr id="3" name="Message"/>
          <p:cNvSpPr txBox="1"/>
          <p:nvPr/>
        </p:nvSpPr>
        <p:spPr>
          <a:xfrm>
            <a:off x="548640" y="1005840"/>
            <a:ext cx="11091672" cy="411480"/>
          </a:xfrm>
          <a:prstGeom prst="rect">
            <a:avLst/>
          </a:prstGeom>
          <a:noFill/>
          <a:ln/>
        </p:spPr>
        <p:txBody>
          <a:bodyPr wrap="square" lIns="0" tIns="0" rIns="0" bIns="0" rtlCol="0" anchor="t"/>
          <a:lstStyle/>
          <a:p>
            <a:pPr indent="0" marL="0">
              <a:buNone/>
            </a:pPr>
            <a:r>
              <a:rPr lang="en-US" sz="1800" dirty="0">
                <a:solidFill>
                  <a:schemeClr val="accent5"/>
                </a:solidFill>
              </a:rPr>
              <a:t>Forecasting and software</a:t>
            </a:r>
            <a:endParaRPr lang="en-US" sz="1800" dirty="0"/>
          </a:p>
        </p:txBody>
      </p:sp>
      <p:sp>
        <p:nvSpPr>
          <p:cNvPr id="4" name="Rubric tag"/>
          <p:cNvSpPr/>
          <p:nvPr/>
        </p:nvSpPr>
        <p:spPr>
          <a:xfrm>
            <a:off x="8074152" y="457200"/>
            <a:ext cx="3566160" cy="310896"/>
          </a:xfrm>
          <a:prstGeom prst="roundRect">
            <a:avLst>
              <a:gd name="adj" fmla="val 50000"/>
            </a:avLst>
          </a:prstGeom>
          <a:solidFill>
            <a:schemeClr val="bg2"/>
          </a:solidFill>
          <a:ln/>
        </p:spPr>
      </p:sp>
      <p:sp>
        <p:nvSpPr>
          <p:cNvPr id="5" name="Rubric tag text"/>
          <p:cNvSpPr txBox="1"/>
          <p:nvPr/>
        </p:nvSpPr>
        <p:spPr>
          <a:xfrm>
            <a:off x="8074152" y="457200"/>
            <a:ext cx="3566160" cy="310896"/>
          </a:xfrm>
          <a:prstGeom prst="rect">
            <a:avLst/>
          </a:prstGeom>
          <a:noFill/>
          <a:ln/>
        </p:spPr>
        <p:txBody>
          <a:bodyPr wrap="square" lIns="0" tIns="0" rIns="0" bIns="0" rtlCol="0" anchor="ctr"/>
          <a:lstStyle/>
          <a:p>
            <a:pPr algn="ctr" indent="0" marL="0">
              <a:buNone/>
            </a:pPr>
            <a:r>
              <a:rPr lang="en-US" sz="1100" dirty="0">
                <a:solidFill>
                  <a:schemeClr val="accent5"/>
                </a:solidFill>
              </a:rPr>
              <a:t>Backup</a:t>
            </a:r>
            <a:endParaRPr lang="en-US" sz="1100" dirty="0"/>
          </a:p>
        </p:txBody>
      </p:sp>
      <p:sp>
        <p:nvSpPr>
          <p:cNvPr id="7" name="References list 2"/>
          <p:cNvSpPr txBox="1"/>
          <p:nvPr/>
        </p:nvSpPr>
        <p:spPr>
          <a:xfrm>
            <a:off x="548640" y="1600200"/>
            <a:ext cx="11091672" cy="420624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chemeClr val="tx1"/>
                </a:solidFill>
              </a:rPr>
              <a:t>Nelder &amp; Wedderburn (1972), “Generalized linear models”, Journal of the Royal Statistical Society A 135(3), 370–384</a:t>
            </a:r>
            <a:endParaRPr lang="en-US" sz="1400" dirty="0"/>
          </a:p>
          <a:p>
            <a:pPr marL="203200" indent="-203200">
              <a:spcAft>
                <a:spcPts val="800"/>
              </a:spcAft>
              <a:buSzPct val="100000"/>
              <a:buChar char="•"/>
            </a:pPr>
            <a:r>
              <a:rPr lang="en-US" sz="1600" dirty="0">
                <a:solidFill>
                  <a:schemeClr val="tx1"/>
                </a:solidFill>
              </a:rPr>
              <a:t>Ke et al. (2017), “LightGBM: a highly efficient gradient boosting decision tree”, NeurIPS 30 (scikit-learn's HistGradientBoostingRegressor follows this design)</a:t>
            </a:r>
            <a:endParaRPr lang="en-US" sz="1400" dirty="0"/>
          </a:p>
          <a:p>
            <a:pPr marL="203200" indent="-203200">
              <a:spcAft>
                <a:spcPts val="800"/>
              </a:spcAft>
              <a:buSzPct val="100000"/>
              <a:buChar char="•"/>
            </a:pPr>
            <a:r>
              <a:rPr lang="en-US" sz="1600" dirty="0">
                <a:solidFill>
                  <a:schemeClr val="tx1"/>
                </a:solidFill>
              </a:rPr>
              <a:t>Hyndman &amp; Athanasopoulos (2021), Forecasting: Principles and Practice, 3rd ed., OTexts</a:t>
            </a:r>
            <a:endParaRPr lang="en-US" sz="1400" dirty="0"/>
          </a:p>
          <a:p>
            <a:pPr marL="203200" indent="-203200">
              <a:spcAft>
                <a:spcPts val="800"/>
              </a:spcAft>
              <a:buSzPct val="100000"/>
              <a:buChar char="•"/>
            </a:pPr>
            <a:r>
              <a:rPr lang="en-US" sz="1600" dirty="0">
                <a:solidFill>
                  <a:schemeClr val="tx1"/>
                </a:solidFill>
              </a:rPr>
              <a:t>Diamond &amp; Boyd (2016), “CVXPY: a Python-embedded modeling language for convex optimization”, JMLR 17(83), 1–5</a:t>
            </a:r>
            <a:endParaRPr lang="en-US" sz="1400" dirty="0"/>
          </a:p>
          <a:p>
            <a:pPr marL="203200" indent="-203200">
              <a:spcAft>
                <a:spcPts val="800"/>
              </a:spcAft>
              <a:buSzPct val="100000"/>
              <a:buChar char="•"/>
            </a:pPr>
            <a:r>
              <a:rPr lang="en-US" sz="1600" dirty="0">
                <a:solidFill>
                  <a:schemeClr val="tx1"/>
                </a:solidFill>
              </a:rPr>
              <a:t>Goulart &amp; Chen (2024), “Clarabel: an interior-point solver for conic programs with quadratic objectives”, arXiv:2405.12762</a:t>
            </a:r>
            <a:endParaRPr lang="en-US" sz="1400" dirty="0"/>
          </a:p>
          <a:p>
            <a:pPr marL="203200" indent="-203200">
              <a:spcAft>
                <a:spcPts val="800"/>
              </a:spcAft>
              <a:buSzPct val="100000"/>
              <a:buChar char="•"/>
            </a:pPr>
            <a:r>
              <a:rPr lang="en-US" sz="1600" dirty="0">
                <a:solidFill>
                  <a:schemeClr val="tx1"/>
                </a:solidFill>
              </a:rPr>
              <a:t>Pedregosa et al. (2011), “Scikit-learn: machine learning in Python”, JMLR 12, 2825–2830</a:t>
            </a:r>
            <a:endParaRPr lang="en-US" sz="1400" dirty="0"/>
          </a:p>
          <a:p>
            <a:pPr marL="203200" indent="-203200">
              <a:spcAft>
                <a:spcPts val="800"/>
              </a:spcAft>
              <a:buSzPct val="100000"/>
              <a:buChar char="•"/>
            </a:pPr>
            <a:r>
              <a:rPr lang="en-US" sz="1600" dirty="0">
                <a:solidFill>
                  <a:schemeClr val="tx1"/>
                </a:solidFill>
              </a:rPr>
              <a:t>NumPy (Harris et al., 2020, Nature 585, 357–362), SciPy (Virtanen et al., 2020, Nature Methods 17, 261–272), pandas, matplotlib</a:t>
            </a:r>
            <a:endParaRPr lang="en-US" sz="14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Signal Amber">
  <a:themeElements>
    <a:clrScheme name="Signal Amber">
      <a:dk1>
        <a:srgbClr val="1F2933"/>
      </a:dk1>
      <a:lt1>
        <a:srgbClr val="FFFFFF"/>
      </a:lt1>
      <a:dk2>
        <a:srgbClr val="12202E"/>
      </a:dk2>
      <a:lt2>
        <a:srgbClr val="F2F4F7"/>
      </a:lt2>
      <a:accent1>
        <a:srgbClr val="F5A300"/>
      </a:accent1>
      <a:accent2>
        <a:srgbClr val="7B8794"/>
      </a:accent2>
      <a:accent3>
        <a:srgbClr val="C5CCD3"/>
      </a:accent3>
      <a:accent4>
        <a:srgbClr val="3E4C59"/>
      </a:accent4>
      <a:accent5>
        <a:srgbClr val="52606D"/>
      </a:accent5>
      <a:accent6>
        <a:srgbClr val="FDE9B8"/>
      </a:accent6>
      <a:hlink>
        <a:srgbClr val="1F2933"/>
      </a:hlink>
      <a:folHlink>
        <a:srgbClr val="52606D"/>
      </a:folHlink>
    </a:clrScheme>
    <a:fontScheme name="Signal Amb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Traffic Signal Control</dc:title>
  <dc:subject>PptxGenJS Presentation</dc:subject>
  <dc:creator>Glen McKenzie</dc:creator>
  <cp:lastModifiedBy>Glen McKenzie</cp:lastModifiedBy>
  <cp:revision>1</cp:revision>
  <dcterms:created xsi:type="dcterms:W3CDTF">2026-10-25T13:32:08Z</dcterms:created>
  <dcterms:modified xsi:type="dcterms:W3CDTF">2026-10-25T13:32:08Z</dcterms:modified>
</cp:coreProperties>
</file>