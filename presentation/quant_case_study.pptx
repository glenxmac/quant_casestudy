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d045c39-25fe-0026-ef8d-d93f5ec5a527}">
          <p14:sldIdLst>
            <p14:sldId id="256"/>
          </p14:sldIdLst>
        </p14:section>
        <p14:section name="Overview" id="{9c5c6383-128d-db95-341b-ab00bd721958}">
          <p14:sldIdLst>
            <p14:sldId id="257"/>
          </p14:sldIdLst>
        </p14:section>
        <p14:section name="1 · Simulation" id="{5696a231-cd09-0d4f-1a08-e8a14b1e4c76}">
          <p14:sldIdLst>
            <p14:sldId id="258"/>
            <p14:sldId id="259"/>
            <p14:sldId id="260"/>
            <p14:sldId id="261"/>
          </p14:sldIdLst>
        </p14:section>
        <p14:section name="2 · Modelling and first result" id="{22d46d1e-cba6-dbff-bcbc-23e9f1a265d1}">
          <p14:sldIdLst>
            <p14:sldId id="262"/>
            <p14:sldId id="263"/>
            <p14:sldId id="264"/>
          </p14:sldIdLst>
        </p14:section>
        <p14:section name="3 · Tuned baseline and the QP" id="{e8e2b41a-277e-a858-88fb-7151beb6290a}">
          <p14:sldIdLst>
            <p14:sldId id="265"/>
            <p14:sldId id="266"/>
            <p14:sldId id="267"/>
            <p14:sldId id="268"/>
            <p14:sldId id="269"/>
          </p14:sldIdLst>
        </p14:section>
        <p14:section name="Wrap-up" id="{7d8f23ea-7815-1eb1-df2b-eafa8a08f4b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1 from the brief: optimise signal timing on a city grid using a forecast. Roadmap: the simulation, what we predict and why, then the optimiser and how it compares to fixed timing.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controller sees one thing inside the network: a car counter on each of the eight entry roads, plus the clock, weather, event calendar and incident feed. Everything else is estimated. Headline: 43 to 64 percent less delay than the untuned 60 second plan in every scenario, 5 to 32 percent against a tuned plan, and a solve time of 38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a 2 by 2 grid, one lane per approach, two phases, 70/15/15 turning shares. Cars follow the Intelligent Driver Model, so saturation flow is not hard-coded, it emerges at 0.40 vehicles per second. Implementation: time-stepped at half a second so queues and spillback emerge from the vehicle dynamics. Cars that cannot enter a full road wait outside and that wait counts as delay. Common random numbers: the same scenario and seed gives identical cars for every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Arrival rate at each entry is a product of layers, each one something a forecaster could learn from history, from today's counts, from a feed, or not at all. Each random day draws its own level and timing shift, plus storms, accidents and scheduled events. All rates are assumptions, not calibrated to a real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model gives an expected rate. Each car's arrival is drawn at random, so the count in any window is Poisson with mean rate times window length. The standard deviation is the square root of the mean, so even at the peak the counter is about 13 percent noise. The controller only ever sees the orange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demo_viewer.html here. Five clips: normal hour, morning rush, storm, accident, stadium event. Left is the tuned fixed plan, right is the optimiser, on identical cars. The right panel shows only what the controller can see, and its estimated cars per road next to the truth it never sees. Clip windows are chosen by a rule, not cherry-picked.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predict the arrival rate at each of the 8 entries for the next 5, 10 and 15 minutes, because arrivals are the part of the future the controller cannot see, and the optimiser plans 15 minutes ahead. Each modelling assumption on the left decided an input or the model form on the right. Labels are true rates, which is only possible in a simulator and stands in for an accurate traffic survey. Inputs are only what a deployed system could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is mean absolute error as a percentage of the mean true rate, on 20 held-out days (test plus fresh days never used for any decision), split by whole days in time order. Live counts turn noisy counts into an estimate of today's level, cutting the profile's error by about a third. The oracle knows today's rate but holds it flat, so it only wins at +5 minutes. In event windows the calendar is what predicts the surge, and the GLM beats boosted trees clearly, which is the main reason for choosing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delay per car on held-out seeds that were never used for any choice, identical demand for every controller. 10 seeds for typical morning, evening, accident and event, 3 for busy morning and storm. The untuned 60 second equal-split plan is what fixed timing usually means. The 20 percent target is cleared by a wide margin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needs a strong baseline, so the fixed green wave's common cycle is swept from 30 to 180 seconds on the typical day, on tuning seeds 100 to 103, and the lowest mean delay wins: 120 s for the morning, 180 s for the evening. The tuned plan is then applied unchanged to busy, storm, accident and event days, like a real plan set for a normal day. The optimiser's own settings were checked one at a time on the same tuning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for every junction, solve a convex QP over 15 one-minute steps, apply the first step and re-plan. The decision is the NS green share at each junction in each minute. State is the cars on each road, starting from the queue estimator. The forecast supplies the arrivals on the entry roads, turning shares route discharge downstream. The cycle length comes from Webster's formula on the forecast flows and is kept outside the program so it stays 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store-and-forward queue model is linear and known, so the decision is a convex program: every solve returns the global optimum for its model. The decisions are continuous green shares, so a mixed-integer phase sequencing search is not needed. Reinforcement learning would need training and gives no guarantee when the structure is already known. Solve time is 38 ms on the 2 by 2 grid, about 19 ms per junction, 1.9 s for 100 junctions, against a 60 s decision interval. Larger grids used the persistence forecast because the learned forecaster is fitted to the 2 by 2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Max-pressure gives green to the phase with the largest own queue minus downstream queue. It is simple and keeps the network stable, but it is myopic: it only looks at queues now, so it has no place to put a forecast, which is exactly what the QP uses. We ran it on the earlier camera-based version of the project, with true queues, seeds 200 to 202: worse than the optimiser in all five scenarios and worse than the tuned fixed plan in four. The camera version's code was replaced when we moved to counts only, so these numbers are kept as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result: ahead of the strong tuned baseline in all six scenarios, above the 20 percent target on the two morning scenarios, and short of it in the storm, evening, accident and event. The accident and event gains are not statistically significant. Gap-out matters a lot in light traffic: on three typical-morning seeds the QP alone is 12 percent better than the tuned plan and adding the model-based gap-out takes it to 30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forecast adds little to delay over repeating the last count, even in the stadium event, where it predicts the surge well. The gain comes from the queue model, gap-out and the optimiser. The weak spot is the queue estimate, which has nothing inside the network to correct it. Next step with the best expected value is a stop-line counter per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rtlCol="0"/>
          <a:lstStyle>
            <a:lvl1pPr indent="0" marL="0">
              <a:buNone/>
              <a:defRPr lang="en-US" sz="1200" b="1" dirty="0">
                <a:solidFill>
                  <a:srgbClr val="2A78D6"/>
                </a:solidFill>
              </a:defRPr>
            </a:lvl1pPr>
          </a:lstStyle>
          <a:p>
            <a:pPr indent="0" marL="0">
              <a:buNone/>
            </a:pP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rtlCol="0"/>
          <a:lstStyle>
            <a:lvl1pPr algn="l" indent="0" marL="0">
              <a:buNone/>
              <a:defRPr lang="en-US" sz="3600" b="1" dirty="0">
                <a:solidFill>
                  <a:srgbClr val="1A1A1A"/>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8961120" cy="1645920"/>
          </a:xfrm>
          <a:prstGeom prst="rect">
            <a:avLst/>
          </a:prstGeom>
          <a:noFill/>
          <a:ln/>
        </p:spPr>
        <p:txBody>
          <a:bodyPr wrap="square" rtlCol="0"/>
          <a:lstStyle>
            <a:lvl1pPr algn="l" indent="0" marL="0">
              <a:buNone/>
              <a:defRPr lang="en-US" sz="5400" b="1" dirty="0">
                <a:solidFill>
                  <a:srgbClr val="1A1A1A"/>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8961120" cy="1645920"/>
          </a:xfrm>
          <a:prstGeom prst="rect">
            <a:avLst/>
          </a:prstGeom>
          <a:noFill/>
          <a:ln/>
        </p:spPr>
        <p:txBody>
          <a:bodyPr wrap="square" lIns="0" tIns="0" rIns="0" bIns="0" rtlCol="0" anchor="t"/>
          <a:lstStyle/>
          <a:p>
            <a:pPr algn="l" indent="0" marL="0">
              <a:buNone/>
            </a:pPr>
            <a:r>
              <a:rPr lang="en-US" sz="5400" b="1" dirty="0">
                <a:solidFill>
                  <a:srgbClr val="1A1A1A"/>
                </a:solidFill>
              </a:rPr>
              <a:t>Smart traffic lights from entrance counts</a:t>
            </a:r>
            <a:endParaRPr lang="en-US" sz="5400" dirty="0"/>
          </a:p>
        </p:txBody>
      </p:sp>
      <p:sp>
        <p:nvSpPr>
          <p:cNvPr id="3" name="subtitle"/>
          <p:cNvSpPr txBox="1"/>
          <p:nvPr/>
        </p:nvSpPr>
        <p:spPr>
          <a:xfrm>
            <a:off x="822960" y="3749040"/>
            <a:ext cx="10515600" cy="548640"/>
          </a:xfrm>
          <a:prstGeom prst="rect">
            <a:avLst/>
          </a:prstGeom>
          <a:noFill/>
          <a:ln/>
        </p:spPr>
        <p:txBody>
          <a:bodyPr wrap="square" lIns="0" tIns="0" rIns="0" bIns="0" rtlCol="0" anchor="ctr"/>
          <a:lstStyle/>
          <a:p>
            <a:pPr indent="0" marL="0">
              <a:buNone/>
            </a:pPr>
            <a:r>
              <a:rPr lang="en-US" sz="2400" dirty="0">
                <a:solidFill>
                  <a:srgbClr val="5A5955"/>
                </a:solidFill>
              </a:rPr>
              <a:t>Forecast the arrivals, optimise the signals, </a:t>
            </a:r>
            <a:pPr indent="0" marL="0">
              <a:buNone/>
            </a:pPr>
            <a:r>
              <a:rPr lang="en-US" sz="2400" b="1" dirty="0">
                <a:solidFill>
                  <a:srgbClr val="2A78D6"/>
                </a:solidFill>
              </a:rPr>
              <a:t>cut the waiting</a:t>
            </a:r>
            <a:endParaRPr lang="en-US" sz="2400" dirty="0"/>
          </a:p>
        </p:txBody>
      </p:sp>
      <p:sp>
        <p:nvSpPr>
          <p:cNvPr id="4" name="byline"/>
          <p:cNvSpPr txBox="1"/>
          <p:nvPr/>
        </p:nvSpPr>
        <p:spPr>
          <a:xfrm>
            <a:off x="822960" y="5943600"/>
            <a:ext cx="10515600" cy="365760"/>
          </a:xfrm>
          <a:prstGeom prst="rect">
            <a:avLst/>
          </a:prstGeom>
          <a:noFill/>
          <a:ln/>
        </p:spPr>
        <p:txBody>
          <a:bodyPr wrap="square" lIns="0" tIns="0" rIns="0" bIns="0" rtlCol="0" anchor="ctr"/>
          <a:lstStyle/>
          <a:p>
            <a:pPr indent="0" marL="0">
              <a:buNone/>
            </a:pPr>
            <a:r>
              <a:rPr lang="en-US" sz="1400" dirty="0">
                <a:solidFill>
                  <a:srgbClr val="5A5955"/>
                </a:solidFill>
              </a:rPr>
              <a:t>Glen McKenzie  ·  Senior Quant case study, Problem 1: smart traffic-light optimisation</a:t>
            </a:r>
            <a:endParaRPr lang="en-US" sz="1400" dirty="0"/>
          </a:p>
        </p:txBody>
      </p:sp>
      <p:sp>
        <p:nvSpPr>
          <p:cNvPr id="5" name="signal-head"/>
          <p:cNvSpPr/>
          <p:nvPr/>
        </p:nvSpPr>
        <p:spPr>
          <a:xfrm>
            <a:off x="10561320" y="822960"/>
            <a:ext cx="868680" cy="2103120"/>
          </a:xfrm>
          <a:prstGeom prst="roundRect">
            <a:avLst>
              <a:gd name="adj" fmla="val 15789"/>
            </a:avLst>
          </a:prstGeom>
          <a:solidFill>
            <a:srgbClr val="2B2B2B"/>
          </a:solidFill>
          <a:ln w="12700">
            <a:solidFill>
              <a:srgbClr val="2B2B2B"/>
            </a:solidFill>
            <a:prstDash val="solid"/>
          </a:ln>
        </p:spPr>
      </p:sp>
      <p:sp>
        <p:nvSpPr>
          <p:cNvPr id="6" name="lamp-0"/>
          <p:cNvSpPr/>
          <p:nvPr/>
        </p:nvSpPr>
        <p:spPr>
          <a:xfrm>
            <a:off x="10762488" y="960120"/>
            <a:ext cx="457200" cy="457200"/>
          </a:xfrm>
          <a:prstGeom prst="ellipse">
            <a:avLst/>
          </a:prstGeom>
          <a:solidFill>
            <a:srgbClr val="D64545"/>
          </a:solidFill>
          <a:ln w="12700">
            <a:solidFill>
              <a:srgbClr val="D64545"/>
            </a:solidFill>
            <a:prstDash val="solid"/>
          </a:ln>
        </p:spPr>
      </p:sp>
      <p:sp>
        <p:nvSpPr>
          <p:cNvPr id="7" name="lamp-1"/>
          <p:cNvSpPr/>
          <p:nvPr/>
        </p:nvSpPr>
        <p:spPr>
          <a:xfrm>
            <a:off x="10762488" y="1554480"/>
            <a:ext cx="457200" cy="457200"/>
          </a:xfrm>
          <a:prstGeom prst="ellipse">
            <a:avLst/>
          </a:prstGeom>
          <a:solidFill>
            <a:srgbClr val="F0B030"/>
          </a:solidFill>
          <a:ln w="12700">
            <a:solidFill>
              <a:srgbClr val="F0B030"/>
            </a:solidFill>
            <a:prstDash val="solid"/>
          </a:ln>
        </p:spPr>
      </p:sp>
      <p:sp>
        <p:nvSpPr>
          <p:cNvPr id="8" name="lamp-2"/>
          <p:cNvSpPr/>
          <p:nvPr/>
        </p:nvSpPr>
        <p:spPr>
          <a:xfrm>
            <a:off x="10762488" y="2148840"/>
            <a:ext cx="457200" cy="457200"/>
          </a:xfrm>
          <a:prstGeom prst="ellipse">
            <a:avLst/>
          </a:prstGeom>
          <a:solidFill>
            <a:srgbClr val="1BAF7A"/>
          </a:solidFill>
          <a:ln w="12700">
            <a:solidFill>
              <a:srgbClr val="1BAF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OVERVIEW</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Count, forecast, optimise, measure</a:t>
            </a:r>
            <a:endParaRPr lang="en-US" sz="3600" dirty="0"/>
          </a:p>
        </p:txBody>
      </p:sp>
      <p:sp>
        <p:nvSpPr>
          <p:cNvPr id="5" name="step-Entry counters"/>
          <p:cNvSpPr/>
          <p:nvPr/>
        </p:nvSpPr>
        <p:spPr>
          <a:xfrm>
            <a:off x="548640" y="1737360"/>
            <a:ext cx="2011680" cy="2011680"/>
          </a:xfrm>
          <a:prstGeom prst="roundRect">
            <a:avLst>
              <a:gd name="adj" fmla="val 3636"/>
            </a:avLst>
          </a:prstGeom>
          <a:solidFill>
            <a:srgbClr val="F3F2EF"/>
          </a:solidFill>
          <a:ln w="12700">
            <a:solidFill>
              <a:srgbClr val="F3F2EF"/>
            </a:solidFill>
            <a:prstDash val="solid"/>
          </a:ln>
        </p:spPr>
      </p:sp>
      <p:sp>
        <p:nvSpPr>
          <p:cNvPr id="6" name="step-head-0"/>
          <p:cNvSpPr txBox="1"/>
          <p:nvPr/>
        </p:nvSpPr>
        <p:spPr>
          <a:xfrm>
            <a:off x="685800" y="1828800"/>
            <a:ext cx="1737360" cy="411480"/>
          </a:xfrm>
          <a:prstGeom prst="rect">
            <a:avLst/>
          </a:prstGeom>
          <a:noFill/>
          <a:ln/>
        </p:spPr>
        <p:txBody>
          <a:bodyPr wrap="square" lIns="0" tIns="0" rIns="0" bIns="0" rtlCol="0" anchor="ctr"/>
          <a:lstStyle/>
          <a:p>
            <a:pPr indent="0" marL="0">
              <a:buNone/>
            </a:pPr>
            <a:r>
              <a:rPr lang="en-US" sz="1800" b="1" dirty="0">
                <a:solidFill>
                  <a:srgbClr val="1A1A1A"/>
                </a:solidFill>
              </a:rPr>
              <a:t>Entry counters</a:t>
            </a:r>
            <a:endParaRPr lang="en-US" sz="1800" dirty="0"/>
          </a:p>
        </p:txBody>
      </p:sp>
      <p:sp>
        <p:nvSpPr>
          <p:cNvPr id="7" name="step-text-0"/>
          <p:cNvSpPr txBox="1"/>
          <p:nvPr/>
        </p:nvSpPr>
        <p:spPr>
          <a:xfrm>
            <a:off x="685800" y="2286000"/>
            <a:ext cx="1737360" cy="1371600"/>
          </a:xfrm>
          <a:prstGeom prst="rect">
            <a:avLst/>
          </a:prstGeom>
          <a:noFill/>
          <a:ln/>
        </p:spPr>
        <p:txBody>
          <a:bodyPr wrap="square" lIns="0" tIns="0" rIns="0" bIns="0" rtlCol="0" anchor="t"/>
          <a:lstStyle/>
          <a:p>
            <a:pPr indent="0" marL="0">
              <a:buNone/>
            </a:pPr>
            <a:r>
              <a:rPr lang="en-US" sz="1600" dirty="0">
                <a:solidFill>
                  <a:srgbClr val="1A1A1A"/>
                </a:solidFill>
              </a:rPr>
              <a:t>A car counter on each of the 8 entry roads is the only sensor</a:t>
            </a:r>
            <a:endParaRPr lang="en-US" sz="1600" dirty="0"/>
          </a:p>
        </p:txBody>
      </p:sp>
      <p:sp>
        <p:nvSpPr>
          <p:cNvPr id="8" name="arrow-0"/>
          <p:cNvSpPr/>
          <p:nvPr/>
        </p:nvSpPr>
        <p:spPr>
          <a:xfrm>
            <a:off x="2578608" y="2606040"/>
            <a:ext cx="219456" cy="256032"/>
          </a:xfrm>
          <a:prstGeom prst="rightArrow">
            <a:avLst/>
          </a:prstGeom>
          <a:solidFill>
            <a:srgbClr val="8A8984"/>
          </a:solidFill>
          <a:ln w="12700">
            <a:solidFill>
              <a:srgbClr val="8A8984"/>
            </a:solidFill>
            <a:prstDash val="solid"/>
          </a:ln>
        </p:spPr>
      </p:sp>
      <p:sp>
        <p:nvSpPr>
          <p:cNvPr id="9" name="step-Forecaster"/>
          <p:cNvSpPr/>
          <p:nvPr/>
        </p:nvSpPr>
        <p:spPr>
          <a:xfrm>
            <a:off x="2816352" y="1737360"/>
            <a:ext cx="2011680" cy="2011680"/>
          </a:xfrm>
          <a:prstGeom prst="roundRect">
            <a:avLst>
              <a:gd name="adj" fmla="val 3636"/>
            </a:avLst>
          </a:prstGeom>
          <a:solidFill>
            <a:srgbClr val="F3F2EF"/>
          </a:solidFill>
          <a:ln w="12700">
            <a:solidFill>
              <a:srgbClr val="F3F2EF"/>
            </a:solidFill>
            <a:prstDash val="solid"/>
          </a:ln>
        </p:spPr>
      </p:sp>
      <p:sp>
        <p:nvSpPr>
          <p:cNvPr id="10" name="step-head-1"/>
          <p:cNvSpPr txBox="1"/>
          <p:nvPr/>
        </p:nvSpPr>
        <p:spPr>
          <a:xfrm>
            <a:off x="2953512" y="1828800"/>
            <a:ext cx="1737360" cy="411480"/>
          </a:xfrm>
          <a:prstGeom prst="rect">
            <a:avLst/>
          </a:prstGeom>
          <a:noFill/>
          <a:ln/>
        </p:spPr>
        <p:txBody>
          <a:bodyPr wrap="square" lIns="0" tIns="0" rIns="0" bIns="0" rtlCol="0" anchor="ctr"/>
          <a:lstStyle/>
          <a:p>
            <a:pPr indent="0" marL="0">
              <a:buNone/>
            </a:pPr>
            <a:r>
              <a:rPr lang="en-US" sz="1800" b="1" dirty="0">
                <a:solidFill>
                  <a:srgbClr val="1A1A1A"/>
                </a:solidFill>
              </a:rPr>
              <a:t>Forecaster</a:t>
            </a:r>
            <a:endParaRPr lang="en-US" sz="1800" dirty="0"/>
          </a:p>
        </p:txBody>
      </p:sp>
      <p:sp>
        <p:nvSpPr>
          <p:cNvPr id="11" name="step-text-1"/>
          <p:cNvSpPr txBox="1"/>
          <p:nvPr/>
        </p:nvSpPr>
        <p:spPr>
          <a:xfrm>
            <a:off x="2953512" y="2286000"/>
            <a:ext cx="1737360" cy="1371600"/>
          </a:xfrm>
          <a:prstGeom prst="rect">
            <a:avLst/>
          </a:prstGeom>
          <a:noFill/>
          <a:ln/>
        </p:spPr>
        <p:txBody>
          <a:bodyPr wrap="square" lIns="0" tIns="0" rIns="0" bIns="0" rtlCol="0" anchor="t"/>
          <a:lstStyle/>
          <a:p>
            <a:pPr indent="0" marL="0">
              <a:buNone/>
            </a:pPr>
            <a:r>
              <a:rPr lang="en-US" sz="1600" dirty="0">
                <a:solidFill>
                  <a:srgbClr val="1A1A1A"/>
                </a:solidFill>
              </a:rPr>
              <a:t>Poisson GLM: arrivals per entry for the next 5 to 15 minutes</a:t>
            </a:r>
            <a:endParaRPr lang="en-US" sz="1600" dirty="0"/>
          </a:p>
        </p:txBody>
      </p:sp>
      <p:sp>
        <p:nvSpPr>
          <p:cNvPr id="12" name="arrow-1"/>
          <p:cNvSpPr/>
          <p:nvPr/>
        </p:nvSpPr>
        <p:spPr>
          <a:xfrm>
            <a:off x="4846320" y="2606040"/>
            <a:ext cx="219456" cy="256032"/>
          </a:xfrm>
          <a:prstGeom prst="rightArrow">
            <a:avLst/>
          </a:prstGeom>
          <a:solidFill>
            <a:srgbClr val="8A8984"/>
          </a:solidFill>
          <a:ln w="12700">
            <a:solidFill>
              <a:srgbClr val="8A8984"/>
            </a:solidFill>
            <a:prstDash val="solid"/>
          </a:ln>
        </p:spPr>
      </p:sp>
      <p:sp>
        <p:nvSpPr>
          <p:cNvPr id="13" name="step-Queue estimator"/>
          <p:cNvSpPr/>
          <p:nvPr/>
        </p:nvSpPr>
        <p:spPr>
          <a:xfrm>
            <a:off x="5084064" y="1737360"/>
            <a:ext cx="2011680" cy="2011680"/>
          </a:xfrm>
          <a:prstGeom prst="roundRect">
            <a:avLst>
              <a:gd name="adj" fmla="val 3636"/>
            </a:avLst>
          </a:prstGeom>
          <a:solidFill>
            <a:srgbClr val="F3F2EF"/>
          </a:solidFill>
          <a:ln w="12700">
            <a:solidFill>
              <a:srgbClr val="F3F2EF"/>
            </a:solidFill>
            <a:prstDash val="solid"/>
          </a:ln>
        </p:spPr>
      </p:sp>
      <p:sp>
        <p:nvSpPr>
          <p:cNvPr id="14" name="step-head-2"/>
          <p:cNvSpPr txBox="1"/>
          <p:nvPr/>
        </p:nvSpPr>
        <p:spPr>
          <a:xfrm>
            <a:off x="5221224" y="1828800"/>
            <a:ext cx="1737360" cy="411480"/>
          </a:xfrm>
          <a:prstGeom prst="rect">
            <a:avLst/>
          </a:prstGeom>
          <a:noFill/>
          <a:ln/>
        </p:spPr>
        <p:txBody>
          <a:bodyPr wrap="square" lIns="0" tIns="0" rIns="0" bIns="0" rtlCol="0" anchor="ctr"/>
          <a:lstStyle/>
          <a:p>
            <a:pPr indent="0" marL="0">
              <a:buNone/>
            </a:pPr>
            <a:r>
              <a:rPr lang="en-US" sz="1800" b="1" dirty="0">
                <a:solidFill>
                  <a:srgbClr val="1A1A1A"/>
                </a:solidFill>
              </a:rPr>
              <a:t>Queue estimator</a:t>
            </a:r>
            <a:endParaRPr lang="en-US" sz="1800" dirty="0"/>
          </a:p>
        </p:txBody>
      </p:sp>
      <p:sp>
        <p:nvSpPr>
          <p:cNvPr id="15" name="step-text-2"/>
          <p:cNvSpPr txBox="1"/>
          <p:nvPr/>
        </p:nvSpPr>
        <p:spPr>
          <a:xfrm>
            <a:off x="5221224" y="2286000"/>
            <a:ext cx="1737360" cy="1371600"/>
          </a:xfrm>
          <a:prstGeom prst="rect">
            <a:avLst/>
          </a:prstGeom>
          <a:noFill/>
          <a:ln/>
        </p:spPr>
        <p:txBody>
          <a:bodyPr wrap="square" lIns="0" tIns="0" rIns="0" bIns="0" rtlCol="0" anchor="t"/>
          <a:lstStyle/>
          <a:p>
            <a:pPr indent="0" marL="0">
              <a:buNone/>
            </a:pPr>
            <a:r>
              <a:rPr lang="en-US" sz="1600" dirty="0">
                <a:solidFill>
                  <a:srgbClr val="1A1A1A"/>
                </a:solidFill>
              </a:rPr>
              <a:t>Cars on every road, from the counts and its own signals</a:t>
            </a:r>
            <a:endParaRPr lang="en-US" sz="1600" dirty="0"/>
          </a:p>
        </p:txBody>
      </p:sp>
      <p:sp>
        <p:nvSpPr>
          <p:cNvPr id="16" name="arrow-2"/>
          <p:cNvSpPr/>
          <p:nvPr/>
        </p:nvSpPr>
        <p:spPr>
          <a:xfrm>
            <a:off x="7114032" y="2606040"/>
            <a:ext cx="219456" cy="256032"/>
          </a:xfrm>
          <a:prstGeom prst="rightArrow">
            <a:avLst/>
          </a:prstGeom>
          <a:solidFill>
            <a:srgbClr val="8A8984"/>
          </a:solidFill>
          <a:ln w="12700">
            <a:solidFill>
              <a:srgbClr val="8A8984"/>
            </a:solidFill>
            <a:prstDash val="solid"/>
          </a:ln>
        </p:spPr>
      </p:sp>
      <p:sp>
        <p:nvSpPr>
          <p:cNvPr id="17" name="step-Optimiser"/>
          <p:cNvSpPr/>
          <p:nvPr/>
        </p:nvSpPr>
        <p:spPr>
          <a:xfrm>
            <a:off x="7351776" y="1737360"/>
            <a:ext cx="2011680" cy="2011680"/>
          </a:xfrm>
          <a:prstGeom prst="roundRect">
            <a:avLst>
              <a:gd name="adj" fmla="val 3636"/>
            </a:avLst>
          </a:prstGeom>
          <a:solidFill>
            <a:srgbClr val="E6F0FB"/>
          </a:solidFill>
          <a:ln w="12700">
            <a:solidFill>
              <a:srgbClr val="E6F0FB"/>
            </a:solidFill>
            <a:prstDash val="solid"/>
          </a:ln>
        </p:spPr>
      </p:sp>
      <p:sp>
        <p:nvSpPr>
          <p:cNvPr id="18" name="step-head-3"/>
          <p:cNvSpPr txBox="1"/>
          <p:nvPr/>
        </p:nvSpPr>
        <p:spPr>
          <a:xfrm>
            <a:off x="7488936" y="1828800"/>
            <a:ext cx="1737360" cy="411480"/>
          </a:xfrm>
          <a:prstGeom prst="rect">
            <a:avLst/>
          </a:prstGeom>
          <a:noFill/>
          <a:ln/>
        </p:spPr>
        <p:txBody>
          <a:bodyPr wrap="square" lIns="0" tIns="0" rIns="0" bIns="0" rtlCol="0" anchor="ctr"/>
          <a:lstStyle/>
          <a:p>
            <a:pPr indent="0" marL="0">
              <a:buNone/>
            </a:pPr>
            <a:r>
              <a:rPr lang="en-US" sz="1800" b="1" dirty="0">
                <a:solidFill>
                  <a:srgbClr val="2A78D6"/>
                </a:solidFill>
              </a:rPr>
              <a:t>Optimiser</a:t>
            </a:r>
            <a:endParaRPr lang="en-US" sz="1800" dirty="0"/>
          </a:p>
        </p:txBody>
      </p:sp>
      <p:sp>
        <p:nvSpPr>
          <p:cNvPr id="19" name="step-text-3"/>
          <p:cNvSpPr txBox="1"/>
          <p:nvPr/>
        </p:nvSpPr>
        <p:spPr>
          <a:xfrm>
            <a:off x="7488936" y="2286000"/>
            <a:ext cx="1737360" cy="1371600"/>
          </a:xfrm>
          <a:prstGeom prst="rect">
            <a:avLst/>
          </a:prstGeom>
          <a:noFill/>
          <a:ln/>
        </p:spPr>
        <p:txBody>
          <a:bodyPr wrap="square" lIns="0" tIns="0" rIns="0" bIns="0" rtlCol="0" anchor="t"/>
          <a:lstStyle/>
          <a:p>
            <a:pPr indent="0" marL="0">
              <a:buNone/>
            </a:pPr>
            <a:r>
              <a:rPr lang="en-US" sz="1600" dirty="0">
                <a:solidFill>
                  <a:srgbClr val="1A1A1A"/>
                </a:solidFill>
              </a:rPr>
              <a:t>Quadratic program every 60 s: cycle and green splits for 15 min</a:t>
            </a:r>
            <a:endParaRPr lang="en-US" sz="1600" dirty="0"/>
          </a:p>
        </p:txBody>
      </p:sp>
      <p:sp>
        <p:nvSpPr>
          <p:cNvPr id="20" name="arrow-3"/>
          <p:cNvSpPr/>
          <p:nvPr/>
        </p:nvSpPr>
        <p:spPr>
          <a:xfrm>
            <a:off x="9381744" y="2606040"/>
            <a:ext cx="219456" cy="256032"/>
          </a:xfrm>
          <a:prstGeom prst="rightArrow">
            <a:avLst/>
          </a:prstGeom>
          <a:solidFill>
            <a:srgbClr val="8A8984"/>
          </a:solidFill>
          <a:ln w="12700">
            <a:solidFill>
              <a:srgbClr val="8A8984"/>
            </a:solidFill>
            <a:prstDash val="solid"/>
          </a:ln>
        </p:spPr>
      </p:sp>
      <p:sp>
        <p:nvSpPr>
          <p:cNvPr id="21" name="step-Signals"/>
          <p:cNvSpPr/>
          <p:nvPr/>
        </p:nvSpPr>
        <p:spPr>
          <a:xfrm>
            <a:off x="9619488" y="1737360"/>
            <a:ext cx="2011680" cy="2011680"/>
          </a:xfrm>
          <a:prstGeom prst="roundRect">
            <a:avLst>
              <a:gd name="adj" fmla="val 3636"/>
            </a:avLst>
          </a:prstGeom>
          <a:solidFill>
            <a:srgbClr val="F3F2EF"/>
          </a:solidFill>
          <a:ln w="12700">
            <a:solidFill>
              <a:srgbClr val="F3F2EF"/>
            </a:solidFill>
            <a:prstDash val="solid"/>
          </a:ln>
        </p:spPr>
      </p:sp>
      <p:sp>
        <p:nvSpPr>
          <p:cNvPr id="22" name="step-head-4"/>
          <p:cNvSpPr txBox="1"/>
          <p:nvPr/>
        </p:nvSpPr>
        <p:spPr>
          <a:xfrm>
            <a:off x="9756648" y="1828800"/>
            <a:ext cx="1737360" cy="411480"/>
          </a:xfrm>
          <a:prstGeom prst="rect">
            <a:avLst/>
          </a:prstGeom>
          <a:noFill/>
          <a:ln/>
        </p:spPr>
        <p:txBody>
          <a:bodyPr wrap="square" lIns="0" tIns="0" rIns="0" bIns="0" rtlCol="0" anchor="ctr"/>
          <a:lstStyle/>
          <a:p>
            <a:pPr indent="0" marL="0">
              <a:buNone/>
            </a:pPr>
            <a:r>
              <a:rPr lang="en-US" sz="1800" b="1" dirty="0">
                <a:solidFill>
                  <a:srgbClr val="1A1A1A"/>
                </a:solidFill>
              </a:rPr>
              <a:t>Signals</a:t>
            </a:r>
            <a:endParaRPr lang="en-US" sz="1800" dirty="0"/>
          </a:p>
        </p:txBody>
      </p:sp>
      <p:sp>
        <p:nvSpPr>
          <p:cNvPr id="23" name="step-text-4"/>
          <p:cNvSpPr txBox="1"/>
          <p:nvPr/>
        </p:nvSpPr>
        <p:spPr>
          <a:xfrm>
            <a:off x="9756648" y="2286000"/>
            <a:ext cx="1737360" cy="1371600"/>
          </a:xfrm>
          <a:prstGeom prst="rect">
            <a:avLst/>
          </a:prstGeom>
          <a:noFill/>
          <a:ln/>
        </p:spPr>
        <p:txBody>
          <a:bodyPr wrap="square" lIns="0" tIns="0" rIns="0" bIns="0" rtlCol="0" anchor="t"/>
          <a:lstStyle/>
          <a:p>
            <a:pPr indent="0" marL="0">
              <a:buNone/>
            </a:pPr>
            <a:r>
              <a:rPr lang="en-US" sz="1600" dirty="0">
                <a:solidFill>
                  <a:srgbClr val="1A1A1A"/>
                </a:solidFill>
              </a:rPr>
              <a:t>Run second by second, with gap-out and an incident fallback</a:t>
            </a:r>
            <a:endParaRPr lang="en-US" sz="1600" dirty="0"/>
          </a:p>
        </p:txBody>
      </p:sp>
      <p:sp>
        <p:nvSpPr>
          <p:cNvPr id="24" name="stat-0"/>
          <p:cNvSpPr txBox="1"/>
          <p:nvPr/>
        </p:nvSpPr>
        <p:spPr>
          <a:xfrm>
            <a:off x="548640" y="4206240"/>
            <a:ext cx="3474720" cy="822960"/>
          </a:xfrm>
          <a:prstGeom prst="rect">
            <a:avLst/>
          </a:prstGeom>
          <a:noFill/>
          <a:ln/>
        </p:spPr>
        <p:txBody>
          <a:bodyPr wrap="square" lIns="0" tIns="0" rIns="0" bIns="0" rtlCol="0" anchor="ctr"/>
          <a:lstStyle/>
          <a:p>
            <a:pPr indent="0" marL="0">
              <a:buNone/>
            </a:pPr>
            <a:r>
              <a:rPr lang="en-US" sz="4400" b="1" dirty="0">
                <a:solidFill>
                  <a:srgbClr val="2A78D6"/>
                </a:solidFill>
              </a:rPr>
              <a:t>−43 to −64%</a:t>
            </a:r>
            <a:endParaRPr lang="en-US" sz="4400" dirty="0"/>
          </a:p>
        </p:txBody>
      </p:sp>
      <p:sp>
        <p:nvSpPr>
          <p:cNvPr id="25" name="stat-label-0"/>
          <p:cNvSpPr txBox="1"/>
          <p:nvPr/>
        </p:nvSpPr>
        <p:spPr>
          <a:xfrm>
            <a:off x="548640" y="5029200"/>
            <a:ext cx="3383280" cy="731520"/>
          </a:xfrm>
          <a:prstGeom prst="rect">
            <a:avLst/>
          </a:prstGeom>
          <a:noFill/>
          <a:ln/>
        </p:spPr>
        <p:txBody>
          <a:bodyPr wrap="square" lIns="0" tIns="0" rIns="0" bIns="0" rtlCol="0" anchor="t"/>
          <a:lstStyle/>
          <a:p>
            <a:pPr indent="0" marL="0">
              <a:buNone/>
            </a:pPr>
            <a:r>
              <a:rPr lang="en-US" sz="1600" dirty="0">
                <a:solidFill>
                  <a:srgbClr val="5A5955"/>
                </a:solidFill>
              </a:rPr>
              <a:t>delay per car vs the untuned 60 s plan, in all six scenarios</a:t>
            </a:r>
            <a:endParaRPr lang="en-US" sz="1600" dirty="0"/>
          </a:p>
        </p:txBody>
      </p:sp>
      <p:sp>
        <p:nvSpPr>
          <p:cNvPr id="26" name="stat-1"/>
          <p:cNvSpPr txBox="1"/>
          <p:nvPr/>
        </p:nvSpPr>
        <p:spPr>
          <a:xfrm>
            <a:off x="4297680" y="4206240"/>
            <a:ext cx="3474720" cy="822960"/>
          </a:xfrm>
          <a:prstGeom prst="rect">
            <a:avLst/>
          </a:prstGeom>
          <a:noFill/>
          <a:ln/>
        </p:spPr>
        <p:txBody>
          <a:bodyPr wrap="square" lIns="0" tIns="0" rIns="0" bIns="0" rtlCol="0" anchor="ctr"/>
          <a:lstStyle/>
          <a:p>
            <a:pPr indent="0" marL="0">
              <a:buNone/>
            </a:pPr>
            <a:r>
              <a:rPr lang="en-US" sz="4400" b="1" dirty="0">
                <a:solidFill>
                  <a:srgbClr val="2A78D6"/>
                </a:solidFill>
              </a:rPr>
              <a:t>−5 to −32%</a:t>
            </a:r>
            <a:endParaRPr lang="en-US" sz="4400" dirty="0"/>
          </a:p>
        </p:txBody>
      </p:sp>
      <p:sp>
        <p:nvSpPr>
          <p:cNvPr id="27" name="stat-label-1"/>
          <p:cNvSpPr txBox="1"/>
          <p:nvPr/>
        </p:nvSpPr>
        <p:spPr>
          <a:xfrm>
            <a:off x="4297680" y="5029200"/>
            <a:ext cx="3383280" cy="731520"/>
          </a:xfrm>
          <a:prstGeom prst="rect">
            <a:avLst/>
          </a:prstGeom>
          <a:noFill/>
          <a:ln/>
        </p:spPr>
        <p:txBody>
          <a:bodyPr wrap="square" lIns="0" tIns="0" rIns="0" bIns="0" rtlCol="0" anchor="t"/>
          <a:lstStyle/>
          <a:p>
            <a:pPr indent="0" marL="0">
              <a:buNone/>
            </a:pPr>
            <a:r>
              <a:rPr lang="en-US" sz="1600" dirty="0">
                <a:solidFill>
                  <a:srgbClr val="5A5955"/>
                </a:solidFill>
              </a:rPr>
              <a:t>vs a fixed plan tuned on each scenario's normal day</a:t>
            </a:r>
            <a:endParaRPr lang="en-US" sz="1600" dirty="0"/>
          </a:p>
        </p:txBody>
      </p:sp>
      <p:sp>
        <p:nvSpPr>
          <p:cNvPr id="28" name="stat-2"/>
          <p:cNvSpPr txBox="1"/>
          <p:nvPr/>
        </p:nvSpPr>
        <p:spPr>
          <a:xfrm>
            <a:off x="8046720" y="4206240"/>
            <a:ext cx="3474720" cy="822960"/>
          </a:xfrm>
          <a:prstGeom prst="rect">
            <a:avLst/>
          </a:prstGeom>
          <a:noFill/>
          <a:ln/>
        </p:spPr>
        <p:txBody>
          <a:bodyPr wrap="square" lIns="0" tIns="0" rIns="0" bIns="0" rtlCol="0" anchor="ctr"/>
          <a:lstStyle/>
          <a:p>
            <a:pPr indent="0" marL="0">
              <a:buNone/>
            </a:pPr>
            <a:r>
              <a:rPr lang="en-US" sz="4400" b="1" dirty="0">
                <a:solidFill>
                  <a:srgbClr val="2A78D6"/>
                </a:solidFill>
              </a:rPr>
              <a:t>38 ms</a:t>
            </a:r>
            <a:endParaRPr lang="en-US" sz="4400" dirty="0"/>
          </a:p>
        </p:txBody>
      </p:sp>
      <p:sp>
        <p:nvSpPr>
          <p:cNvPr id="29" name="stat-label-2"/>
          <p:cNvSpPr txBox="1"/>
          <p:nvPr/>
        </p:nvSpPr>
        <p:spPr>
          <a:xfrm>
            <a:off x="8046720" y="5029200"/>
            <a:ext cx="3383280" cy="731520"/>
          </a:xfrm>
          <a:prstGeom prst="rect">
            <a:avLst/>
          </a:prstGeom>
          <a:noFill/>
          <a:ln/>
        </p:spPr>
        <p:txBody>
          <a:bodyPr wrap="square" lIns="0" tIns="0" rIns="0" bIns="0" rtlCol="0" anchor="t"/>
          <a:lstStyle/>
          <a:p>
            <a:pPr indent="0" marL="0">
              <a:buNone/>
            </a:pPr>
            <a:r>
              <a:rPr lang="en-US" sz="1600" dirty="0">
                <a:solidFill>
                  <a:srgbClr val="5A5955"/>
                </a:solidFill>
              </a:rPr>
              <a:t>to solve one decision on the 2×2 grid (1.9 s for 100 junctions)</a:t>
            </a:r>
            <a:endParaRPr lang="en-US" sz="1600" dirty="0"/>
          </a:p>
        </p:txBody>
      </p:sp>
      <p:sp>
        <p:nvSpPr>
          <p:cNvPr id="30" name="brief"/>
          <p:cNvSpPr txBox="1"/>
          <p:nvPr/>
        </p:nvSpPr>
        <p:spPr>
          <a:xfrm>
            <a:off x="548640" y="5989320"/>
            <a:ext cx="10515600" cy="320040"/>
          </a:xfrm>
          <a:prstGeom prst="rect">
            <a:avLst/>
          </a:prstGeom>
          <a:noFill/>
          <a:ln/>
        </p:spPr>
        <p:txBody>
          <a:bodyPr wrap="square" lIns="0" tIns="0" rIns="0" bIns="0" rtlCol="0" anchor="ctr"/>
          <a:lstStyle/>
          <a:p>
            <a:pPr indent="0" marL="0">
              <a:buNone/>
            </a:pPr>
            <a:r>
              <a:rPr lang="en-US" sz="1600" dirty="0">
                <a:solidFill>
                  <a:srgbClr val="5A5955"/>
                </a:solidFill>
              </a:rPr>
              <a:t>Brief: beat fixed timing by 20%+, 4+ intersections, live visualisation, react to accidents and events.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1 · SIMULATION</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Simulation: network, vehicles and sensing</a:t>
            </a:r>
            <a:endParaRPr lang="en-US" sz="3600" dirty="0"/>
          </a:p>
        </p:txBody>
      </p:sp>
      <p:sp>
        <p:nvSpPr>
          <p:cNvPr id="5" name="body"/>
          <p:cNvSpPr txBox="1"/>
          <p:nvPr/>
        </p:nvSpPr>
        <p:spPr>
          <a:xfrm>
            <a:off x="548640" y="1645920"/>
            <a:ext cx="5852160" cy="4663440"/>
          </a:xfrm>
          <a:prstGeom prst="rect">
            <a:avLst/>
          </a:prstGeom>
          <a:noFill/>
          <a:ln/>
        </p:spPr>
        <p:txBody>
          <a:bodyPr wrap="square" lIns="0" tIns="0" rIns="0" bIns="0" rtlCol="0" anchor="t"/>
          <a:lstStyle/>
          <a:p>
            <a:pPr indent="0" marL="0">
              <a:spcAft>
                <a:spcPts val="300"/>
              </a:spcAft>
              <a:buNone/>
            </a:pPr>
            <a:r>
              <a:rPr lang="en-US" sz="1600" b="1" dirty="0">
                <a:solidFill>
                  <a:srgbClr val="2A78D6"/>
                </a:solidFill>
              </a:rPr>
              <a:t>Assumptions</a:t>
            </a:r>
            <a:endParaRPr lang="en-US" sz="1600" dirty="0"/>
          </a:p>
          <a:p>
            <a:pPr marL="203200" indent="-203200">
              <a:spcAft>
                <a:spcPts val="1200"/>
              </a:spcAft>
              <a:buSzPct val="100000"/>
              <a:buChar char="•"/>
            </a:pPr>
            <a:r>
              <a:rPr lang="en-US" sz="1600" dirty="0">
                <a:solidFill>
                  <a:srgbClr val="1A1A1A"/>
                </a:solidFill>
              </a:rPr>
              <a:t>2×2 grid, 4 junctions, one lane per approach, two signal phases (NS / EW)</a:t>
            </a:r>
            <a:endParaRPr lang="en-US" sz="1600" dirty="0"/>
          </a:p>
          <a:p>
            <a:pPr marL="203200" indent="-203200">
              <a:spcAft>
                <a:spcPts val="1200"/>
              </a:spcAft>
              <a:buSzPct val="100000"/>
              <a:buChar char="•"/>
            </a:pPr>
            <a:r>
              <a:rPr lang="en-US" sz="1600" dirty="0">
                <a:solidFill>
                  <a:srgbClr val="1A1A1A"/>
                </a:solidFill>
              </a:rPr>
              <a:t>400 m entry roads, 200 m internal links; 70% straight, 15% left, 15% right</a:t>
            </a:r>
            <a:endParaRPr lang="en-US" sz="1600" dirty="0"/>
          </a:p>
          <a:p>
            <a:pPr marL="203200" indent="-203200">
              <a:spcAft>
                <a:spcPts val="1200"/>
              </a:spcAft>
              <a:buSzPct val="100000"/>
              <a:buChar char="•"/>
            </a:pPr>
            <a:r>
              <a:rPr lang="en-US" sz="1600" dirty="0">
                <a:solidFill>
                  <a:srgbClr val="1A1A1A"/>
                </a:solidFill>
              </a:rPr>
              <a:t>One car type, Intelligent Driver Model; saturation flow emerges at 0.40 veh/s</a:t>
            </a:r>
            <a:endParaRPr lang="en-US" sz="1600" dirty="0"/>
          </a:p>
          <a:p>
            <a:pPr marL="203200" indent="-203200">
              <a:spcAft>
                <a:spcPts val="1200"/>
              </a:spcAft>
              <a:buSzPct val="100000"/>
              <a:buChar char="•"/>
            </a:pPr>
            <a:r>
              <a:rPr lang="en-US" sz="1600" dirty="0">
                <a:solidFill>
                  <a:srgbClr val="1A1A1A"/>
                </a:solidFill>
              </a:rPr>
              <a:t>Rain: free speed −20%, headway +30%</a:t>
            </a:r>
            <a:endParaRPr lang="en-US" sz="1600" dirty="0"/>
          </a:p>
          <a:p>
            <a:pPr indent="0" marL="0">
              <a:spcBef>
                <a:spcPts val="800"/>
              </a:spcBef>
              <a:spcAft>
                <a:spcPts val="300"/>
              </a:spcAft>
              <a:buNone/>
            </a:pPr>
            <a:r>
              <a:rPr lang="en-US" sz="1600" b="1" dirty="0">
                <a:solidFill>
                  <a:srgbClr val="2A78D6"/>
                </a:solidFill>
              </a:rPr>
              <a:t>How it is implemented</a:t>
            </a:r>
            <a:endParaRPr lang="en-US" sz="1600" dirty="0"/>
          </a:p>
          <a:p>
            <a:pPr marL="203200" indent="-203200">
              <a:spcAft>
                <a:spcPts val="1200"/>
              </a:spcAft>
              <a:buSzPct val="100000"/>
              <a:buChar char="•"/>
            </a:pPr>
            <a:r>
              <a:rPr lang="en-US" sz="1600" dirty="0">
                <a:solidFill>
                  <a:srgbClr val="1A1A1A"/>
                </a:solidFill>
              </a:rPr>
              <a:t>Vehicle-level and time-stepped (0.5 s): queues and spillback emerge from the dynamics</a:t>
            </a:r>
            <a:endParaRPr lang="en-US" sz="1600" dirty="0"/>
          </a:p>
          <a:p>
            <a:pPr marL="203200" indent="-203200">
              <a:spcAft>
                <a:spcPts val="1200"/>
              </a:spcAft>
              <a:buSzPct val="100000"/>
              <a:buChar char="•"/>
            </a:pPr>
            <a:r>
              <a:rPr lang="en-US" sz="1600" dirty="0">
                <a:solidFill>
                  <a:srgbClr val="1A1A1A"/>
                </a:solidFill>
              </a:rPr>
              <a:t>Cars wait outside a full entry road, and that wait counts as delay</a:t>
            </a:r>
            <a:endParaRPr lang="en-US" sz="1600" dirty="0"/>
          </a:p>
          <a:p>
            <a:pPr marL="203200" indent="-203200">
              <a:spcAft>
                <a:spcPts val="1200"/>
              </a:spcAft>
              <a:buSzPct val="100000"/>
              <a:buChar char="•"/>
            </a:pPr>
            <a:r>
              <a:rPr lang="en-US" sz="1600" dirty="0">
                <a:solidFill>
                  <a:srgbClr val="1A1A1A"/>
                </a:solidFill>
              </a:rPr>
              <a:t>Same scenario + seed gives identical cars to every controller</a:t>
            </a:r>
            <a:endParaRPr lang="en-US" sz="1600" dirty="0"/>
          </a:p>
          <a:p>
            <a:pPr marL="203200" indent="-203200">
              <a:spcAft>
                <a:spcPts val="1200"/>
              </a:spcAft>
              <a:buSzPct val="100000"/>
              <a:buChar char="•"/>
            </a:pPr>
            <a:r>
              <a:rPr lang="en-US" sz="1600" dirty="0">
                <a:solidFill>
                  <a:srgbClr val="1A1A1A"/>
                </a:solidFill>
              </a:rPr>
              <a:t>Grid generated from rows × cols: 10×10 is a config change</a:t>
            </a:r>
            <a:endParaRPr lang="en-US" sz="1600" dirty="0"/>
          </a:p>
        </p:txBody>
      </p:sp>
      <p:pic>
        <p:nvPicPr>
          <p:cNvPr id="6" name="fig-network" descr="2 by 2 grid with entry counters">    </p:cNvPr>
          <p:cNvPicPr>
            <a:picLocks noChangeAspect="1"/>
          </p:cNvPicPr>
          <p:nvPr/>
        </p:nvPicPr>
        <p:blipFill>
          <a:blip r:embed="rId1"/>
          <a:stretch>
            <a:fillRect/>
          </a:stretch>
        </p:blipFill>
        <p:spPr>
          <a:xfrm>
            <a:off x="7118413" y="1691640"/>
            <a:ext cx="4325493" cy="4572000"/>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1 · SIMULATION</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How a simulated day is built</a:t>
            </a:r>
            <a:endParaRPr lang="en-US" sz="3600" dirty="0"/>
          </a:p>
        </p:txBody>
      </p:sp>
      <p:sp>
        <p:nvSpPr>
          <p:cNvPr id="5" name="formula-card"/>
          <p:cNvSpPr/>
          <p:nvPr/>
        </p:nvSpPr>
        <p:spPr>
          <a:xfrm>
            <a:off x="548640" y="1691640"/>
            <a:ext cx="5394960" cy="1417320"/>
          </a:xfrm>
          <a:prstGeom prst="roundRect">
            <a:avLst>
              <a:gd name="adj" fmla="val 5161"/>
            </a:avLst>
          </a:prstGeom>
          <a:solidFill>
            <a:srgbClr val="E6F0FB"/>
          </a:solidFill>
          <a:ln w="12700">
            <a:solidFill>
              <a:srgbClr val="E6F0FB"/>
            </a:solidFill>
            <a:prstDash val="solid"/>
          </a:ln>
        </p:spPr>
      </p:sp>
      <p:sp>
        <p:nvSpPr>
          <p:cNvPr id="6" name="formula"/>
          <p:cNvSpPr txBox="1"/>
          <p:nvPr/>
        </p:nvSpPr>
        <p:spPr>
          <a:xfrm>
            <a:off x="731520" y="1783080"/>
            <a:ext cx="5120640" cy="1234440"/>
          </a:xfrm>
          <a:prstGeom prst="rect">
            <a:avLst/>
          </a:prstGeom>
          <a:noFill/>
          <a:ln/>
        </p:spPr>
        <p:txBody>
          <a:bodyPr wrap="square" lIns="0" tIns="0" rIns="0" bIns="0" rtlCol="0" anchor="ctr"/>
          <a:lstStyle/>
          <a:p>
            <a:pPr indent="0" marL="0">
              <a:buNone/>
            </a:pPr>
            <a:r>
              <a:rPr lang="en-US" sz="1600" dirty="0">
                <a:solidFill>
                  <a:srgbClr val="1A1A1A"/>
                </a:solidFill>
                <a:latin typeface="Courier New" pitchFamily="34" charset="0"/>
                <a:ea typeface="Courier New" pitchFamily="34" charset="-122"/>
                <a:cs typeface="Courier New" pitchFamily="34" charset="-120"/>
              </a:rPr>
              <a:t>rate(entry, t) =</a:t>
            </a:r>
            <a:endParaRPr lang="en-US" sz="1600" dirty="0"/>
          </a:p>
          <a:p>
            <a:pPr indent="0" marL="0">
              <a:buNone/>
            </a:pPr>
            <a:r>
              <a:rPr lang="en-US" sz="1600" dirty="0">
                <a:solidFill>
                  <a:srgbClr val="1A1A1A"/>
                </a:solidFill>
                <a:latin typeface="Courier New" pitchFamily="34" charset="0"/>
                <a:ea typeface="Courier New" pitchFamily="34" charset="-122"/>
                <a:cs typeface="Courier New" pitchFamily="34" charset="-120"/>
              </a:rPr>
              <a:t>  profile(t − shift) × level × rain × tide</a:t>
            </a:r>
            <a:endParaRPr lang="en-US" sz="1600" dirty="0"/>
          </a:p>
          <a:p>
            <a:pPr indent="0" marL="0">
              <a:buNone/>
            </a:pPr>
            <a:r>
              <a:rPr lang="en-US" sz="1600" dirty="0">
                <a:solidFill>
                  <a:srgbClr val="1A1A1A"/>
                </a:solidFill>
                <a:latin typeface="Courier New" pitchFamily="34" charset="0"/>
                <a:ea typeface="Courier New" pitchFamily="34" charset="-122"/>
                <a:cs typeface="Courier New" pitchFamily="34" charset="-120"/>
              </a:rPr>
              <a:t>  × noise × (1 + event)</a:t>
            </a:r>
            <a:endParaRPr lang="en-US" sz="1600" dirty="0"/>
          </a:p>
        </p:txBody>
      </p:sp>
      <p:sp>
        <p:nvSpPr>
          <p:cNvPr id="7" name="body"/>
          <p:cNvSpPr txBox="1"/>
          <p:nvPr/>
        </p:nvSpPr>
        <p:spPr>
          <a:xfrm>
            <a:off x="548640" y="3337560"/>
            <a:ext cx="5394960" cy="292608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1A1A1A"/>
                </a:solidFill>
              </a:rPr>
              <a:t>Profile: weekday AM peak 07:42, PM peak 17:00, midday plateau</a:t>
            </a:r>
            <a:endParaRPr lang="en-US" sz="1600" dirty="0"/>
          </a:p>
          <a:p>
            <a:pPr marL="203200" indent="-203200">
              <a:spcAft>
                <a:spcPts val="1200"/>
              </a:spcAft>
              <a:buSzPct val="100000"/>
              <a:buChar char="•"/>
            </a:pPr>
            <a:r>
              <a:rPr lang="en-US" sz="1600" dirty="0">
                <a:solidFill>
                  <a:srgbClr val="1A1A1A"/>
                </a:solidFill>
              </a:rPr>
              <a:t>Each day draws its own level (σ 10%) and timing shift (sd 12 min)</a:t>
            </a:r>
            <a:endParaRPr lang="en-US" sz="1600" dirty="0"/>
          </a:p>
          <a:p>
            <a:pPr marL="203200" indent="-203200">
              <a:spcAft>
                <a:spcPts val="1200"/>
              </a:spcAft>
              <a:buSzPct val="100000"/>
              <a:buChar char="•"/>
            </a:pPr>
            <a:r>
              <a:rPr lang="en-US" sz="1600" dirty="0">
                <a:solidFill>
                  <a:srgbClr val="1A1A1A"/>
                </a:solidFill>
              </a:rPr>
              <a:t>Rain adds ~10% demand; AR(1) noise gives ~10 min of memory</a:t>
            </a:r>
            <a:endParaRPr lang="en-US" sz="1600" dirty="0"/>
          </a:p>
          <a:p>
            <a:pPr marL="203200" indent="-203200">
              <a:spcAft>
                <a:spcPts val="1200"/>
              </a:spcAft>
              <a:buSzPct val="100000"/>
              <a:buChar char="•"/>
            </a:pPr>
            <a:r>
              <a:rPr lang="en-US" sz="1600" dirty="0">
                <a:solidFill>
                  <a:srgbClr val="1A1A1A"/>
                </a:solidFill>
              </a:rPr>
              <a:t>Disturbances: storms ~0.8 a day, accidents 0.1 an hour, events 0.4 a day</a:t>
            </a:r>
            <a:endParaRPr lang="en-US" sz="1600" dirty="0"/>
          </a:p>
          <a:p>
            <a:pPr marL="203200" indent="-203200">
              <a:spcAft>
                <a:spcPts val="1200"/>
              </a:spcAft>
              <a:buSzPct val="100000"/>
              <a:buChar char="•"/>
            </a:pPr>
            <a:r>
              <a:rPr lang="en-US" sz="1600" dirty="0">
                <a:solidFill>
                  <a:srgbClr val="1A1A1A"/>
                </a:solidFill>
              </a:rPr>
              <a:t>Events are announced with a size; the crowd that turns up differs (sd 25%)</a:t>
            </a:r>
            <a:endParaRPr lang="en-US" sz="1600" dirty="0"/>
          </a:p>
        </p:txBody>
      </p:sp>
      <p:pic>
        <p:nvPicPr>
          <p:cNvPr id="8" name="fig-days" descr="Demand over 40 random days">    </p:cNvPr>
          <p:cNvPicPr>
            <a:picLocks noChangeAspect="1"/>
          </p:cNvPicPr>
          <p:nvPr/>
        </p:nvPicPr>
        <p:blipFill>
          <a:blip r:embed="rId1"/>
          <a:stretch>
            <a:fillRect/>
          </a:stretch>
        </p:blipFill>
        <p:spPr>
          <a:xfrm>
            <a:off x="6217920" y="1805772"/>
            <a:ext cx="5440680" cy="4343736"/>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1 · SIMULATION</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From demand to Poisson randomness</a:t>
            </a:r>
            <a:endParaRPr lang="en-US" sz="3600" dirty="0"/>
          </a:p>
        </p:txBody>
      </p:sp>
      <p:sp>
        <p:nvSpPr>
          <p:cNvPr id="5" name="body"/>
          <p:cNvSpPr txBox="1"/>
          <p:nvPr/>
        </p:nvSpPr>
        <p:spPr>
          <a:xfrm>
            <a:off x="548640" y="1737360"/>
            <a:ext cx="5212080" cy="4572000"/>
          </a:xfrm>
          <a:prstGeom prst="rect">
            <a:avLst/>
          </a:prstGeom>
          <a:noFill/>
          <a:ln/>
        </p:spPr>
        <p:txBody>
          <a:bodyPr wrap="square" lIns="0" tIns="0" rIns="0" bIns="0" rtlCol="0" anchor="t"/>
          <a:lstStyle/>
          <a:p>
            <a:pPr indent="0" marL="0">
              <a:spcAft>
                <a:spcPts val="1200"/>
              </a:spcAft>
              <a:buNone/>
            </a:pPr>
            <a:r>
              <a:rPr lang="en-US" sz="1900" b="1" dirty="0">
                <a:solidFill>
                  <a:srgbClr val="1A1A1A"/>
                </a:solidFill>
              </a:rPr>
              <a:t>The rate: </a:t>
            </a:r>
            <a:pPr indent="0" marL="0">
              <a:spcAft>
                <a:spcPts val="1200"/>
              </a:spcAft>
              <a:buNone/>
            </a:pPr>
            <a:r>
              <a:rPr lang="en-US" sz="1900" dirty="0">
                <a:solidFill>
                  <a:srgbClr val="1A1A1A"/>
                </a:solidFill>
              </a:rPr>
              <a:t>the day model gives an expected arrival rate λ(t) for every entry</a:t>
            </a:r>
            <a:endParaRPr lang="en-US" sz="1900" dirty="0"/>
          </a:p>
          <a:p>
            <a:pPr indent="0" marL="0">
              <a:spcAft>
                <a:spcPts val="1200"/>
              </a:spcAft>
              <a:buNone/>
            </a:pPr>
            <a:r>
              <a:rPr lang="en-US" sz="1900" b="1" dirty="0">
                <a:solidFill>
                  <a:srgbClr val="1A1A1A"/>
                </a:solidFill>
              </a:rPr>
              <a:t>The randomness: </a:t>
            </a:r>
            <a:pPr indent="0" marL="0">
              <a:spcAft>
                <a:spcPts val="1200"/>
              </a:spcAft>
              <a:buNone/>
            </a:pPr>
            <a:r>
              <a:rPr lang="en-US" sz="1900" dirty="0">
                <a:solidFill>
                  <a:srgbClr val="1A1A1A"/>
                </a:solidFill>
              </a:rPr>
              <a:t>each car's arrival is drawn at random, so a window's count is Poisson(λ·Δt)</a:t>
            </a:r>
            <a:endParaRPr lang="en-US" sz="1900" dirty="0"/>
          </a:p>
          <a:p>
            <a:pPr indent="0" marL="0">
              <a:spcAft>
                <a:spcPts val="1200"/>
              </a:spcAft>
              <a:buNone/>
            </a:pPr>
            <a:r>
              <a:rPr lang="en-US" sz="1900" b="1" dirty="0">
                <a:solidFill>
                  <a:srgbClr val="1A1A1A"/>
                </a:solidFill>
              </a:rPr>
              <a:t>The noise: </a:t>
            </a:r>
            <a:pPr indent="0" marL="0">
              <a:spcAft>
                <a:spcPts val="1200"/>
              </a:spcAft>
              <a:buNone/>
            </a:pPr>
            <a:r>
              <a:rPr lang="en-US" sz="1900" dirty="0">
                <a:solidFill>
                  <a:srgbClr val="1A1A1A"/>
                </a:solidFill>
              </a:rPr>
              <a:t>sd = √mean, so at the peak (≈56 cars per 5 min) the count is ±13%</a:t>
            </a:r>
            <a:endParaRPr lang="en-US" sz="1900" dirty="0"/>
          </a:p>
          <a:p>
            <a:pPr indent="0" marL="0">
              <a:spcAft>
                <a:spcPts val="1200"/>
              </a:spcAft>
              <a:buNone/>
            </a:pPr>
            <a:r>
              <a:rPr lang="en-US" sz="1900" b="1" dirty="0">
                <a:solidFill>
                  <a:srgbClr val="1A1A1A"/>
                </a:solidFill>
              </a:rPr>
              <a:t>What the controller sees: </a:t>
            </a:r>
            <a:pPr indent="0" marL="0">
              <a:spcAft>
                <a:spcPts val="1200"/>
              </a:spcAft>
              <a:buNone/>
            </a:pPr>
            <a:r>
              <a:rPr lang="en-US" sz="1900" dirty="0">
                <a:solidFill>
                  <a:srgbClr val="1A1A1A"/>
                </a:solidFill>
              </a:rPr>
              <a:t>only the orange dots, never the blue line</a:t>
            </a:r>
            <a:endParaRPr lang="en-US" sz="1900" dirty="0"/>
          </a:p>
          <a:p>
            <a:pPr indent="0" marL="0">
              <a:spcAft>
                <a:spcPts val="1200"/>
              </a:spcAft>
              <a:buNone/>
            </a:pPr>
            <a:r>
              <a:rPr lang="en-US" sz="1900" b="1" dirty="0">
                <a:solidFill>
                  <a:srgbClr val="1A1A1A"/>
                </a:solidFill>
              </a:rPr>
              <a:t>So the forecaster's job </a:t>
            </a:r>
            <a:pPr indent="0" marL="0">
              <a:spcAft>
                <a:spcPts val="1200"/>
              </a:spcAft>
              <a:buNone/>
            </a:pPr>
            <a:r>
              <a:rPr lang="en-US" sz="1900" dirty="0">
                <a:solidFill>
                  <a:srgbClr val="1A1A1A"/>
                </a:solidFill>
              </a:rPr>
              <a:t>is to recover the rate hiding behind noisy counts</a:t>
            </a:r>
            <a:endParaRPr lang="en-US" sz="1900" dirty="0"/>
          </a:p>
        </p:txBody>
      </p:sp>
      <p:pic>
        <p:nvPicPr>
          <p:cNvPr id="6" name="fig-poisson" descr="Expected count vs Poisson counts">    </p:cNvPr>
          <p:cNvPicPr>
            <a:picLocks noChangeAspect="1"/>
          </p:cNvPicPr>
          <p:nvPr/>
        </p:nvPicPr>
        <p:blipFill>
          <a:blip r:embed="rId1"/>
          <a:stretch>
            <a:fillRect/>
          </a:stretch>
        </p:blipFill>
        <p:spPr>
          <a:xfrm>
            <a:off x="6035040" y="2086623"/>
            <a:ext cx="5623560" cy="3690595"/>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1 · SIMULATION</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The final simulation: same cars, two controllers</a:t>
            </a:r>
            <a:endParaRPr lang="en-US" sz="3600" dirty="0"/>
          </a:p>
        </p:txBody>
      </p:sp>
      <p:sp>
        <p:nvSpPr>
          <p:cNvPr id="5" name="body"/>
          <p:cNvSpPr txBox="1"/>
          <p:nvPr/>
        </p:nvSpPr>
        <p:spPr>
          <a:xfrm>
            <a:off x="548640" y="1737360"/>
            <a:ext cx="5486400" cy="4572000"/>
          </a:xfrm>
          <a:prstGeom prst="rect">
            <a:avLst/>
          </a:prstGeom>
          <a:noFill/>
          <a:ln/>
        </p:spPr>
        <p:txBody>
          <a:bodyPr wrap="square" lIns="0" tIns="0" rIns="0" bIns="0" rtlCol="0" anchor="t"/>
          <a:lstStyle/>
          <a:p>
            <a:pPr marL="203200" indent="-203200">
              <a:spcAft>
                <a:spcPts val="1200"/>
              </a:spcAft>
              <a:buSzPct val="100000"/>
              <a:buChar char="•"/>
            </a:pPr>
            <a:r>
              <a:rPr lang="en-US" sz="1900" dirty="0">
                <a:solidFill>
                  <a:srgbClr val="1A1A1A"/>
                </a:solidFill>
              </a:rPr>
              <a:t>Five scenarios: normal hour, morning rush, storm, accident, stadium event</a:t>
            </a:r>
            <a:endParaRPr lang="en-US" sz="1900" dirty="0"/>
          </a:p>
          <a:p>
            <a:pPr marL="203200" indent="-203200">
              <a:spcAft>
                <a:spcPts val="1200"/>
              </a:spcAft>
              <a:buSzPct val="100000"/>
              <a:buChar char="•"/>
            </a:pPr>
            <a:r>
              <a:rPr lang="en-US" sz="1900" dirty="0">
                <a:solidFill>
                  <a:srgbClr val="1A1A1A"/>
                </a:solidFill>
              </a:rPr>
              <a:t>Tuned fixed plan vs optimiser on identical cars, side by side</a:t>
            </a:r>
            <a:endParaRPr lang="en-US" sz="1900" dirty="0"/>
          </a:p>
          <a:p>
            <a:pPr marL="203200" indent="-203200">
              <a:spcAft>
                <a:spcPts val="1200"/>
              </a:spcAft>
              <a:buSzPct val="100000"/>
              <a:buChar char="•"/>
            </a:pPr>
            <a:r>
              <a:rPr lang="en-US" sz="1900" dirty="0">
                <a:solidFill>
                  <a:srgbClr val="1A1A1A"/>
                </a:solidFill>
              </a:rPr>
              <a:t>The smart panel shows only what the controller can see: entry counters, its queue estimate next to the truth, forecast vs counts, its plan</a:t>
            </a:r>
            <a:endParaRPr lang="en-US" sz="1900" dirty="0"/>
          </a:p>
          <a:p>
            <a:pPr marL="203200" indent="-203200">
              <a:spcAft>
                <a:spcPts val="1200"/>
              </a:spcAft>
              <a:buSzPct val="100000"/>
              <a:buChar char="•"/>
            </a:pPr>
            <a:r>
              <a:rPr lang="en-US" sz="1900" dirty="0">
                <a:solidFill>
                  <a:srgbClr val="1A1A1A"/>
                </a:solidFill>
              </a:rPr>
              <a:t>Clip windows chosen by a stated rule (worst quarter-hour for the fixed plan), not cherry-picked</a:t>
            </a:r>
            <a:endParaRPr lang="en-US" sz="1900" dirty="0"/>
          </a:p>
          <a:p>
            <a:pPr marL="203200" indent="-203200">
              <a:spcAft>
                <a:spcPts val="1200"/>
              </a:spcAft>
              <a:buSzPct val="100000"/>
              <a:buChar char="•"/>
            </a:pPr>
            <a:r>
              <a:rPr lang="en-US" sz="1900" dirty="0">
                <a:solidFill>
                  <a:srgbClr val="1A1A1A"/>
                </a:solidFill>
              </a:rPr>
              <a:t>20 simulated minutes run in about 1 s</a:t>
            </a:r>
            <a:endParaRPr lang="en-US" sz="1900" dirty="0"/>
          </a:p>
        </p:txBody>
      </p:sp>
      <p:pic>
        <p:nvPicPr>
          <p:cNvPr id="6" name="fig-demo" descr="Demo viewer screenshot">    </p:cNvPr>
          <p:cNvPicPr>
            <a:picLocks noChangeAspect="1"/>
          </p:cNvPicPr>
          <p:nvPr/>
        </p:nvPicPr>
        <p:blipFill>
          <a:blip r:embed="rId1"/>
          <a:stretch>
            <a:fillRect/>
          </a:stretch>
        </p:blipFill>
        <p:spPr>
          <a:xfrm>
            <a:off x="6673568" y="1645920"/>
            <a:ext cx="4895143" cy="4663440"/>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2 · MODELLING AND FIRST RESULT</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What we predict, and why</a:t>
            </a:r>
            <a:endParaRPr lang="en-US" sz="3600" dirty="0"/>
          </a:p>
        </p:txBody>
      </p:sp>
      <p:sp>
        <p:nvSpPr>
          <p:cNvPr id="5" name="flow-Inputs"/>
          <p:cNvSpPr/>
          <p:nvPr/>
        </p:nvSpPr>
        <p:spPr>
          <a:xfrm>
            <a:off x="548640" y="1645920"/>
            <a:ext cx="3749040" cy="1371600"/>
          </a:xfrm>
          <a:prstGeom prst="roundRect">
            <a:avLst>
              <a:gd name="adj" fmla="val 5333"/>
            </a:avLst>
          </a:prstGeom>
          <a:solidFill>
            <a:srgbClr val="F3F2EF"/>
          </a:solidFill>
          <a:ln w="12700">
            <a:solidFill>
              <a:srgbClr val="F3F2EF"/>
            </a:solidFill>
            <a:prstDash val="solid"/>
          </a:ln>
        </p:spPr>
      </p:sp>
      <p:sp>
        <p:nvSpPr>
          <p:cNvPr id="6" name="flow-head-0"/>
          <p:cNvSpPr txBox="1"/>
          <p:nvPr/>
        </p:nvSpPr>
        <p:spPr>
          <a:xfrm>
            <a:off x="658368" y="1700784"/>
            <a:ext cx="3529584" cy="365760"/>
          </a:xfrm>
          <a:prstGeom prst="rect">
            <a:avLst/>
          </a:prstGeom>
          <a:noFill/>
          <a:ln/>
        </p:spPr>
        <p:txBody>
          <a:bodyPr wrap="square" lIns="0" tIns="0" rIns="0" bIns="0" rtlCol="0" anchor="ctr"/>
          <a:lstStyle/>
          <a:p>
            <a:pPr indent="0" marL="0">
              <a:buNone/>
            </a:pPr>
            <a:r>
              <a:rPr lang="en-US" sz="1600" b="1" dirty="0">
                <a:solidFill>
                  <a:srgbClr val="1A1A1A"/>
                </a:solidFill>
              </a:rPr>
              <a:t>Inputs</a:t>
            </a:r>
            <a:endParaRPr lang="en-US" sz="1600" dirty="0"/>
          </a:p>
        </p:txBody>
      </p:sp>
      <p:sp>
        <p:nvSpPr>
          <p:cNvPr id="7" name="flow-text-0"/>
          <p:cNvSpPr txBox="1"/>
          <p:nvPr/>
        </p:nvSpPr>
        <p:spPr>
          <a:xfrm>
            <a:off x="658368" y="2075688"/>
            <a:ext cx="3529584" cy="914400"/>
          </a:xfrm>
          <a:prstGeom prst="rect">
            <a:avLst/>
          </a:prstGeom>
          <a:noFill/>
          <a:ln/>
        </p:spPr>
        <p:txBody>
          <a:bodyPr wrap="square" lIns="0" tIns="0" rIns="0" bIns="0" rtlCol="0" anchor="t"/>
          <a:lstStyle/>
          <a:p>
            <a:pPr indent="0" marL="0">
              <a:buNone/>
            </a:pPr>
            <a:r>
              <a:rPr lang="en-US" sz="1500" dirty="0">
                <a:solidFill>
                  <a:srgbClr val="1A1A1A"/>
                </a:solidFill>
              </a:rPr>
              <a:t>clock, weekday, entry, horizon, rain now and forecast, event calendar, last 6 counts</a:t>
            </a:r>
            <a:endParaRPr lang="en-US" sz="1500" dirty="0"/>
          </a:p>
        </p:txBody>
      </p:sp>
      <p:sp>
        <p:nvSpPr>
          <p:cNvPr id="8" name="flow-arrow-0"/>
          <p:cNvSpPr/>
          <p:nvPr/>
        </p:nvSpPr>
        <p:spPr>
          <a:xfrm>
            <a:off x="4315968" y="2194560"/>
            <a:ext cx="182880" cy="256032"/>
          </a:xfrm>
          <a:prstGeom prst="rightArrow">
            <a:avLst/>
          </a:prstGeom>
          <a:solidFill>
            <a:srgbClr val="8A8984"/>
          </a:solidFill>
          <a:ln w="12700">
            <a:solidFill>
              <a:srgbClr val="8A8984"/>
            </a:solidFill>
            <a:prstDash val="solid"/>
          </a:ln>
        </p:spPr>
      </p:sp>
      <p:sp>
        <p:nvSpPr>
          <p:cNvPr id="9" name="flow-Poisson GLM"/>
          <p:cNvSpPr/>
          <p:nvPr/>
        </p:nvSpPr>
        <p:spPr>
          <a:xfrm>
            <a:off x="4663440" y="1645920"/>
            <a:ext cx="2377440" cy="1371600"/>
          </a:xfrm>
          <a:prstGeom prst="roundRect">
            <a:avLst>
              <a:gd name="adj" fmla="val 5333"/>
            </a:avLst>
          </a:prstGeom>
          <a:solidFill>
            <a:srgbClr val="E6F0FB"/>
          </a:solidFill>
          <a:ln w="12700">
            <a:solidFill>
              <a:srgbClr val="E6F0FB"/>
            </a:solidFill>
            <a:prstDash val="solid"/>
          </a:ln>
        </p:spPr>
      </p:sp>
      <p:sp>
        <p:nvSpPr>
          <p:cNvPr id="10" name="flow-head-1"/>
          <p:cNvSpPr txBox="1"/>
          <p:nvPr/>
        </p:nvSpPr>
        <p:spPr>
          <a:xfrm>
            <a:off x="4773168" y="1700784"/>
            <a:ext cx="2157984" cy="365760"/>
          </a:xfrm>
          <a:prstGeom prst="rect">
            <a:avLst/>
          </a:prstGeom>
          <a:noFill/>
          <a:ln/>
        </p:spPr>
        <p:txBody>
          <a:bodyPr wrap="square" lIns="0" tIns="0" rIns="0" bIns="0" rtlCol="0" anchor="ctr"/>
          <a:lstStyle/>
          <a:p>
            <a:pPr indent="0" marL="0">
              <a:buNone/>
            </a:pPr>
            <a:r>
              <a:rPr lang="en-US" sz="1600" b="1" dirty="0">
                <a:solidFill>
                  <a:srgbClr val="2A78D6"/>
                </a:solidFill>
              </a:rPr>
              <a:t>Poisson GLM</a:t>
            </a:r>
            <a:endParaRPr lang="en-US" sz="1600" dirty="0"/>
          </a:p>
        </p:txBody>
      </p:sp>
      <p:sp>
        <p:nvSpPr>
          <p:cNvPr id="11" name="flow-text-1"/>
          <p:cNvSpPr txBox="1"/>
          <p:nvPr/>
        </p:nvSpPr>
        <p:spPr>
          <a:xfrm>
            <a:off x="4773168" y="2075688"/>
            <a:ext cx="2157984" cy="914400"/>
          </a:xfrm>
          <a:prstGeom prst="rect">
            <a:avLst/>
          </a:prstGeom>
          <a:noFill/>
          <a:ln/>
        </p:spPr>
        <p:txBody>
          <a:bodyPr wrap="square" lIns="0" tIns="0" rIns="0" bIns="0" rtlCol="0" anchor="t"/>
          <a:lstStyle/>
          <a:p>
            <a:pPr indent="0" marL="0">
              <a:buNone/>
            </a:pPr>
            <a:r>
              <a:rPr lang="en-US" sz="1500" dirty="0">
                <a:solidFill>
                  <a:srgbClr val="1A1A1A"/>
                </a:solidFill>
              </a:rPr>
              <a:t>one global model, horizon as a feature</a:t>
            </a:r>
            <a:endParaRPr lang="en-US" sz="1500" dirty="0"/>
          </a:p>
        </p:txBody>
      </p:sp>
      <p:sp>
        <p:nvSpPr>
          <p:cNvPr id="12" name="flow-arrow-1"/>
          <p:cNvSpPr/>
          <p:nvPr/>
        </p:nvSpPr>
        <p:spPr>
          <a:xfrm>
            <a:off x="7059168" y="2194560"/>
            <a:ext cx="182880" cy="256032"/>
          </a:xfrm>
          <a:prstGeom prst="rightArrow">
            <a:avLst/>
          </a:prstGeom>
          <a:solidFill>
            <a:srgbClr val="8A8984"/>
          </a:solidFill>
          <a:ln w="12700">
            <a:solidFill>
              <a:srgbClr val="8A8984"/>
            </a:solidFill>
            <a:prstDash val="solid"/>
          </a:ln>
        </p:spPr>
      </p:sp>
      <p:sp>
        <p:nvSpPr>
          <p:cNvPr id="13" name="flow-Arrivals per entry"/>
          <p:cNvSpPr/>
          <p:nvPr/>
        </p:nvSpPr>
        <p:spPr>
          <a:xfrm>
            <a:off x="7315200" y="1645920"/>
            <a:ext cx="2377440" cy="1371600"/>
          </a:xfrm>
          <a:prstGeom prst="roundRect">
            <a:avLst>
              <a:gd name="adj" fmla="val 5333"/>
            </a:avLst>
          </a:prstGeom>
          <a:solidFill>
            <a:srgbClr val="F3F2EF"/>
          </a:solidFill>
          <a:ln w="12700">
            <a:solidFill>
              <a:srgbClr val="F3F2EF"/>
            </a:solidFill>
            <a:prstDash val="solid"/>
          </a:ln>
        </p:spPr>
      </p:sp>
      <p:sp>
        <p:nvSpPr>
          <p:cNvPr id="14" name="flow-head-2"/>
          <p:cNvSpPr txBox="1"/>
          <p:nvPr/>
        </p:nvSpPr>
        <p:spPr>
          <a:xfrm>
            <a:off x="7424928" y="1700784"/>
            <a:ext cx="2157984" cy="365760"/>
          </a:xfrm>
          <a:prstGeom prst="rect">
            <a:avLst/>
          </a:prstGeom>
          <a:noFill/>
          <a:ln/>
        </p:spPr>
        <p:txBody>
          <a:bodyPr wrap="square" lIns="0" tIns="0" rIns="0" bIns="0" rtlCol="0" anchor="ctr"/>
          <a:lstStyle/>
          <a:p>
            <a:pPr indent="0" marL="0">
              <a:buNone/>
            </a:pPr>
            <a:r>
              <a:rPr lang="en-US" sz="1600" b="1" dirty="0">
                <a:solidFill>
                  <a:srgbClr val="1A1A1A"/>
                </a:solidFill>
              </a:rPr>
              <a:t>Arrivals per entry</a:t>
            </a:r>
            <a:endParaRPr lang="en-US" sz="1600" dirty="0"/>
          </a:p>
        </p:txBody>
      </p:sp>
      <p:sp>
        <p:nvSpPr>
          <p:cNvPr id="15" name="flow-text-2"/>
          <p:cNvSpPr txBox="1"/>
          <p:nvPr/>
        </p:nvSpPr>
        <p:spPr>
          <a:xfrm>
            <a:off x="7424928" y="2075688"/>
            <a:ext cx="2157984" cy="914400"/>
          </a:xfrm>
          <a:prstGeom prst="rect">
            <a:avLst/>
          </a:prstGeom>
          <a:noFill/>
          <a:ln/>
        </p:spPr>
        <p:txBody>
          <a:bodyPr wrap="square" lIns="0" tIns="0" rIns="0" bIns="0" rtlCol="0" anchor="t"/>
          <a:lstStyle/>
          <a:p>
            <a:pPr indent="0" marL="0">
              <a:buNone/>
            </a:pPr>
            <a:r>
              <a:rPr lang="en-US" sz="1500" dirty="0">
                <a:solidFill>
                  <a:srgbClr val="1A1A1A"/>
                </a:solidFill>
              </a:rPr>
              <a:t>true rate for +5, +10, +15 min</a:t>
            </a:r>
            <a:endParaRPr lang="en-US" sz="1500" dirty="0"/>
          </a:p>
        </p:txBody>
      </p:sp>
      <p:sp>
        <p:nvSpPr>
          <p:cNvPr id="16" name="flow-arrow-2"/>
          <p:cNvSpPr/>
          <p:nvPr/>
        </p:nvSpPr>
        <p:spPr>
          <a:xfrm>
            <a:off x="9710928" y="2194560"/>
            <a:ext cx="182880" cy="256032"/>
          </a:xfrm>
          <a:prstGeom prst="rightArrow">
            <a:avLst/>
          </a:prstGeom>
          <a:solidFill>
            <a:srgbClr val="8A8984"/>
          </a:solidFill>
          <a:ln w="12700">
            <a:solidFill>
              <a:srgbClr val="8A8984"/>
            </a:solidFill>
            <a:prstDash val="solid"/>
          </a:ln>
        </p:spPr>
      </p:sp>
      <p:sp>
        <p:nvSpPr>
          <p:cNvPr id="17" name="flow-Optimiser"/>
          <p:cNvSpPr/>
          <p:nvPr/>
        </p:nvSpPr>
        <p:spPr>
          <a:xfrm>
            <a:off x="9966960" y="1645920"/>
            <a:ext cx="1645920" cy="1371600"/>
          </a:xfrm>
          <a:prstGeom prst="roundRect">
            <a:avLst>
              <a:gd name="adj" fmla="val 5333"/>
            </a:avLst>
          </a:prstGeom>
          <a:solidFill>
            <a:srgbClr val="F3F2EF"/>
          </a:solidFill>
          <a:ln w="12700">
            <a:solidFill>
              <a:srgbClr val="F3F2EF"/>
            </a:solidFill>
            <a:prstDash val="solid"/>
          </a:ln>
        </p:spPr>
      </p:sp>
      <p:sp>
        <p:nvSpPr>
          <p:cNvPr id="18" name="flow-head-3"/>
          <p:cNvSpPr txBox="1"/>
          <p:nvPr/>
        </p:nvSpPr>
        <p:spPr>
          <a:xfrm>
            <a:off x="10076688" y="1700784"/>
            <a:ext cx="1426464" cy="365760"/>
          </a:xfrm>
          <a:prstGeom prst="rect">
            <a:avLst/>
          </a:prstGeom>
          <a:noFill/>
          <a:ln/>
        </p:spPr>
        <p:txBody>
          <a:bodyPr wrap="square" lIns="0" tIns="0" rIns="0" bIns="0" rtlCol="0" anchor="ctr"/>
          <a:lstStyle/>
          <a:p>
            <a:pPr indent="0" marL="0">
              <a:buNone/>
            </a:pPr>
            <a:r>
              <a:rPr lang="en-US" sz="1600" b="1" dirty="0">
                <a:solidFill>
                  <a:srgbClr val="1A1A1A"/>
                </a:solidFill>
              </a:rPr>
              <a:t>Optimiser</a:t>
            </a:r>
            <a:endParaRPr lang="en-US" sz="1600" dirty="0"/>
          </a:p>
        </p:txBody>
      </p:sp>
      <p:sp>
        <p:nvSpPr>
          <p:cNvPr id="19" name="flow-text-3"/>
          <p:cNvSpPr txBox="1"/>
          <p:nvPr/>
        </p:nvSpPr>
        <p:spPr>
          <a:xfrm>
            <a:off x="10076688" y="2075688"/>
            <a:ext cx="1426464" cy="914400"/>
          </a:xfrm>
          <a:prstGeom prst="rect">
            <a:avLst/>
          </a:prstGeom>
          <a:noFill/>
          <a:ln/>
        </p:spPr>
        <p:txBody>
          <a:bodyPr wrap="square" lIns="0" tIns="0" rIns="0" bIns="0" rtlCol="0" anchor="t"/>
          <a:lstStyle/>
          <a:p>
            <a:pPr indent="0" marL="0">
              <a:buNone/>
            </a:pPr>
            <a:r>
              <a:rPr lang="en-US" sz="1500" dirty="0">
                <a:solidFill>
                  <a:srgbClr val="1A1A1A"/>
                </a:solidFill>
              </a:rPr>
              <a:t>arrival terms of the QP</a:t>
            </a:r>
            <a:endParaRPr lang="en-US" sz="1500" dirty="0"/>
          </a:p>
        </p:txBody>
      </p:sp>
      <p:graphicFrame>
        <p:nvGraphicFramePr>
          <p:cNvPr id="8" name="assumptions-table"/>
          <p:cNvGraphicFramePr>
            <a:graphicFrameLocks noGrp="1"/>
          </p:cNvGraphicFramePr>
          <p:nvPr>
            <p:extLst>
              <p:ext uri="{D42A27DB-BD31-4B8C-83A1-F6EECF244321}">
                <p14:modId xmlns:p14="http://schemas.microsoft.com/office/powerpoint/2010/main" val="1579011935"/>
              </p:ext>
            </p:extLst>
          </p:nvPr>
        </p:nvGraphicFramePr>
        <p:xfrm>
          <a:off x="548640" y="3291840"/>
          <a:ext cx="11064240" cy="914400"/>
        </p:xfrm>
        <a:graphic>
          <a:graphicData uri="http://schemas.openxmlformats.org/drawingml/2006/table">
            <a:tbl>
              <a:tblPr/>
              <a:tblGrid>
                <a:gridCol w="4206240"/>
                <a:gridCol w="6858000"/>
              </a:tblGrid>
              <a:tr h="0">
                <a:tc>
                  <a:txBody>
                    <a:bodyPr/>
                    <a:lstStyle/>
                    <a:p>
                      <a:pPr indent="0" marL="0">
                        <a:buNone/>
                      </a:pPr>
                      <a:r>
                        <a:rPr lang="en-US" sz="1600" b="1" dirty="0">
                          <a:solidFill>
                            <a:srgbClr val="FFFFFF"/>
                          </a:solidFill>
                        </a:rPr>
                        <a:t>What we assume about demand</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2A78D6"/>
                    </a:solidFill>
                  </a:tcPr>
                </a:tc>
                <a:tc>
                  <a:txBody>
                    <a:bodyPr/>
                    <a:lstStyle/>
                    <a:p>
                      <a:pPr indent="0" marL="0">
                        <a:buNone/>
                      </a:pPr>
                      <a:r>
                        <a:rPr lang="en-US" sz="1600" b="1" dirty="0">
                          <a:solidFill>
                            <a:srgbClr val="FFFFFF"/>
                          </a:solidFill>
                        </a:rPr>
                        <a:t>So the model has</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2A78D6"/>
                    </a:solidFill>
                  </a:tcPr>
                </a:tc>
              </a:tr>
              <a:tr h="0">
                <a:tc>
                  <a:txBody>
                    <a:bodyPr/>
                    <a:lstStyle/>
                    <a:p>
                      <a:pPr indent="0" marL="0">
                        <a:buNone/>
                      </a:pPr>
                      <a:r>
                        <a:rPr lang="en-US" sz="1600" b="1" dirty="0">
                          <a:solidFill>
                            <a:srgbClr val="1A1A1A"/>
                          </a:solidFill>
                        </a:rPr>
                        <a:t>Arrivals are random counts around a rate</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c>
                  <a:txBody>
                    <a:bodyPr/>
                    <a:lstStyle/>
                    <a:p>
                      <a:pPr indent="0" marL="0">
                        <a:buNone/>
                      </a:pPr>
                      <a:r>
                        <a:rPr lang="en-US" sz="1600" dirty="0">
                          <a:solidFill>
                            <a:srgbClr val="1A1A1A"/>
                          </a:solidFill>
                        </a:rPr>
                        <a:t>A Poisson likelihood: noise grows as √count, so a noisy 5-min count is not over-trusted</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A1A1A"/>
                          </a:solidFill>
                        </a:rPr>
                        <a:t>Effects multiply: profile × level × rain × event</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c>
                  <a:txBody>
                    <a:bodyPr/>
                    <a:lstStyle/>
                    <a:p>
                      <a:pPr indent="0" marL="0">
                        <a:buNone/>
                      </a:pPr>
                      <a:r>
                        <a:rPr lang="en-US" sz="1600" dirty="0">
                          <a:solidFill>
                            <a:srgbClr val="1A1A1A"/>
                          </a:solidFill>
                        </a:rPr>
                        <a:t>A log link, so effects add; calendar entered as log(1 + announced) with coefficient 1 reproduces the event multiplier</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A1A1A"/>
                          </a:solidFill>
                        </a:rPr>
                        <a:t>Today's level and timing are not in the profile; events and rain are announced</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c>
                  <a:txBody>
                    <a:bodyPr/>
                    <a:lstStyle/>
                    <a:p>
                      <a:pPr indent="0" marL="0">
                        <a:buNone/>
                      </a:pPr>
                      <a:r>
                        <a:rPr lang="en-US" sz="1600" dirty="0">
                          <a:solidFill>
                            <a:srgbClr val="1A1A1A"/>
                          </a:solidFill>
                        </a:rPr>
                        <a:t>Live inputs (last 6 counts, 30-min mean, network total) plus the event calendar and rain feed</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A1A1A"/>
                          </a:solidFill>
                        </a:rPr>
                        <a:t>A full entry road silences its counter</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c>
                  <a:txBody>
                    <a:bodyPr/>
                    <a:lstStyle/>
                    <a:p>
                      <a:pPr indent="0" marL="0">
                        <a:buNone/>
                      </a:pPr>
                      <a:r>
                        <a:rPr lang="en-US" sz="1600" dirty="0">
                          <a:solidFill>
                            <a:srgbClr val="1A1A1A"/>
                          </a:solidFill>
                        </a:rPr>
                        <a:t>A censoring guard: fall back to the hour profile when the road is estimated ≥ 55 of ~61 cars full</a:t>
                      </a:r>
                      <a:endParaRPr lang="en-US" sz="1600" dirty="0"/>
                    </a:p>
                  </a:txBody>
                  <a:tcPr marL="91440" marR="91440" marT="54864" marB="54864" anchor="ctr">
                    <a:lnL w="9525" cap="flat" cmpd="sng" algn="ctr">
                      <a:solidFill>
                        <a:srgbClr val="D9D8D3"/>
                      </a:solidFill>
                      <a:prstDash val="solid"/>
                      <a:round/>
                      <a:headEnd type="none" w="med" len="med"/>
                      <a:tailEnd type="none" w="med" len="med"/>
                    </a:lnL>
                    <a:lnR w="9525" cap="flat" cmpd="sng" algn="ctr">
                      <a:solidFill>
                        <a:srgbClr val="D9D8D3"/>
                      </a:solidFill>
                      <a:prstDash val="solid"/>
                      <a:round/>
                      <a:headEnd type="none" w="med" len="med"/>
                      <a:tailEnd type="none" w="med" len="med"/>
                    </a:lnR>
                    <a:lnT w="9525" cap="flat" cmpd="sng" algn="ctr">
                      <a:solidFill>
                        <a:srgbClr val="D9D8D3"/>
                      </a:solidFill>
                      <a:prstDash val="solid"/>
                      <a:round/>
                      <a:headEnd type="none" w="med" len="med"/>
                      <a:tailEnd type="none" w="med" len="med"/>
                    </a:lnT>
                    <a:lnB w="9525" cap="flat" cmpd="sng" algn="ctr">
                      <a:solidFill>
                        <a:srgbClr val="D9D8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2 · MODELLING AND FIRST RESULT</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The forecast cuts error by about a third</a:t>
            </a:r>
            <a:endParaRPr lang="en-US" sz="3600" dirty="0"/>
          </a:p>
        </p:txBody>
      </p:sp>
      <p:sp>
        <p:nvSpPr>
          <p:cNvPr id="5" name="body"/>
          <p:cNvSpPr txBox="1"/>
          <p:nvPr/>
        </p:nvSpPr>
        <p:spPr>
          <a:xfrm>
            <a:off x="548640" y="1737360"/>
            <a:ext cx="4937760" cy="4572000"/>
          </a:xfrm>
          <a:prstGeom prst="rect">
            <a:avLst/>
          </a:prstGeom>
          <a:noFill/>
          <a:ln/>
        </p:spPr>
        <p:txBody>
          <a:bodyPr wrap="square" lIns="0" tIns="0" rIns="0" bIns="0" rtlCol="0" anchor="t"/>
          <a:lstStyle/>
          <a:p>
            <a:pPr indent="0" marL="0">
              <a:spcAft>
                <a:spcPts val="1200"/>
              </a:spcAft>
              <a:buNone/>
            </a:pPr>
            <a:r>
              <a:rPr lang="en-US" sz="1700" b="1" dirty="0">
                <a:solidFill>
                  <a:srgbClr val="1A1A1A"/>
                </a:solidFill>
              </a:rPr>
              <a:t>7.1% error </a:t>
            </a:r>
            <a:pPr indent="0" marL="0">
              <a:spcAft>
                <a:spcPts val="1200"/>
              </a:spcAft>
              <a:buNone/>
            </a:pPr>
            <a:r>
              <a:rPr lang="en-US" sz="1700" dirty="0">
                <a:solidFill>
                  <a:srgbClr val="1A1A1A"/>
                </a:solidFill>
              </a:rPr>
              <a:t>for the Poisson GLM vs 10.4% for the hour-of-day profile and 24% for the last count</a:t>
            </a:r>
            <a:endParaRPr lang="en-US" sz="1700" dirty="0"/>
          </a:p>
          <a:p>
            <a:pPr indent="0" marL="0">
              <a:spcAft>
                <a:spcPts val="1200"/>
              </a:spcAft>
              <a:buNone/>
            </a:pPr>
            <a:r>
              <a:rPr lang="en-US" sz="1700" b="1" dirty="0">
                <a:solidFill>
                  <a:srgbClr val="1A1A1A"/>
                </a:solidFill>
              </a:rPr>
              <a:t>Live counts </a:t>
            </a:r>
            <a:pPr indent="0" marL="0">
              <a:spcAft>
                <a:spcPts val="1200"/>
              </a:spcAft>
              <a:buNone/>
            </a:pPr>
            <a:r>
              <a:rPr lang="en-US" sz="1700" dirty="0">
                <a:solidFill>
                  <a:srgbClr val="1A1A1A"/>
                </a:solidFill>
              </a:rPr>
              <a:t>reveal today's level and timing, which the profile cannot know</a:t>
            </a:r>
            <a:endParaRPr lang="en-US" sz="1700" dirty="0"/>
          </a:p>
          <a:p>
            <a:pPr indent="0" marL="0">
              <a:spcAft>
                <a:spcPts val="1200"/>
              </a:spcAft>
              <a:buNone/>
            </a:pPr>
            <a:r>
              <a:rPr lang="en-US" sz="1700" b="1" dirty="0">
                <a:solidFill>
                  <a:srgbClr val="1A1A1A"/>
                </a:solidFill>
              </a:rPr>
              <a:t>Events: </a:t>
            </a:r>
            <a:pPr indent="0" marL="0">
              <a:spcAft>
                <a:spcPts val="1200"/>
              </a:spcAft>
              <a:buNone/>
            </a:pPr>
            <a:r>
              <a:rPr lang="en-US" sz="1700" dirty="0">
                <a:solidFill>
                  <a:srgbClr val="1A1A1A"/>
                </a:solidFill>
              </a:rPr>
              <a:t>the calendar predicts the surge, 13% error vs 40% for the profile</a:t>
            </a:r>
            <a:endParaRPr lang="en-US" sz="1700" dirty="0"/>
          </a:p>
          <a:p>
            <a:pPr indent="0" marL="0">
              <a:spcAft>
                <a:spcPts val="1200"/>
              </a:spcAft>
              <a:buNone/>
            </a:pPr>
            <a:r>
              <a:rPr lang="en-US" sz="1700" b="1" dirty="0">
                <a:solidFill>
                  <a:srgbClr val="1A1A1A"/>
                </a:solidFill>
              </a:rPr>
              <a:t>Why a GLM: </a:t>
            </a:r>
            <a:pPr indent="0" marL="0">
              <a:spcAft>
                <a:spcPts val="1200"/>
              </a:spcAft>
              <a:buNone/>
            </a:pPr>
            <a:r>
              <a:rPr lang="en-US" sz="1700" dirty="0">
                <a:solidFill>
                  <a:srgbClr val="1A1A1A"/>
                </a:solidFill>
              </a:rPr>
              <a:t>level with boosted trees overall (7.1 vs 7.3%), clearly better on events (13.3 vs 20.6%): a multiplicative term carries over to a new event, trees with ~18 events to learn from do not</a:t>
            </a:r>
            <a:endParaRPr lang="en-US" sz="1700" dirty="0"/>
          </a:p>
          <a:p>
            <a:pPr indent="0" marL="0">
              <a:spcAft>
                <a:spcPts val="1200"/>
              </a:spcAft>
              <a:buNone/>
            </a:pPr>
            <a:r>
              <a:rPr lang="en-US" sz="1700" b="1" dirty="0">
                <a:solidFill>
                  <a:srgbClr val="1A1A1A"/>
                </a:solidFill>
              </a:rPr>
              <a:t>Validation: </a:t>
            </a:r>
            <a:pPr indent="0" marL="0">
              <a:spcAft>
                <a:spcPts val="1200"/>
              </a:spcAft>
              <a:buNone/>
            </a:pPr>
            <a:r>
              <a:rPr lang="en-US" sz="1700" dirty="0">
                <a:solidFill>
                  <a:srgbClr val="1A1A1A"/>
                </a:solidFill>
              </a:rPr>
              <a:t>whole days in time order, 40 train / 10 validation / 10 test, plus 10 fresh days</a:t>
            </a:r>
            <a:endParaRPr lang="en-US" sz="1700" dirty="0"/>
          </a:p>
        </p:txBody>
      </p:sp>
      <p:pic>
        <p:nvPicPr>
          <p:cNvPr id="6" name="fig-ladder" descr="Forecast error ladder">    </p:cNvPr>
          <p:cNvPicPr>
            <a:picLocks noChangeAspect="1"/>
          </p:cNvPicPr>
          <p:nvPr/>
        </p:nvPicPr>
        <p:blipFill>
          <a:blip r:embed="rId1"/>
          <a:stretch>
            <a:fillRect/>
          </a:stretch>
        </p:blipFill>
        <p:spPr>
          <a:xfrm>
            <a:off x="5760720" y="2232167"/>
            <a:ext cx="5897880" cy="3490946"/>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2 · MODELLING AND FIRST RESULT</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Beats the untuned plan by 43–64%, every scenario</a:t>
            </a:r>
            <a:endParaRPr lang="en-US" sz="3600" dirty="0"/>
          </a:p>
        </p:txBody>
      </p:sp>
      <p:sp>
        <p:nvSpPr>
          <p:cNvPr id="5" name="body"/>
          <p:cNvSpPr txBox="1"/>
          <p:nvPr/>
        </p:nvSpPr>
        <p:spPr>
          <a:xfrm>
            <a:off x="548640" y="1737360"/>
            <a:ext cx="4480560" cy="4572000"/>
          </a:xfrm>
          <a:prstGeom prst="rect">
            <a:avLst/>
          </a:prstGeom>
          <a:noFill/>
          <a:ln/>
        </p:spPr>
        <p:txBody>
          <a:bodyPr wrap="square" lIns="0" tIns="0" rIns="0" bIns="0" rtlCol="0" anchor="t"/>
          <a:lstStyle/>
          <a:p>
            <a:pPr indent="0" marL="0">
              <a:spcAft>
                <a:spcPts val="1200"/>
              </a:spcAft>
              <a:buNone/>
            </a:pPr>
            <a:r>
              <a:rPr lang="en-US" sz="2000" b="1" dirty="0">
                <a:solidFill>
                  <a:srgbClr val="1A1A1A"/>
                </a:solidFill>
              </a:rPr>
              <a:t>−57% </a:t>
            </a:r>
            <a:pPr indent="0" marL="0">
              <a:spcAft>
                <a:spcPts val="1200"/>
              </a:spcAft>
              <a:buNone/>
            </a:pPr>
            <a:r>
              <a:rPr lang="en-US" sz="2000" dirty="0">
                <a:solidFill>
                  <a:srgbClr val="1A1A1A"/>
                </a:solidFill>
              </a:rPr>
              <a:t>on a typical morning (114 → 49 s per car), −64% on the evening (239 → 86 s)</a:t>
            </a:r>
            <a:endParaRPr lang="en-US" sz="2000" dirty="0"/>
          </a:p>
          <a:p>
            <a:pPr indent="0" marL="0">
              <a:spcAft>
                <a:spcPts val="1200"/>
              </a:spcAft>
              <a:buNone/>
            </a:pPr>
            <a:r>
              <a:rPr lang="en-US" sz="2000" b="1" dirty="0">
                <a:solidFill>
                  <a:srgbClr val="1A1A1A"/>
                </a:solidFill>
              </a:rPr>
              <a:t>Never below −43%, </a:t>
            </a:r>
            <a:pPr indent="0" marL="0">
              <a:spcAft>
                <a:spcPts val="1200"/>
              </a:spcAft>
              <a:buNone/>
            </a:pPr>
            <a:r>
              <a:rPr lang="en-US" sz="2000" dirty="0">
                <a:solidFill>
                  <a:srgbClr val="1A1A1A"/>
                </a:solidFill>
              </a:rPr>
              <a:t>even in the storm; the accident drops from 417 to 225 s per car</a:t>
            </a:r>
            <a:endParaRPr lang="en-US" sz="2000" dirty="0"/>
          </a:p>
          <a:p>
            <a:pPr indent="0" marL="0">
              <a:spcAft>
                <a:spcPts val="1200"/>
              </a:spcAft>
              <a:buNone/>
            </a:pPr>
            <a:r>
              <a:rPr lang="en-US" sz="2000" b="1" dirty="0">
                <a:solidFill>
                  <a:srgbClr val="1A1A1A"/>
                </a:solidFill>
              </a:rPr>
              <a:t>The 60 s plan </a:t>
            </a:r>
            <a:pPr indent="0" marL="0">
              <a:spcAft>
                <a:spcPts val="1200"/>
              </a:spcAft>
              <a:buNone/>
            </a:pPr>
            <a:r>
              <a:rPr lang="en-US" sz="2000" dirty="0">
                <a:solidFill>
                  <a:srgbClr val="1A1A1A"/>
                </a:solidFill>
              </a:rPr>
              <a:t>is what "fixed timing" usually means; the brief's 20% target is cleared by a wide margin in all six scenarios</a:t>
            </a:r>
            <a:endParaRPr lang="en-US" sz="2000" dirty="0"/>
          </a:p>
          <a:p>
            <a:pPr indent="0" marL="0">
              <a:spcAft>
                <a:spcPts val="1200"/>
              </a:spcAft>
              <a:buNone/>
            </a:pPr>
            <a:r>
              <a:rPr lang="en-US" sz="2000" b="1" dirty="0">
                <a:solidFill>
                  <a:srgbClr val="1A1A1A"/>
                </a:solidFill>
              </a:rPr>
              <a:t>Held-out seeds only: </a:t>
            </a:r>
            <a:pPr indent="0" marL="0">
              <a:spcAft>
                <a:spcPts val="1200"/>
              </a:spcAft>
              <a:buNone/>
            </a:pPr>
            <a:r>
              <a:rPr lang="en-US" sz="2000" dirty="0">
                <a:solidFill>
                  <a:srgbClr val="1A1A1A"/>
                </a:solidFill>
              </a:rPr>
              <a:t>identical demand for every controller (10 seeds; 3 for busy and storm)</a:t>
            </a:r>
            <a:endParaRPr lang="en-US" sz="2000" dirty="0"/>
          </a:p>
        </p:txBody>
      </p:sp>
      <p:pic>
        <p:nvPicPr>
          <p:cNvPr id="6" name="fig-untuned" descr="Optimiser vs untuned fixed plan">    </p:cNvPr>
          <p:cNvPicPr>
            <a:picLocks noChangeAspect="1"/>
          </p:cNvPicPr>
          <p:nvPr/>
        </p:nvPicPr>
        <p:blipFill>
          <a:blip r:embed="rId1"/>
          <a:stretch>
            <a:fillRect/>
          </a:stretch>
        </p:blipFill>
        <p:spPr>
          <a:xfrm>
            <a:off x="5303520" y="1905047"/>
            <a:ext cx="6355080" cy="4145186"/>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3 · TUNED BASELINE AND THE QP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Tuning the fixed baseline first</a:t>
            </a:r>
            <a:endParaRPr lang="en-US" sz="3600" dirty="0"/>
          </a:p>
        </p:txBody>
      </p:sp>
      <p:sp>
        <p:nvSpPr>
          <p:cNvPr id="5" name="body"/>
          <p:cNvSpPr txBox="1"/>
          <p:nvPr/>
        </p:nvSpPr>
        <p:spPr>
          <a:xfrm>
            <a:off x="548640" y="1737360"/>
            <a:ext cx="5212080" cy="4572000"/>
          </a:xfrm>
          <a:prstGeom prst="rect">
            <a:avLst/>
          </a:prstGeom>
          <a:noFill/>
          <a:ln/>
        </p:spPr>
        <p:txBody>
          <a:bodyPr wrap="square" lIns="0" tIns="0" rIns="0" bIns="0" rtlCol="0" anchor="t"/>
          <a:lstStyle/>
          <a:p>
            <a:pPr indent="0" marL="0">
              <a:spcAft>
                <a:spcPts val="1200"/>
              </a:spcAft>
              <a:buNone/>
            </a:pPr>
            <a:r>
              <a:rPr lang="en-US" sz="1800" b="1" dirty="0">
                <a:solidFill>
                  <a:srgbClr val="1A1A1A"/>
                </a:solidFill>
              </a:rPr>
              <a:t>Method: </a:t>
            </a:r>
            <a:pPr indent="0" marL="0">
              <a:spcAft>
                <a:spcPts val="1200"/>
              </a:spcAft>
              <a:buNone/>
            </a:pPr>
            <a:r>
              <a:rPr lang="en-US" sz="1800" dirty="0">
                <a:solidFill>
                  <a:srgbClr val="1A1A1A"/>
                </a:solidFill>
              </a:rPr>
              <a:t>sweep the green wave's common cycle (30–180 s) on the typical day, on 4 tuning seeds, keep the lowest mean delay</a:t>
            </a:r>
            <a:endParaRPr lang="en-US" sz="1800" dirty="0"/>
          </a:p>
          <a:p>
            <a:pPr indent="0" marL="0">
              <a:spcAft>
                <a:spcPts val="1200"/>
              </a:spcAft>
              <a:buNone/>
            </a:pPr>
            <a:r>
              <a:rPr lang="en-US" sz="1800" b="1" dirty="0">
                <a:solidFill>
                  <a:srgbClr val="1A1A1A"/>
                </a:solidFill>
              </a:rPr>
              <a:t>Result: </a:t>
            </a:r>
            <a:pPr indent="0" marL="0">
              <a:spcAft>
                <a:spcPts val="1200"/>
              </a:spcAft>
              <a:buNone/>
            </a:pPr>
            <a:r>
              <a:rPr lang="en-US" sz="1800" dirty="0">
                <a:solidFill>
                  <a:srgbClr val="1A1A1A"/>
                </a:solidFill>
              </a:rPr>
              <a:t>120 s for the morning, 180 s for the evening; delay falls 124 → 70 s and 325 → 130 s vs the 60 s plan</a:t>
            </a:r>
            <a:endParaRPr lang="en-US" sz="1800" dirty="0"/>
          </a:p>
          <a:p>
            <a:pPr indent="0" marL="0">
              <a:spcAft>
                <a:spcPts val="1200"/>
              </a:spcAft>
              <a:buNone/>
            </a:pPr>
            <a:r>
              <a:rPr lang="en-US" sz="1800" b="1" dirty="0">
                <a:solidFill>
                  <a:srgbClr val="1A1A1A"/>
                </a:solidFill>
              </a:rPr>
              <a:t>Applied unchanged </a:t>
            </a:r>
            <a:pPr indent="0" marL="0">
              <a:spcAft>
                <a:spcPts val="1200"/>
              </a:spcAft>
              <a:buNone/>
            </a:pPr>
            <a:r>
              <a:rPr lang="en-US" sz="1800" dirty="0">
                <a:solidFill>
                  <a:srgbClr val="1A1A1A"/>
                </a:solidFill>
              </a:rPr>
              <a:t>to the busy, storm, accident and event days, like a real plan set for a normal day</a:t>
            </a:r>
            <a:endParaRPr lang="en-US" sz="1800" dirty="0"/>
          </a:p>
          <a:p>
            <a:pPr indent="0" marL="0">
              <a:spcAft>
                <a:spcPts val="1200"/>
              </a:spcAft>
              <a:buNone/>
            </a:pPr>
            <a:r>
              <a:rPr lang="en-US" sz="1800" b="1" dirty="0">
                <a:solidFill>
                  <a:srgbClr val="1A1A1A"/>
                </a:solidFill>
              </a:rPr>
              <a:t>Optimiser settings </a:t>
            </a:r>
            <a:pPr indent="0" marL="0">
              <a:spcAft>
                <a:spcPts val="1200"/>
              </a:spcAft>
              <a:buNone/>
            </a:pPr>
            <a:r>
              <a:rPr lang="en-US" sz="1800" dirty="0">
                <a:solidFill>
                  <a:srgbClr val="1A1A1A"/>
                </a:solidFill>
              </a:rPr>
              <a:t>checked one at a time on the same seeds: flat within ~2 s, except gap-out (off: +9 s)</a:t>
            </a:r>
            <a:endParaRPr lang="en-US" sz="1800" dirty="0"/>
          </a:p>
          <a:p>
            <a:pPr indent="0" marL="0">
              <a:spcAft>
                <a:spcPts val="1200"/>
              </a:spcAft>
              <a:buNone/>
            </a:pPr>
            <a:r>
              <a:rPr lang="en-US" sz="1800" b="1" dirty="0">
                <a:solidFill>
                  <a:srgbClr val="1A1A1A"/>
                </a:solidFill>
              </a:rPr>
              <a:t>Never tuned on an evaluation seed: </a:t>
            </a:r>
            <a:pPr indent="0" marL="0">
              <a:spcAft>
                <a:spcPts val="1200"/>
              </a:spcAft>
              <a:buNone/>
            </a:pPr>
            <a:r>
              <a:rPr lang="en-US" sz="1800" dirty="0">
                <a:solidFill>
                  <a:srgbClr val="1A1A1A"/>
                </a:solidFill>
              </a:rPr>
              <a:t>tuning seeds 100–109, evaluation seeds 200+</a:t>
            </a:r>
            <a:endParaRPr lang="en-US" sz="1800" dirty="0"/>
          </a:p>
        </p:txBody>
      </p:sp>
      <p:pic>
        <p:nvPicPr>
          <p:cNvPr id="6" name="fig-tuning" descr="Cycle length sweep">    </p:cNvPr>
          <p:cNvPicPr>
            <a:picLocks noChangeAspect="1"/>
          </p:cNvPicPr>
          <p:nvPr/>
        </p:nvPicPr>
        <p:blipFill>
          <a:blip r:embed="rId1"/>
          <a:stretch>
            <a:fillRect/>
          </a:stretch>
        </p:blipFill>
        <p:spPr>
          <a:xfrm>
            <a:off x="6035040" y="1857024"/>
            <a:ext cx="5623560" cy="4241232"/>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3 · TUNED BASELINE AND THE QP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The optimiser: a quadratic program every 60 s</a:t>
            </a:r>
            <a:endParaRPr lang="en-US" sz="3600" dirty="0"/>
          </a:p>
        </p:txBody>
      </p:sp>
      <p:sp>
        <p:nvSpPr>
          <p:cNvPr id="5" name="qp-card"/>
          <p:cNvSpPr/>
          <p:nvPr/>
        </p:nvSpPr>
        <p:spPr>
          <a:xfrm>
            <a:off x="548640" y="1691640"/>
            <a:ext cx="6858000" cy="3017520"/>
          </a:xfrm>
          <a:prstGeom prst="roundRect">
            <a:avLst>
              <a:gd name="adj" fmla="val 2424"/>
            </a:avLst>
          </a:prstGeom>
          <a:solidFill>
            <a:srgbClr val="F7F7F5"/>
          </a:solidFill>
          <a:ln w="12700">
            <a:solidFill>
              <a:srgbClr val="F7F7F5"/>
            </a:solidFill>
            <a:prstDash val="solid"/>
          </a:ln>
        </p:spPr>
      </p:sp>
      <p:sp>
        <p:nvSpPr>
          <p:cNvPr id="6" name="qp-text"/>
          <p:cNvSpPr txBox="1"/>
          <p:nvPr/>
        </p:nvSpPr>
        <p:spPr>
          <a:xfrm>
            <a:off x="731520" y="1783080"/>
            <a:ext cx="6583680" cy="2834640"/>
          </a:xfrm>
          <a:prstGeom prst="rect">
            <a:avLst/>
          </a:prstGeom>
          <a:noFill/>
          <a:ln/>
        </p:spPr>
        <p:txBody>
          <a:bodyPr wrap="square" lIns="0" tIns="0" rIns="0" bIns="0" rtlCol="0" anchor="ctr"/>
          <a:lstStyle/>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decide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x[i,k]  NS green share, junction i, minute k</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state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q[l,k+1] = q[l,k] + arrivals − u[l,k]</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flow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u ≤ s·D·green(x),   u ≤ q + arrivals</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arrivals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forecast (entries) + turned flow (upstream)</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bounds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min/max green 8–60 s, 4 s lost per switch</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q ≤ road storage (soft: spillback slack)</a:t>
            </a:r>
            <a:endParaRPr lang="en-US" sz="1600" dirty="0"/>
          </a:p>
          <a:p>
            <a:pPr indent="0" marL="0">
              <a:spcAft>
                <a:spcPts val="500"/>
              </a:spcAft>
              <a:buNone/>
            </a:pPr>
            <a:r>
              <a:rPr lang="en-US" sz="1600" b="1" dirty="0">
                <a:solidFill>
                  <a:srgbClr val="2A78D6"/>
                </a:solidFill>
                <a:latin typeface="Courier New" pitchFamily="34" charset="0"/>
                <a:ea typeface="Courier New" pitchFamily="34" charset="-122"/>
                <a:cs typeface="Courier New" pitchFamily="34" charset="-120"/>
              </a:rPr>
              <a:t>minimise </a:t>
            </a:r>
            <a:pPr indent="0" marL="0">
              <a:spcAft>
                <a:spcPts val="500"/>
              </a:spcAft>
              <a:buNone/>
            </a:pPr>
            <a:r>
              <a:rPr lang="en-US" sz="1600" dirty="0">
                <a:solidFill>
                  <a:srgbClr val="1A1A1A"/>
                </a:solidFill>
                <a:latin typeface="Courier New" pitchFamily="34" charset="0"/>
                <a:ea typeface="Courier New" pitchFamily="34" charset="-122"/>
                <a:cs typeface="Courier New" pitchFamily="34" charset="-120"/>
              </a:rPr>
              <a:t>Σq + w·Σq² + terminal + spillback + Σ|Δx|</a:t>
            </a:r>
            <a:endParaRPr lang="en-US" sz="1600" dirty="0"/>
          </a:p>
        </p:txBody>
      </p:sp>
      <p:sp>
        <p:nvSpPr>
          <p:cNvPr id="7" name="body"/>
          <p:cNvSpPr txBox="1"/>
          <p:nvPr/>
        </p:nvSpPr>
        <p:spPr>
          <a:xfrm>
            <a:off x="548640" y="4892040"/>
            <a:ext cx="6858000" cy="13716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A1A1A"/>
                </a:solidFill>
              </a:rPr>
              <a:t>Receding horizon: 15 steps of 60 s, apply the first, re-plan</a:t>
            </a:r>
            <a:endParaRPr lang="en-US" sz="1400" dirty="0"/>
          </a:p>
          <a:p>
            <a:pPr marL="203200" indent="-203200">
              <a:spcAft>
                <a:spcPts val="1200"/>
              </a:spcAft>
              <a:buSzPct val="100000"/>
              <a:buChar char="•"/>
            </a:pPr>
            <a:r>
              <a:rPr lang="en-US" sz="1400" dirty="0">
                <a:solidFill>
                  <a:srgbClr val="1A1A1A"/>
                </a:solidFill>
              </a:rPr>
              <a:t>Σq is total waiting; q² spreads queues (fairness); the terminal term stops the plan dumping work past the horizon</a:t>
            </a:r>
            <a:endParaRPr lang="en-US" sz="1400" dirty="0"/>
          </a:p>
          <a:p>
            <a:pPr marL="203200" indent="-203200">
              <a:spcAft>
                <a:spcPts val="1200"/>
              </a:spcAft>
              <a:buSzPct val="100000"/>
              <a:buChar char="•"/>
            </a:pPr>
            <a:r>
              <a:rPr lang="en-US" sz="1400" dirty="0">
                <a:solidFill>
                  <a:srgbClr val="1A1A1A"/>
                </a:solidFill>
              </a:rPr>
              <a:t>Cycle length from Webster's formula on the forecast, outside the program so it stays convex</a:t>
            </a:r>
            <a:endParaRPr lang="en-US" sz="1400" dirty="0"/>
          </a:p>
        </p:txBody>
      </p:sp>
      <p:sp>
        <p:nvSpPr>
          <p:cNvPr id="8" name="side-card"/>
          <p:cNvSpPr/>
          <p:nvPr/>
        </p:nvSpPr>
        <p:spPr>
          <a:xfrm>
            <a:off x="7772400" y="1691640"/>
            <a:ext cx="3886200" cy="4572000"/>
          </a:xfrm>
          <a:prstGeom prst="roundRect">
            <a:avLst>
              <a:gd name="adj" fmla="val 1882"/>
            </a:avLst>
          </a:prstGeom>
          <a:solidFill>
            <a:srgbClr val="E6F0FB"/>
          </a:solidFill>
          <a:ln w="12700">
            <a:solidFill>
              <a:srgbClr val="E6F0FB"/>
            </a:solidFill>
            <a:prstDash val="solid"/>
          </a:ln>
        </p:spPr>
      </p:sp>
      <p:sp>
        <p:nvSpPr>
          <p:cNvPr id="9" name="side-head"/>
          <p:cNvSpPr txBox="1"/>
          <p:nvPr/>
        </p:nvSpPr>
        <p:spPr>
          <a:xfrm>
            <a:off x="7955280" y="1783080"/>
            <a:ext cx="3520440" cy="365760"/>
          </a:xfrm>
          <a:prstGeom prst="rect">
            <a:avLst/>
          </a:prstGeom>
          <a:noFill/>
          <a:ln/>
        </p:spPr>
        <p:txBody>
          <a:bodyPr wrap="square" lIns="0" tIns="0" rIns="0" bIns="0" rtlCol="0" anchor="ctr"/>
          <a:lstStyle/>
          <a:p>
            <a:pPr indent="0" marL="0">
              <a:buNone/>
            </a:pPr>
            <a:r>
              <a:rPr lang="en-US" sz="1600" b="1" dirty="0">
                <a:solidFill>
                  <a:srgbClr val="2A78D6"/>
                </a:solidFill>
              </a:rPr>
              <a:t>Between plans, every second</a:t>
            </a:r>
            <a:endParaRPr lang="en-US" sz="1600" dirty="0"/>
          </a:p>
        </p:txBody>
      </p:sp>
      <p:sp>
        <p:nvSpPr>
          <p:cNvPr id="10" name="side-body"/>
          <p:cNvSpPr txBox="1"/>
          <p:nvPr/>
        </p:nvSpPr>
        <p:spPr>
          <a:xfrm>
            <a:off x="7955280" y="2240280"/>
            <a:ext cx="3520440" cy="39319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1A1A1A"/>
                </a:solidFill>
              </a:rPr>
              <a:t>Queue estimator: the same store-and-forward model, stepped from the entry counts and its own signals</a:t>
            </a:r>
            <a:endParaRPr lang="en-US" sz="1600" dirty="0"/>
          </a:p>
          <a:p>
            <a:pPr marL="203200" indent="-203200">
              <a:spcAft>
                <a:spcPts val="1200"/>
              </a:spcAft>
              <a:buSzPct val="100000"/>
              <a:buChar char="•"/>
            </a:pPr>
            <a:r>
              <a:rPr lang="en-US" sz="1600" dirty="0">
                <a:solidFill>
                  <a:srgbClr val="1A1A1A"/>
                </a:solidFill>
              </a:rPr>
              <a:t>Gap-out: end a green early when the model says the approach is empty</a:t>
            </a:r>
            <a:endParaRPr lang="en-US" sz="1600" dirty="0"/>
          </a:p>
          <a:p>
            <a:pPr marL="203200" indent="-203200">
              <a:spcAft>
                <a:spcPts val="1200"/>
              </a:spcAft>
              <a:buSzPct val="100000"/>
              <a:buChar char="•"/>
            </a:pPr>
            <a:r>
              <a:rPr lang="en-US" sz="1600" dirty="0">
                <a:solidFill>
                  <a:srgbClr val="1A1A1A"/>
                </a:solidFill>
              </a:rPr>
              <a:t>Incident fallback: after a reported blockage, run the tuned fixed plan until 60 min after it clears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3 · TUNED BASELINE AND THE QP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Why a QP, and how fast it solves</a:t>
            </a:r>
            <a:endParaRPr lang="en-US" sz="3600" dirty="0"/>
          </a:p>
        </p:txBody>
      </p:sp>
      <p:sp>
        <p:nvSpPr>
          <p:cNvPr id="5" name="body"/>
          <p:cNvSpPr txBox="1"/>
          <p:nvPr/>
        </p:nvSpPr>
        <p:spPr>
          <a:xfrm>
            <a:off x="548640" y="1737360"/>
            <a:ext cx="5486400" cy="4572000"/>
          </a:xfrm>
          <a:prstGeom prst="rect">
            <a:avLst/>
          </a:prstGeom>
          <a:noFill/>
          <a:ln/>
        </p:spPr>
        <p:txBody>
          <a:bodyPr wrap="square" lIns="0" tIns="0" rIns="0" bIns="0" rtlCol="0" anchor="t"/>
          <a:lstStyle/>
          <a:p>
            <a:pPr indent="0" marL="0">
              <a:spcAft>
                <a:spcPts val="1200"/>
              </a:spcAft>
              <a:buNone/>
            </a:pPr>
            <a:r>
              <a:rPr lang="en-US" sz="1800" b="1" dirty="0">
                <a:solidFill>
                  <a:srgbClr val="1A1A1A"/>
                </a:solidFill>
              </a:rPr>
              <a:t>Convex: </a:t>
            </a:r>
            <a:pPr indent="0" marL="0">
              <a:spcAft>
                <a:spcPts val="1200"/>
              </a:spcAft>
              <a:buNone/>
            </a:pPr>
            <a:r>
              <a:rPr lang="en-US" sz="1800" dirty="0">
                <a:solidFill>
                  <a:srgbClr val="1A1A1A"/>
                </a:solidFill>
              </a:rPr>
              <a:t>the queue model is linear, so every solve is the global optimum, with a certificate</a:t>
            </a:r>
            <a:endParaRPr lang="en-US" sz="1800" dirty="0"/>
          </a:p>
          <a:p>
            <a:pPr indent="0" marL="0">
              <a:spcAft>
                <a:spcPts val="1200"/>
              </a:spcAft>
              <a:buNone/>
            </a:pPr>
            <a:r>
              <a:rPr lang="en-US" sz="1800" b="1" dirty="0">
                <a:solidFill>
                  <a:srgbClr val="1A1A1A"/>
                </a:solidFill>
              </a:rPr>
              <a:t>Uses the forecast: </a:t>
            </a:r>
            <a:pPr indent="0" marL="0">
              <a:spcAft>
                <a:spcPts val="1200"/>
              </a:spcAft>
              <a:buNone/>
            </a:pPr>
            <a:r>
              <a:rPr lang="en-US" sz="1800" dirty="0">
                <a:solidFill>
                  <a:srgbClr val="1A1A1A"/>
                </a:solidFill>
              </a:rPr>
              <a:t>it plans over 15 minutes of predicted arrivals, not just today's queues</a:t>
            </a:r>
            <a:endParaRPr lang="en-US" sz="1800" dirty="0"/>
          </a:p>
          <a:p>
            <a:pPr indent="0" marL="0">
              <a:spcAft>
                <a:spcPts val="1200"/>
              </a:spcAft>
              <a:buNone/>
            </a:pPr>
            <a:r>
              <a:rPr lang="en-US" sz="1800" b="1" dirty="0">
                <a:solidFill>
                  <a:srgbClr val="1A1A1A"/>
                </a:solidFill>
              </a:rPr>
              <a:t>No integer search: </a:t>
            </a:r>
            <a:pPr indent="0" marL="0">
              <a:spcAft>
                <a:spcPts val="1200"/>
              </a:spcAft>
              <a:buNone/>
            </a:pPr>
            <a:r>
              <a:rPr lang="en-US" sz="1800" dirty="0">
                <a:solidFill>
                  <a:srgbClr val="1A1A1A"/>
                </a:solidFill>
              </a:rPr>
              <a:t>the only decisions are continuous green shares, so no mixed-integer phase sequencing</a:t>
            </a:r>
            <a:endParaRPr lang="en-US" sz="1800" dirty="0"/>
          </a:p>
          <a:p>
            <a:pPr indent="0" marL="0">
              <a:spcAft>
                <a:spcPts val="1200"/>
              </a:spcAft>
              <a:buNone/>
            </a:pPr>
            <a:r>
              <a:rPr lang="en-US" sz="1800" b="1" dirty="0">
                <a:solidFill>
                  <a:srgbClr val="1A1A1A"/>
                </a:solidFill>
              </a:rPr>
              <a:t>No training: </a:t>
            </a:r>
            <a:pPr indent="0" marL="0">
              <a:spcAft>
                <a:spcPts val="1200"/>
              </a:spcAft>
              <a:buNone/>
            </a:pPr>
            <a:r>
              <a:rPr lang="en-US" sz="1800" dirty="0">
                <a:solidFill>
                  <a:srgbClr val="1A1A1A"/>
                </a:solidFill>
              </a:rPr>
              <a:t>the structure is known, so there is nothing to learn that a model cannot state, and every number is explainable</a:t>
            </a:r>
            <a:endParaRPr lang="en-US" sz="1800" dirty="0"/>
          </a:p>
          <a:p>
            <a:pPr indent="0" marL="0">
              <a:spcAft>
                <a:spcPts val="1200"/>
              </a:spcAft>
              <a:buNone/>
            </a:pPr>
            <a:r>
              <a:rPr lang="en-US" sz="1800" b="1" dirty="0">
                <a:solidFill>
                  <a:srgbClr val="1A1A1A"/>
                </a:solidFill>
              </a:rPr>
              <a:t>Fast: </a:t>
            </a:r>
            <a:pPr indent="0" marL="0">
              <a:spcAft>
                <a:spcPts val="1200"/>
              </a:spcAft>
              <a:buNone/>
            </a:pPr>
            <a:r>
              <a:rPr lang="en-US" sz="1800" dirty="0">
                <a:solidFill>
                  <a:srgbClr val="1A1A1A"/>
                </a:solidFill>
              </a:rPr>
              <a:t>38 ms per decision on 2×2, ~19 ms per junction, 1.9 s at 100 junctions, against a 60 s decision interval</a:t>
            </a:r>
            <a:endParaRPr lang="en-US" sz="1800" dirty="0"/>
          </a:p>
        </p:txBody>
      </p:sp>
      <p:pic>
        <p:nvPicPr>
          <p:cNvPr id="6" name="fig-scal" descr="QP solve time vs grid size">    </p:cNvPr>
          <p:cNvPicPr>
            <a:picLocks noChangeAspect="1"/>
          </p:cNvPicPr>
          <p:nvPr/>
        </p:nvPicPr>
        <p:blipFill>
          <a:blip r:embed="rId1"/>
          <a:stretch>
            <a:fillRect/>
          </a:stretch>
        </p:blipFill>
        <p:spPr>
          <a:xfrm>
            <a:off x="6400800" y="1838489"/>
            <a:ext cx="5257800" cy="3958263"/>
          </a:xfrm>
          <a:prstGeom prst="rect">
            <a:avLst/>
          </a:prstGeom>
        </p:spPr>
      </p:pic>
      <p:sp>
        <p:nvSpPr>
          <p:cNvPr id="7" name="scal-note"/>
          <p:cNvSpPr txBox="1"/>
          <p:nvPr/>
        </p:nvSpPr>
        <p:spPr>
          <a:xfrm>
            <a:off x="6400800" y="5989320"/>
            <a:ext cx="5257800" cy="365760"/>
          </a:xfrm>
          <a:prstGeom prst="rect">
            <a:avLst/>
          </a:prstGeom>
          <a:noFill/>
          <a:ln/>
        </p:spPr>
        <p:txBody>
          <a:bodyPr wrap="square" lIns="0" tIns="0" rIns="0" bIns="0" rtlCol="0" anchor="ctr"/>
          <a:lstStyle/>
          <a:p>
            <a:pPr indent="0" marL="0">
              <a:buNone/>
            </a:pPr>
            <a:r>
              <a:rPr lang="en-US" sz="1200" dirty="0">
                <a:solidFill>
                  <a:srgbClr val="5A5955"/>
                </a:solidFill>
              </a:rPr>
              <a:t>Larger grids use the persistence forecast: the learned forecaster is fitted to the 2×2 grid.</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3 · TUNED BASELINE AND THE QP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Why not max-pressure</a:t>
            </a:r>
            <a:endParaRPr lang="en-US" sz="3600" dirty="0"/>
          </a:p>
        </p:txBody>
      </p:sp>
      <p:sp>
        <p:nvSpPr>
          <p:cNvPr id="5" name="body"/>
          <p:cNvSpPr txBox="1"/>
          <p:nvPr/>
        </p:nvSpPr>
        <p:spPr>
          <a:xfrm>
            <a:off x="548640" y="1737360"/>
            <a:ext cx="4297680" cy="4572000"/>
          </a:xfrm>
          <a:prstGeom prst="rect">
            <a:avLst/>
          </a:prstGeom>
          <a:noFill/>
          <a:ln/>
        </p:spPr>
        <p:txBody>
          <a:bodyPr wrap="square" lIns="0" tIns="0" rIns="0" bIns="0" rtlCol="0" anchor="t"/>
          <a:lstStyle/>
          <a:p>
            <a:pPr indent="0" marL="0">
              <a:spcAft>
                <a:spcPts val="1200"/>
              </a:spcAft>
              <a:buNone/>
            </a:pPr>
            <a:r>
              <a:rPr lang="en-US" sz="1900" b="1" dirty="0">
                <a:solidFill>
                  <a:srgbClr val="1A1A1A"/>
                </a:solidFill>
              </a:rPr>
              <a:t>How it works: </a:t>
            </a:r>
            <a:pPr indent="0" marL="0">
              <a:spcAft>
                <a:spcPts val="1200"/>
              </a:spcAft>
              <a:buNone/>
            </a:pPr>
            <a:r>
              <a:rPr lang="en-US" sz="1900" dirty="0">
                <a:solidFill>
                  <a:srgbClr val="1A1A1A"/>
                </a:solidFill>
              </a:rPr>
              <a:t>green goes to the phase with the largest own queue minus downstream queue</a:t>
            </a:r>
            <a:endParaRPr lang="en-US" sz="1900" dirty="0"/>
          </a:p>
          <a:p>
            <a:pPr indent="0" marL="0">
              <a:spcAft>
                <a:spcPts val="1200"/>
              </a:spcAft>
              <a:buNone/>
            </a:pPr>
            <a:r>
              <a:rPr lang="en-US" sz="1900" b="1" dirty="0">
                <a:solidFill>
                  <a:srgbClr val="1A1A1A"/>
                </a:solidFill>
              </a:rPr>
              <a:t>No look-ahead: </a:t>
            </a:r>
            <a:pPr indent="0" marL="0">
              <a:spcAft>
                <a:spcPts val="1200"/>
              </a:spcAft>
              <a:buNone/>
            </a:pPr>
            <a:r>
              <a:rPr lang="en-US" sz="1900" dirty="0">
                <a:solidFill>
                  <a:srgbClr val="1A1A1A"/>
                </a:solidFill>
              </a:rPr>
              <a:t>it reacts to queues now, so it cannot use the forecast the QP plans with</a:t>
            </a:r>
            <a:endParaRPr lang="en-US" sz="1900" dirty="0"/>
          </a:p>
          <a:p>
            <a:pPr indent="0" marL="0">
              <a:spcAft>
                <a:spcPts val="1200"/>
              </a:spcAft>
              <a:buNone/>
            </a:pPr>
            <a:r>
              <a:rPr lang="en-US" sz="1900" b="1" dirty="0">
                <a:solidFill>
                  <a:srgbClr val="1A1A1A"/>
                </a:solidFill>
              </a:rPr>
              <a:t>Tested: </a:t>
            </a:r>
            <a:pPr indent="0" marL="0">
              <a:spcAft>
                <a:spcPts val="1200"/>
              </a:spcAft>
              <a:buNone/>
            </a:pPr>
            <a:r>
              <a:rPr lang="en-US" sz="1900" dirty="0">
                <a:solidFill>
                  <a:srgbClr val="1A1A1A"/>
                </a:solidFill>
              </a:rPr>
              <a:t>earlier camera version with true queues, 3 seeds: worse than the optimiser in all five scenarios, worse than the tuned plan in four</a:t>
            </a:r>
            <a:endParaRPr lang="en-US" sz="1900" dirty="0"/>
          </a:p>
          <a:p>
            <a:pPr indent="0" marL="0">
              <a:spcAft>
                <a:spcPts val="1200"/>
              </a:spcAft>
              <a:buNone/>
            </a:pPr>
            <a:r>
              <a:rPr lang="en-US" sz="1900" b="1" dirty="0">
                <a:solidFill>
                  <a:srgbClr val="1A1A1A"/>
                </a:solidFill>
              </a:rPr>
              <a:t>Dropped </a:t>
            </a:r>
            <a:pPr indent="0" marL="0">
              <a:spcAft>
                <a:spcPts val="1200"/>
              </a:spcAft>
              <a:buNone/>
            </a:pPr>
            <a:r>
              <a:rPr lang="en-US" sz="1900" dirty="0">
                <a:solidFill>
                  <a:srgbClr val="1A1A1A"/>
                </a:solidFill>
              </a:rPr>
              <a:t>when we moved to counts only: it would have to act on a noisy queue estimate, second by second</a:t>
            </a:r>
            <a:endParaRPr lang="en-US" sz="1900" dirty="0"/>
          </a:p>
        </p:txBody>
      </p:sp>
      <p:pic>
        <p:nvPicPr>
          <p:cNvPr id="6" name="fig-maxp" descr="Max-pressure vs optimiser">    </p:cNvPr>
          <p:cNvPicPr>
            <a:picLocks noChangeAspect="1"/>
          </p:cNvPicPr>
          <p:nvPr/>
        </p:nvPicPr>
        <p:blipFill>
          <a:blip r:embed="rId1"/>
          <a:stretch>
            <a:fillRect/>
          </a:stretch>
        </p:blipFill>
        <p:spPr>
          <a:xfrm>
            <a:off x="5120640" y="1905262"/>
            <a:ext cx="6537960" cy="3870436"/>
          </a:xfrm>
          <a:prstGeom prst="rect">
            <a:avLst/>
          </a:prstGeom>
        </p:spPr>
      </p:pic>
      <p:sp>
        <p:nvSpPr>
          <p:cNvPr id="7" name="maxp-note"/>
          <p:cNvSpPr txBox="1"/>
          <p:nvPr/>
        </p:nvSpPr>
        <p:spPr>
          <a:xfrm>
            <a:off x="5120640" y="5989320"/>
            <a:ext cx="6537960" cy="365760"/>
          </a:xfrm>
          <a:prstGeom prst="rect">
            <a:avLst/>
          </a:prstGeom>
          <a:noFill/>
          <a:ln/>
        </p:spPr>
        <p:txBody>
          <a:bodyPr wrap="square" lIns="0" tIns="0" rIns="0" bIns="0" rtlCol="0" anchor="ctr"/>
          <a:lstStyle/>
          <a:p>
            <a:pPr indent="0" marL="0">
              <a:buNone/>
            </a:pPr>
            <a:r>
              <a:rPr lang="en-US" sz="1200" dirty="0">
                <a:solidFill>
                  <a:srgbClr val="5A5955"/>
                </a:solidFill>
              </a:rPr>
              <a:t>Earlier camera-based version, seeds 200–202; the code has since been replaced.</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3 · TUNED BASELINE AND THE QP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Against the tuned plan: ahead in all six</a:t>
            </a:r>
            <a:endParaRPr lang="en-US" sz="3600" dirty="0"/>
          </a:p>
        </p:txBody>
      </p:sp>
      <p:sp>
        <p:nvSpPr>
          <p:cNvPr id="5" name="body"/>
          <p:cNvSpPr txBox="1"/>
          <p:nvPr/>
        </p:nvSpPr>
        <p:spPr>
          <a:xfrm>
            <a:off x="548640" y="1737360"/>
            <a:ext cx="4297680" cy="4572000"/>
          </a:xfrm>
          <a:prstGeom prst="rect">
            <a:avLst/>
          </a:prstGeom>
          <a:noFill/>
          <a:ln/>
        </p:spPr>
        <p:txBody>
          <a:bodyPr wrap="square" lIns="0" tIns="0" rIns="0" bIns="0" rtlCol="0" anchor="t"/>
          <a:lstStyle/>
          <a:p>
            <a:pPr indent="0" marL="0">
              <a:spcAft>
                <a:spcPts val="1200"/>
              </a:spcAft>
              <a:buNone/>
            </a:pPr>
            <a:r>
              <a:rPr lang="en-US" sz="1900" b="1" dirty="0">
                <a:solidFill>
                  <a:srgbClr val="1A1A1A"/>
                </a:solidFill>
              </a:rPr>
              <a:t>−32% </a:t>
            </a:r>
            <a:pPr indent="0" marL="0">
              <a:spcAft>
                <a:spcPts val="1200"/>
              </a:spcAft>
              <a:buNone/>
            </a:pPr>
            <a:r>
              <a:rPr lang="en-US" sz="1900" dirty="0">
                <a:solidFill>
                  <a:srgbClr val="1A1A1A"/>
                </a:solidFill>
              </a:rPr>
              <a:t>typical morning (72 → 49 s), −22% busy morning: the 20% target is met</a:t>
            </a:r>
            <a:endParaRPr lang="en-US" sz="1900" dirty="0"/>
          </a:p>
          <a:p>
            <a:pPr indent="0" marL="0">
              <a:spcAft>
                <a:spcPts val="1200"/>
              </a:spcAft>
              <a:buNone/>
            </a:pPr>
            <a:r>
              <a:rPr lang="en-US" sz="1900" b="1" dirty="0">
                <a:solidFill>
                  <a:srgbClr val="1A1A1A"/>
                </a:solidFill>
              </a:rPr>
              <a:t>−15% storm, −14% evening, </a:t>
            </a:r>
            <a:pPr indent="0" marL="0">
              <a:spcAft>
                <a:spcPts val="1200"/>
              </a:spcAft>
              <a:buNone/>
            </a:pPr>
            <a:r>
              <a:rPr lang="en-US" sz="1900" dirty="0">
                <a:solidFill>
                  <a:srgbClr val="1A1A1A"/>
                </a:solidFill>
              </a:rPr>
              <a:t>−7% accident, −5% event: ahead, but short of 20%; the last two are not significant</a:t>
            </a:r>
            <a:endParaRPr lang="en-US" sz="1900" dirty="0"/>
          </a:p>
          <a:p>
            <a:pPr indent="0" marL="0">
              <a:spcAft>
                <a:spcPts val="1200"/>
              </a:spcAft>
              <a:buNone/>
            </a:pPr>
            <a:r>
              <a:rPr lang="en-US" sz="1900" b="1" dirty="0">
                <a:solidFill>
                  <a:srgbClr val="1A1A1A"/>
                </a:solidFill>
              </a:rPr>
              <a:t>The tuned baselines </a:t>
            </a:r>
            <a:pPr indent="0" marL="0">
              <a:spcAft>
                <a:spcPts val="1200"/>
              </a:spcAft>
              <a:buNone/>
            </a:pPr>
            <a:r>
              <a:rPr lang="en-US" sz="1900" dirty="0">
                <a:solidFill>
                  <a:srgbClr val="1A1A1A"/>
                </a:solidFill>
              </a:rPr>
              <a:t>are deliberately strong: each tuned on its own scenario's normal day</a:t>
            </a:r>
            <a:endParaRPr lang="en-US" sz="1900" dirty="0"/>
          </a:p>
          <a:p>
            <a:pPr indent="0" marL="0">
              <a:spcAft>
                <a:spcPts val="1200"/>
              </a:spcAft>
              <a:buNone/>
            </a:pPr>
            <a:r>
              <a:rPr lang="en-US" sz="1900" b="1" dirty="0">
                <a:solidFill>
                  <a:srgbClr val="1A1A1A"/>
                </a:solidFill>
              </a:rPr>
              <a:t>Where the gain comes from: </a:t>
            </a:r>
            <a:pPr indent="0" marL="0">
              <a:spcAft>
                <a:spcPts val="1200"/>
              </a:spcAft>
              <a:buNone/>
            </a:pPr>
            <a:r>
              <a:rPr lang="en-US" sz="1900" dirty="0">
                <a:solidFill>
                  <a:srgbClr val="1A1A1A"/>
                </a:solidFill>
              </a:rPr>
              <a:t>QP alone is 12% better on a typical morning (3 seeds), adding model-based gap-out takes it to 30%</a:t>
            </a:r>
            <a:endParaRPr lang="en-US" sz="1900" dirty="0"/>
          </a:p>
        </p:txBody>
      </p:sp>
      <p:pic>
        <p:nvPicPr>
          <p:cNvPr id="6" name="fig-vs-tuned" descr="Optimiser vs tuned fixed plan">    </p:cNvPr>
          <p:cNvPicPr>
            <a:picLocks noChangeAspect="1"/>
          </p:cNvPicPr>
          <p:nvPr/>
        </p:nvPicPr>
        <p:blipFill>
          <a:blip r:embed="rId1"/>
          <a:stretch>
            <a:fillRect/>
          </a:stretch>
        </p:blipFill>
        <p:spPr>
          <a:xfrm>
            <a:off x="5120640" y="1845404"/>
            <a:ext cx="6537960" cy="4264472"/>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lstStyle/>
          <a:p>
            <a:pPr indent="0" marL="0">
              <a:buNone/>
            </a:pPr>
            <a:r>
              <a:rPr lang="en-US" sz="1200" b="1" dirty="0">
                <a:solidFill>
                  <a:srgbClr val="2A78D6"/>
                </a:solidFill>
              </a:rPr>
              <a:t>WRAP-UP</a:t>
            </a:r>
            <a:endParaRPr lang="en-US" sz="1200" dirty="0"/>
          </a:p>
        </p:txBody>
      </p:sp>
      <p:sp>
        <p:nvSpPr>
          <p:cNvPr id="3" name="Text 0"/>
          <p:cNvSpPr/>
          <p:nvPr>
            <p:ph idx="101" type="title" hasCustomPrompt="1"/>
          </p:nvPr>
        </p:nvSpPr>
        <p:spPr>
          <a:xfrm>
            <a:off x="548640" y="658368"/>
            <a:ext cx="11064240" cy="777240"/>
          </a:xfrm>
          <a:prstGeom prst="rect">
            <a:avLst/>
          </a:prstGeom>
          <a:noFill/>
          <a:ln/>
        </p:spPr>
        <p:txBody>
          <a:bodyPr wrap="square" lIns="0" tIns="0" rIns="0" bIns="0" rtlCol="0" anchor="t"/>
          <a:lstStyle/>
          <a:p>
            <a:pPr algn="l" indent="0" marL="0">
              <a:buNone/>
            </a:pPr>
            <a:r>
              <a:rPr lang="en-US" sz="3600" b="1" dirty="0">
                <a:solidFill>
                  <a:srgbClr val="1A1A1A"/>
                </a:solidFill>
              </a:rPr>
              <a:t>Limitations and next steps</a:t>
            </a:r>
            <a:endParaRPr lang="en-US" sz="3600" dirty="0"/>
          </a:p>
        </p:txBody>
      </p:sp>
      <p:sp>
        <p:nvSpPr>
          <p:cNvPr id="5" name="limits-card"/>
          <p:cNvSpPr/>
          <p:nvPr/>
        </p:nvSpPr>
        <p:spPr>
          <a:xfrm>
            <a:off x="548640" y="1691640"/>
            <a:ext cx="5394960" cy="4572000"/>
          </a:xfrm>
          <a:prstGeom prst="roundRect">
            <a:avLst>
              <a:gd name="adj" fmla="val 1600"/>
            </a:avLst>
          </a:prstGeom>
          <a:solidFill>
            <a:srgbClr val="F3F2EF"/>
          </a:solidFill>
          <a:ln w="12700">
            <a:solidFill>
              <a:srgbClr val="F3F2EF"/>
            </a:solidFill>
            <a:prstDash val="solid"/>
          </a:ln>
        </p:spPr>
      </p:sp>
      <p:sp>
        <p:nvSpPr>
          <p:cNvPr id="6" name="limits-head"/>
          <p:cNvSpPr txBox="1"/>
          <p:nvPr/>
        </p:nvSpPr>
        <p:spPr>
          <a:xfrm>
            <a:off x="777240" y="1810512"/>
            <a:ext cx="4937760" cy="365760"/>
          </a:xfrm>
          <a:prstGeom prst="rect">
            <a:avLst/>
          </a:prstGeom>
          <a:noFill/>
          <a:ln/>
        </p:spPr>
        <p:txBody>
          <a:bodyPr wrap="square" lIns="0" tIns="0" rIns="0" bIns="0" rtlCol="0" anchor="ctr"/>
          <a:lstStyle/>
          <a:p>
            <a:pPr indent="0" marL="0">
              <a:buNone/>
            </a:pPr>
            <a:r>
              <a:rPr lang="en-US" sz="2000" b="1" dirty="0">
                <a:solidFill>
                  <a:srgbClr val="1A1A1A"/>
                </a:solidFill>
              </a:rPr>
              <a:t>Limitations</a:t>
            </a:r>
            <a:endParaRPr lang="en-US" sz="2000" dirty="0"/>
          </a:p>
        </p:txBody>
      </p:sp>
      <p:sp>
        <p:nvSpPr>
          <p:cNvPr id="7" name="limits-body"/>
          <p:cNvSpPr txBox="1"/>
          <p:nvPr/>
        </p:nvSpPr>
        <p:spPr>
          <a:xfrm>
            <a:off x="777240" y="2331720"/>
            <a:ext cx="4937760" cy="384048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A1A1A"/>
                </a:solidFill>
              </a:rPr>
              <a:t>The forecast adds little to delay: persistence, learned and perfect forecasts land within noise, even in the stadium event</a:t>
            </a:r>
            <a:endParaRPr lang="en-US" sz="1800" dirty="0"/>
          </a:p>
          <a:p>
            <a:pPr marL="203200" indent="-203200">
              <a:spcAft>
                <a:spcPts val="1200"/>
              </a:spcAft>
              <a:buSzPct val="100000"/>
              <a:buChar char="•"/>
            </a:pPr>
            <a:r>
              <a:rPr lang="en-US" sz="1800" dirty="0">
                <a:solidFill>
                  <a:srgbClr val="1A1A1A"/>
                </a:solidFill>
              </a:rPr>
              <a:t>The queue estimate has no sensor inside the network: it drifts in storms and after accidents</a:t>
            </a:r>
            <a:endParaRPr lang="en-US" sz="1800" dirty="0"/>
          </a:p>
          <a:p>
            <a:pPr marL="203200" indent="-203200">
              <a:spcAft>
                <a:spcPts val="1200"/>
              </a:spcAft>
              <a:buSzPct val="100000"/>
              <a:buChar char="•"/>
            </a:pPr>
            <a:r>
              <a:rPr lang="en-US" sz="1800" dirty="0">
                <a:solidFill>
                  <a:srgbClr val="1A1A1A"/>
                </a:solidFill>
              </a:rPr>
              <a:t>Accidents need the incident feed and a fallback to the fixed plan</a:t>
            </a:r>
            <a:endParaRPr lang="en-US" sz="1800" dirty="0"/>
          </a:p>
          <a:p>
            <a:pPr marL="203200" indent="-203200">
              <a:spcAft>
                <a:spcPts val="1200"/>
              </a:spcAft>
              <a:buSzPct val="100000"/>
              <a:buChar char="•"/>
            </a:pPr>
            <a:r>
              <a:rPr lang="en-US" sz="1800" dirty="0">
                <a:solidFill>
                  <a:srgbClr val="1A1A1A"/>
                </a:solidFill>
              </a:rPr>
              <a:t>All data is from our own simulator: forecast accuracy shows recovery of a process we wrote</a:t>
            </a:r>
            <a:endParaRPr lang="en-US" sz="1800" dirty="0"/>
          </a:p>
          <a:p>
            <a:pPr marL="203200" indent="-203200">
              <a:spcAft>
                <a:spcPts val="1200"/>
              </a:spcAft>
              <a:buSzPct val="100000"/>
              <a:buChar char="•"/>
            </a:pPr>
            <a:r>
              <a:rPr lang="en-US" sz="1800" dirty="0">
                <a:solidFill>
                  <a:srgbClr val="1A1A1A"/>
                </a:solidFill>
              </a:rPr>
              <a:t>3 seeds for busy morning and storm</a:t>
            </a:r>
            <a:endParaRPr lang="en-US" sz="1800" dirty="0"/>
          </a:p>
        </p:txBody>
      </p:sp>
      <p:sp>
        <p:nvSpPr>
          <p:cNvPr id="8" name="next-card"/>
          <p:cNvSpPr/>
          <p:nvPr/>
        </p:nvSpPr>
        <p:spPr>
          <a:xfrm>
            <a:off x="6263640" y="1691640"/>
            <a:ext cx="5394960" cy="4572000"/>
          </a:xfrm>
          <a:prstGeom prst="roundRect">
            <a:avLst>
              <a:gd name="adj" fmla="val 1600"/>
            </a:avLst>
          </a:prstGeom>
          <a:solidFill>
            <a:srgbClr val="E6F0FB"/>
          </a:solidFill>
          <a:ln w="12700">
            <a:solidFill>
              <a:srgbClr val="E6F0FB"/>
            </a:solidFill>
            <a:prstDash val="solid"/>
          </a:ln>
        </p:spPr>
      </p:sp>
      <p:sp>
        <p:nvSpPr>
          <p:cNvPr id="9" name="next-head"/>
          <p:cNvSpPr txBox="1"/>
          <p:nvPr/>
        </p:nvSpPr>
        <p:spPr>
          <a:xfrm>
            <a:off x="6492240" y="1810512"/>
            <a:ext cx="4937760" cy="365760"/>
          </a:xfrm>
          <a:prstGeom prst="rect">
            <a:avLst/>
          </a:prstGeom>
          <a:noFill/>
          <a:ln/>
        </p:spPr>
        <p:txBody>
          <a:bodyPr wrap="square" lIns="0" tIns="0" rIns="0" bIns="0" rtlCol="0" anchor="ctr"/>
          <a:lstStyle/>
          <a:p>
            <a:pPr indent="0" marL="0">
              <a:buNone/>
            </a:pPr>
            <a:r>
              <a:rPr lang="en-US" sz="2000" b="1" dirty="0">
                <a:solidFill>
                  <a:srgbClr val="2A78D6"/>
                </a:solidFill>
              </a:rPr>
              <a:t>Next steps</a:t>
            </a:r>
            <a:endParaRPr lang="en-US" sz="2000" dirty="0"/>
          </a:p>
        </p:txBody>
      </p:sp>
      <p:sp>
        <p:nvSpPr>
          <p:cNvPr id="10" name="next-body"/>
          <p:cNvSpPr txBox="1"/>
          <p:nvPr/>
        </p:nvSpPr>
        <p:spPr>
          <a:xfrm>
            <a:off x="6492240" y="2331720"/>
            <a:ext cx="4937760" cy="384048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rgbClr val="1A1A1A"/>
                </a:solidFill>
              </a:rPr>
              <a:t>A stop-line counter per road, to correct the queue estimate directly</a:t>
            </a:r>
            <a:endParaRPr lang="en-US" sz="1800" dirty="0"/>
          </a:p>
          <a:p>
            <a:pPr marL="203200" indent="-203200">
              <a:spcAft>
                <a:spcPts val="1200"/>
              </a:spcAft>
              <a:buSzPct val="100000"/>
              <a:buChar char="•"/>
            </a:pPr>
            <a:r>
              <a:rPr lang="en-US" sz="1800" dirty="0">
                <a:solidFill>
                  <a:srgbClr val="1A1A1A"/>
                </a:solidFill>
              </a:rPr>
              <a:t>Detect full entry roads from the event calendar and a silent counter, so the event forecast can pay off</a:t>
            </a:r>
            <a:endParaRPr lang="en-US" sz="1800" dirty="0"/>
          </a:p>
          <a:p>
            <a:pPr marL="203200" indent="-203200">
              <a:spcAft>
                <a:spcPts val="1200"/>
              </a:spcAft>
              <a:buSzPct val="100000"/>
              <a:buChar char="•"/>
            </a:pPr>
            <a:r>
              <a:rPr lang="en-US" sz="1800" dirty="0">
                <a:solidFill>
                  <a:srgbClr val="1A1A1A"/>
                </a:solidFill>
              </a:rPr>
              <a:t>Robust optimisation over forecast and estimate uncertainty</a:t>
            </a:r>
            <a:endParaRPr lang="en-US" sz="1800" dirty="0"/>
          </a:p>
          <a:p>
            <a:pPr marL="203200" indent="-203200">
              <a:spcAft>
                <a:spcPts val="1200"/>
              </a:spcAft>
              <a:buSzPct val="100000"/>
              <a:buChar char="•"/>
            </a:pPr>
            <a:r>
              <a:rPr lang="en-US" sz="1800" dirty="0">
                <a:solidFill>
                  <a:srgbClr val="1A1A1A"/>
                </a:solidFill>
              </a:rPr>
              <a:t>Multi-agent reinforcement learning as a comparison on the same simulator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98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raffic case study">
  <a:themeElements>
    <a:clrScheme name="Traffic case study">
      <a:dk1>
        <a:srgbClr val="1A1A1A"/>
      </a:dk1>
      <a:lt1>
        <a:srgbClr val="FFFFFF"/>
      </a:lt1>
      <a:dk2>
        <a:srgbClr val="5A5955"/>
      </a:dk2>
      <a:lt2>
        <a:srgbClr val="F3F2EF"/>
      </a:lt2>
      <a:accent1>
        <a:srgbClr val="2A78D6"/>
      </a:accent1>
      <a:accent2>
        <a:srgbClr val="EB6834"/>
      </a:accent2>
      <a:accent3>
        <a:srgbClr val="1BAF7A"/>
      </a:accent3>
      <a:accent4>
        <a:srgbClr val="B4B3AE"/>
      </a:accent4>
      <a:accent5>
        <a:srgbClr val="A9C8F0"/>
      </a:accent5>
      <a:accent6>
        <a:srgbClr val="D64545"/>
      </a:accent6>
      <a:hlink>
        <a:srgbClr val="2A78D6"/>
      </a:hlink>
      <a:folHlink>
        <a:srgbClr val="5A5955"/>
      </a:folHlink>
    </a:clrScheme>
    <a:fontScheme name="Traffic case stud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traffic signals from entrance counts</dc:title>
  <dc:subject>PptxGenJS Presentation</dc:subject>
  <dc:creator>Glen McKenzie</dc:creator>
  <cp:lastModifiedBy>Glen McKenzie</cp:lastModifiedBy>
  <cp:revision>1</cp:revision>
  <dcterms:created xsi:type="dcterms:W3CDTF">2026-10-28T05:48:22Z</dcterms:created>
  <dcterms:modified xsi:type="dcterms:W3CDTF">2026-10-28T05:48:22Z</dcterms:modified>
</cp:coreProperties>
</file>