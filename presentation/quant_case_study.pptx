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c6e99f2-ddfc-144d-060b-3d4d54f8095e}">
          <p14:sldIdLst>
            <p14:sldId id="256"/>
            <p14:sldId id="257"/>
            <p14:sldId id="258"/>
          </p14:sldIdLst>
        </p14:section>
        <p14:section name="Simulation and assumptions" id="{63352eac-1a3c-221a-21e8-c49e24613e23}">
          <p14:sldIdLst>
            <p14:sldId id="259"/>
            <p14:sldId id="260"/>
            <p14:sldId id="261"/>
            <p14:sldId id="262"/>
            <p14:sldId id="263"/>
            <p14:sldId id="264"/>
          </p14:sldIdLst>
        </p14:section>
        <p14:section name="Forecaster" id="{4e8b6f55-7ebc-a347-4e9e-0241f463d2ca}">
          <p14:sldIdLst>
            <p14:sldId id="265"/>
            <p14:sldId id="266"/>
            <p14:sldId id="267"/>
            <p14:sldId id="268"/>
          </p14:sldIdLst>
        </p14:section>
        <p14:section name="Optimiser" id="{c45d4e60-4928-69e1-447d-825175c292da}">
          <p14:sldIdLst>
            <p14:sldId id="269"/>
            <p14:sldId id="270"/>
            <p14:sldId id="271"/>
            <p14:sldId id="272"/>
            <p14:sldId id="273"/>
          </p14:sldIdLst>
        </p14:section>
        <p14:section name="Demo" id="{1ec7efa2-c4c8-ef0f-9e86-6e3d5dcb3d12}">
          <p14:sldIdLst>
            <p14:sldId id="274"/>
          </p14:sldIdLst>
        </p14:section>
        <p14:section name="Results" id="{95ccad22-79c0-17f6-0847-5cb4d87fe461}">
          <p14:sldIdLst>
            <p14:sldId id="275"/>
            <p14:sldId id="276"/>
            <p14:sldId id="277"/>
            <p14:sldId id="278"/>
            <p14:sldId id="279"/>
            <p14:sldId id="280"/>
          </p14:sldIdLst>
        </p14:section>
        <p14:section name="Backup" id="{7af5fd5c-a7cd-c6f9-0f84-f2a3605060f6}">
          <p14:sldIdLst>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j-lt"/>
              </a:defRPr>
            </a:pPr>
            <a:r>
              <a:rPr sz="1300" b="0" i="0" u="none" strike="noStrike">
                <a:solidFill>
                  <a:srgbClr val="1B1F24"/>
                </a:solidFill>
                <a:latin typeface="+mj-lt"/>
              </a:rPr>
              <a:t>Error by day type, 5 min ahead (%)</a:t>
            </a:r>
          </a:p>
        </c:rich>
      </c:tx>
      <c:layout/>
      <c:overlay val="0"/>
    </c:title>
    <c:autoTitleDeleted val="0"/>
    <c:plotArea>
      <c:layout/>
      <c:barChart>
        <c:barDir val="col"/>
        <c:grouping val="clustered"/>
        <c:varyColors val="0"/>
        <c:ser>
          <c:idx val="0"/>
          <c:order val="0"/>
          <c:tx>
            <c:strRef>
              <c:f>Sheet1!$B$1</c:f>
              <c:strCache>
                <c:ptCount val="1"/>
                <c:pt idx="0">
                  <c:v>Hour-of-day profile</c:v>
                </c:pt>
              </c:strCache>
            </c:strRef>
          </c:tx>
          <c:spPr>
            <a:solidFill>
              <a:srgbClr val="7A8794"/>
            </a:solidFill>
            <a:effectLst/>
          </c:spPr>
          <c:invertIfNegative val="0"/>
          <c:dLbls>
            <c:numFmt formatCode="0.0" sourceLinked="0"/>
            <c:txPr>
              <a:bodyPr/>
              <a:lstStyle/>
              <a:p>
                <a:pPr>
                  <a:defRPr b="0" i="0" strike="noStrike" sz="800" u="none">
                    <a:solidFill>
                      <a:srgbClr val="2B3440"/>
                    </a:solidFill>
                    <a:latin typeface="+mn-lt"/>
                  </a:defRPr>
                </a:pPr>
              </a:p>
            </c:txPr>
            <c:showLegendKey val="0"/>
            <c:showVal val="1"/>
            <c:showCatName val="0"/>
            <c:showSerName val="0"/>
            <c:showPercent val="0"/>
            <c:showBubbleSize val="0"/>
            <c:showLeaderLines val="0"/>
          </c:dLbls>
          <c:cat>
            <c:multiLvlStrRef>
              <c:f>Sheet1!$A$2:$A$6</c:f>
              <c:multiLvlStrCache>
                <c:ptCount val="5"/>
                <c:lvl>
                  <c:pt idx="0">
                    <c:v>Dry weekday</c:v>
                  </c:pt>
                  <c:pt idx="1">
                    <c:v>Rain</c:v>
                  </c:pt>
                  <c:pt idx="2">
                    <c:v>Accident</c:v>
                  </c:pt>
                  <c:pt idx="3">
                    <c:v>Event</c:v>
                  </c:pt>
                  <c:pt idx="4">
                    <c:v>Weekend</c:v>
                  </c:pt>
                </c:lvl>
              </c:multiLvlStrCache>
            </c:multiLvlStrRef>
          </c:cat>
          <c:val>
            <c:numRef>
              <c:f>Sheet1!$B$2:$B$6</c:f>
              <c:numCache>
                <c:formatCode>General</c:formatCode>
                <c:ptCount val="5"/>
                <c:pt idx="0">
                  <c:v>9.9</c:v>
                </c:pt>
                <c:pt idx="1">
                  <c:v>10.5</c:v>
                </c:pt>
                <c:pt idx="2">
                  <c:v>11</c:v>
                </c:pt>
                <c:pt idx="3">
                  <c:v>40.4</c:v>
                </c:pt>
                <c:pt idx="4">
                  <c:v>9.1</c:v>
                </c:pt>
              </c:numCache>
            </c:numRef>
          </c:val>
        </c:ser>
        <c:ser>
          <c:idx val="1"/>
          <c:order val="1"/>
          <c:tx>
            <c:strRef>
              <c:f>Sheet1!$C$1</c:f>
              <c:strCache>
                <c:ptCount val="1"/>
                <c:pt idx="0">
                  <c:v>Profile × rain × calendar</c:v>
                </c:pt>
              </c:strCache>
            </c:strRef>
          </c:tx>
          <c:spPr>
            <a:solidFill>
              <a:srgbClr val="D9930D"/>
            </a:solidFill>
            <a:effectLst/>
          </c:spPr>
          <c:invertIfNegative val="0"/>
          <c:dLbls>
            <c:numFmt formatCode="0.0" sourceLinked="0"/>
            <c:txPr>
              <a:bodyPr/>
              <a:lstStyle/>
              <a:p>
                <a:pPr>
                  <a:defRPr b="0" i="0" strike="noStrike" sz="800" u="none">
                    <a:solidFill>
                      <a:srgbClr val="2B3440"/>
                    </a:solidFill>
                    <a:latin typeface="+mn-lt"/>
                  </a:defRPr>
                </a:pPr>
              </a:p>
            </c:txPr>
            <c:showLegendKey val="0"/>
            <c:showVal val="1"/>
            <c:showCatName val="0"/>
            <c:showSerName val="0"/>
            <c:showPercent val="0"/>
            <c:showBubbleSize val="0"/>
            <c:showLeaderLines val="0"/>
          </c:dLbls>
          <c:cat>
            <c:multiLvlStrRef>
              <c:f>Sheet1!$A$2:$A$6</c:f>
              <c:multiLvlStrCache>
                <c:ptCount val="5"/>
                <c:lvl>
                  <c:pt idx="0">
                    <c:v>Dry weekday</c:v>
                  </c:pt>
                  <c:pt idx="1">
                    <c:v>Rain</c:v>
                  </c:pt>
                  <c:pt idx="2">
                    <c:v>Accident</c:v>
                  </c:pt>
                  <c:pt idx="3">
                    <c:v>Event</c:v>
                  </c:pt>
                  <c:pt idx="4">
                    <c:v>Weekend</c:v>
                  </c:pt>
                </c:lvl>
              </c:multiLvlStrCache>
            </c:multiLvlStrRef>
          </c:cat>
          <c:val>
            <c:numRef>
              <c:f>Sheet1!$C$2:$C$6</c:f>
              <c:numCache>
                <c:formatCode>General</c:formatCode>
                <c:ptCount val="5"/>
                <c:pt idx="0">
                  <c:v>9.5</c:v>
                </c:pt>
                <c:pt idx="1">
                  <c:v>8.9</c:v>
                </c:pt>
                <c:pt idx="2">
                  <c:v>10.6</c:v>
                </c:pt>
                <c:pt idx="3">
                  <c:v>18.4</c:v>
                </c:pt>
                <c:pt idx="4">
                  <c:v>9.9</c:v>
                </c:pt>
              </c:numCache>
            </c:numRef>
          </c:val>
        </c:ser>
        <c:ser>
          <c:idx val="2"/>
          <c:order val="2"/>
          <c:tx>
            <c:strRef>
              <c:f>Sheet1!$D$1</c:f>
              <c:strCache>
                <c:ptCount val="1"/>
                <c:pt idx="0">
                  <c:v>GLM + counts + guard</c:v>
                </c:pt>
              </c:strCache>
            </c:strRef>
          </c:tx>
          <c:spPr>
            <a:solidFill>
              <a:srgbClr val="3A6EA5"/>
            </a:solidFill>
            <a:effectLst/>
          </c:spPr>
          <c:invertIfNegative val="0"/>
          <c:dLbls>
            <c:numFmt formatCode="0.0" sourceLinked="0"/>
            <c:txPr>
              <a:bodyPr/>
              <a:lstStyle/>
              <a:p>
                <a:pPr>
                  <a:defRPr b="0" i="0" strike="noStrike" sz="800" u="none">
                    <a:solidFill>
                      <a:srgbClr val="2B3440"/>
                    </a:solidFill>
                    <a:latin typeface="+mn-lt"/>
                  </a:defRPr>
                </a:pPr>
              </a:p>
            </c:txPr>
            <c:showLegendKey val="0"/>
            <c:showVal val="1"/>
            <c:showCatName val="0"/>
            <c:showSerName val="0"/>
            <c:showPercent val="0"/>
            <c:showBubbleSize val="0"/>
            <c:showLeaderLines val="0"/>
          </c:dLbls>
          <c:cat>
            <c:multiLvlStrRef>
              <c:f>Sheet1!$A$2:$A$6</c:f>
              <c:multiLvlStrCache>
                <c:ptCount val="5"/>
                <c:lvl>
                  <c:pt idx="0">
                    <c:v>Dry weekday</c:v>
                  </c:pt>
                  <c:pt idx="1">
                    <c:v>Rain</c:v>
                  </c:pt>
                  <c:pt idx="2">
                    <c:v>Accident</c:v>
                  </c:pt>
                  <c:pt idx="3">
                    <c:v>Event</c:v>
                  </c:pt>
                  <c:pt idx="4">
                    <c:v>Weekend</c:v>
                  </c:pt>
                </c:lvl>
              </c:multiLvlStrCache>
            </c:multiLvlStrRef>
          </c:cat>
          <c:val>
            <c:numRef>
              <c:f>Sheet1!$D$2:$D$6</c:f>
              <c:numCache>
                <c:formatCode>General</c:formatCode>
                <c:ptCount val="5"/>
                <c:pt idx="0">
                  <c:v>7</c:v>
                </c:pt>
                <c:pt idx="1">
                  <c:v>7.8</c:v>
                </c:pt>
                <c:pt idx="2">
                  <c:v>7.3</c:v>
                </c:pt>
                <c:pt idx="3">
                  <c:v>13.3</c:v>
                </c:pt>
                <c:pt idx="4">
                  <c:v>6.7</c:v>
                </c:pt>
              </c:numCache>
            </c:numRef>
          </c:val>
        </c:ser>
        <c:ser>
          <c:idx val="3"/>
          <c:order val="3"/>
          <c:tx>
            <c:strRef>
              <c:f>Sheet1!$E$1</c:f>
              <c:strCache>
                <c:ptCount val="1"/>
                <c:pt idx="0">
                  <c:v>Boosting + counts + guard</c:v>
                </c:pt>
              </c:strCache>
            </c:strRef>
          </c:tx>
          <c:spPr>
            <a:solidFill>
              <a:srgbClr val="2E8B57"/>
            </a:solidFill>
            <a:effectLst/>
          </c:spPr>
          <c:invertIfNegative val="0"/>
          <c:dLbls>
            <c:numFmt formatCode="0.0" sourceLinked="0"/>
            <c:txPr>
              <a:bodyPr/>
              <a:lstStyle/>
              <a:p>
                <a:pPr>
                  <a:defRPr b="0" i="0" strike="noStrike" sz="800" u="none">
                    <a:solidFill>
                      <a:srgbClr val="2B3440"/>
                    </a:solidFill>
                    <a:latin typeface="+mn-lt"/>
                  </a:defRPr>
                </a:pPr>
              </a:p>
            </c:txPr>
            <c:showLegendKey val="0"/>
            <c:showVal val="1"/>
            <c:showCatName val="0"/>
            <c:showSerName val="0"/>
            <c:showPercent val="0"/>
            <c:showBubbleSize val="0"/>
            <c:showLeaderLines val="0"/>
          </c:dLbls>
          <c:cat>
            <c:multiLvlStrRef>
              <c:f>Sheet1!$A$2:$A$6</c:f>
              <c:multiLvlStrCache>
                <c:ptCount val="5"/>
                <c:lvl>
                  <c:pt idx="0">
                    <c:v>Dry weekday</c:v>
                  </c:pt>
                  <c:pt idx="1">
                    <c:v>Rain</c:v>
                  </c:pt>
                  <c:pt idx="2">
                    <c:v>Accident</c:v>
                  </c:pt>
                  <c:pt idx="3">
                    <c:v>Event</c:v>
                  </c:pt>
                  <c:pt idx="4">
                    <c:v>Weekend</c:v>
                  </c:pt>
                </c:lvl>
              </c:multiLvlStrCache>
            </c:multiLvlStrRef>
          </c:cat>
          <c:val>
            <c:numRef>
              <c:f>Sheet1!$E$2:$E$6</c:f>
              <c:numCache>
                <c:formatCode>General</c:formatCode>
                <c:ptCount val="5"/>
                <c:pt idx="0">
                  <c:v>6.9</c:v>
                </c:pt>
                <c:pt idx="1">
                  <c:v>9.7</c:v>
                </c:pt>
                <c:pt idx="2">
                  <c:v>7.8</c:v>
                </c:pt>
                <c:pt idx="3">
                  <c:v>20.6</c:v>
                </c:pt>
                <c:pt idx="4">
                  <c:v>6.6</c:v>
                </c:pt>
              </c:numCache>
            </c:numRef>
          </c:val>
        </c:ser>
        <c:dLbls>
          <c:numFmt formatCode="0.0" sourceLinked="0"/>
          <c:txPr>
            <a:bodyPr/>
            <a:lstStyle/>
            <a:p>
              <a:pPr>
                <a:defRPr b="0" i="0" strike="noStrike" sz="800" u="none">
                  <a:solidFill>
                    <a:srgbClr val="2B344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3440"/>
                </a:solidFill>
                <a:latin typeface="+mn-lt"/>
              </a:defRPr>
            </a:pPr>
            <a:endParaRPr lang="en-US"/>
          </a:p>
        </c:txPr>
        <c:crossAx val="2094734552"/>
        <c:crosses val="autoZero"/>
        <c:auto val="1"/>
        <c:lblAlgn val="ctr"/>
        <c:noMultiLvlLbl val="1"/>
      </c:catAx>
      <c:valAx>
        <c:axId val="2094734552"/>
        <c:scaling>
          <c:orientation val="minMax"/>
          <c:max val="45"/>
        </c:scaling>
        <c:delete val="0"/>
        <c:axPos val="l"/>
        <c:majorGridlines>
          <c:spPr>
            <a:ln w="6350" cap="flat">
              <a:solidFill>
                <a:srgbClr val="E2DE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79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B344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j-lt"/>
              </a:defRPr>
            </a:pPr>
            <a:r>
              <a:rPr sz="1300" b="0" i="0" u="none" strike="noStrike">
                <a:solidFill>
                  <a:srgbClr val="1B1F24"/>
                </a:solidFill>
                <a:latin typeface="+mj-lt"/>
              </a:rPr>
              <a:t>Mean delay per car (s), held-out seeds</a:t>
            </a:r>
          </a:p>
        </c:rich>
      </c:tx>
      <c:layout/>
      <c:overlay val="0"/>
    </c:title>
    <c:autoTitleDeleted val="0"/>
    <c:plotArea>
      <c:layout/>
      <c:barChart>
        <c:barDir val="col"/>
        <c:grouping val="clustered"/>
        <c:varyColors val="0"/>
        <c:ser>
          <c:idx val="0"/>
          <c:order val="0"/>
          <c:tx>
            <c:strRef>
              <c:f>Sheet1!$B$1</c:f>
              <c:strCache>
                <c:ptCount val="1"/>
                <c:pt idx="0">
                  <c:v>Fixed 60 s (untuned)</c:v>
                </c:pt>
              </c:strCache>
            </c:strRef>
          </c:tx>
          <c:spPr>
            <a:solidFill>
              <a:srgbClr val="7A8794"/>
            </a:solidFill>
            <a:effectLst/>
          </c:spPr>
          <c:invertIfNegative val="0"/>
          <c:dLbls>
            <c:numFmt formatCode="0" sourceLinked="0"/>
            <c:txPr>
              <a:bodyPr/>
              <a:lstStyle/>
              <a:p>
                <a:pPr>
                  <a:defRPr b="0" i="0" strike="noStrike" sz="800" u="none">
                    <a:solidFill>
                      <a:srgbClr val="2B3440"/>
                    </a:solidFill>
                    <a:latin typeface="+mn-lt"/>
                  </a:defRPr>
                </a:pPr>
              </a:p>
            </c:txPr>
            <c:showLegendKey val="0"/>
            <c:showVal val="1"/>
            <c:showCatName val="0"/>
            <c:showSerName val="0"/>
            <c:showPercent val="0"/>
            <c:showBubbleSize val="0"/>
            <c:showLeaderLines val="0"/>
          </c:dLbls>
          <c:cat>
            <c:multiLvlStrRef>
              <c:f>Sheet1!$A$2:$A$7</c:f>
              <c:multiLvlStrCache>
                <c:ptCount val="6"/>
                <c:lvl>
                  <c:pt idx="0">
                    <c:v>Typical AM</c:v>
                  </c:pt>
                  <c:pt idx="1">
                    <c:v>Busy AM</c:v>
                  </c:pt>
                  <c:pt idx="2">
                    <c:v>Storm</c:v>
                  </c:pt>
                  <c:pt idx="3">
                    <c:v>Evening</c:v>
                  </c:pt>
                  <c:pt idx="4">
                    <c:v>Accident</c:v>
                  </c:pt>
                  <c:pt idx="5">
                    <c:v>Stadium event</c:v>
                  </c:pt>
                </c:lvl>
              </c:multiLvlStrCache>
            </c:multiLvlStrRef>
          </c:cat>
          <c:val>
            <c:numRef>
              <c:f>Sheet1!$B$2:$B$7</c:f>
              <c:numCache>
                <c:formatCode>General</c:formatCode>
                <c:ptCount val="6"/>
                <c:pt idx="0">
                  <c:v>114.1</c:v>
                </c:pt>
                <c:pt idx="1">
                  <c:v>265.5</c:v>
                </c:pt>
                <c:pt idx="2">
                  <c:v>294.7</c:v>
                </c:pt>
                <c:pt idx="3">
                  <c:v>238.7</c:v>
                </c:pt>
                <c:pt idx="4">
                  <c:v>417.1</c:v>
                </c:pt>
                <c:pt idx="5">
                  <c:v>314.2</c:v>
                </c:pt>
              </c:numCache>
            </c:numRef>
          </c:val>
        </c:ser>
        <c:ser>
          <c:idx val="1"/>
          <c:order val="1"/>
          <c:tx>
            <c:strRef>
              <c:f>Sheet1!$C$1</c:f>
              <c:strCache>
                <c:ptCount val="1"/>
                <c:pt idx="0">
                  <c:v>Fixed, tuned green wave</c:v>
                </c:pt>
              </c:strCache>
            </c:strRef>
          </c:tx>
          <c:spPr>
            <a:solidFill>
              <a:srgbClr val="2B3440"/>
            </a:solidFill>
            <a:effectLst/>
          </c:spPr>
          <c:invertIfNegative val="0"/>
          <c:dLbls>
            <c:numFmt formatCode="0" sourceLinked="0"/>
            <c:txPr>
              <a:bodyPr/>
              <a:lstStyle/>
              <a:p>
                <a:pPr>
                  <a:defRPr b="0" i="0" strike="noStrike" sz="800" u="none">
                    <a:solidFill>
                      <a:srgbClr val="2B3440"/>
                    </a:solidFill>
                    <a:latin typeface="+mn-lt"/>
                  </a:defRPr>
                </a:pPr>
              </a:p>
            </c:txPr>
            <c:showLegendKey val="0"/>
            <c:showVal val="1"/>
            <c:showCatName val="0"/>
            <c:showSerName val="0"/>
            <c:showPercent val="0"/>
            <c:showBubbleSize val="0"/>
            <c:showLeaderLines val="0"/>
          </c:dLbls>
          <c:cat>
            <c:multiLvlStrRef>
              <c:f>Sheet1!$A$2:$A$7</c:f>
              <c:multiLvlStrCache>
                <c:ptCount val="6"/>
                <c:lvl>
                  <c:pt idx="0">
                    <c:v>Typical AM</c:v>
                  </c:pt>
                  <c:pt idx="1">
                    <c:v>Busy AM</c:v>
                  </c:pt>
                  <c:pt idx="2">
                    <c:v>Storm</c:v>
                  </c:pt>
                  <c:pt idx="3">
                    <c:v>Evening</c:v>
                  </c:pt>
                  <c:pt idx="4">
                    <c:v>Accident</c:v>
                  </c:pt>
                  <c:pt idx="5">
                    <c:v>Stadium event</c:v>
                  </c:pt>
                </c:lvl>
              </c:multiLvlStrCache>
            </c:multiLvlStrRef>
          </c:cat>
          <c:val>
            <c:numRef>
              <c:f>Sheet1!$C$2:$C$7</c:f>
              <c:numCache>
                <c:formatCode>General</c:formatCode>
                <c:ptCount val="6"/>
                <c:pt idx="0">
                  <c:v>72.2</c:v>
                </c:pt>
                <c:pt idx="1">
                  <c:v>142.1</c:v>
                </c:pt>
                <c:pt idx="2">
                  <c:v>199.6</c:v>
                </c:pt>
                <c:pt idx="3">
                  <c:v>100.1</c:v>
                </c:pt>
                <c:pt idx="4">
                  <c:v>242.1</c:v>
                </c:pt>
                <c:pt idx="5">
                  <c:v>138.6</c:v>
                </c:pt>
              </c:numCache>
            </c:numRef>
          </c:val>
        </c:ser>
        <c:ser>
          <c:idx val="2"/>
          <c:order val="2"/>
          <c:tx>
            <c:strRef>
              <c:f>Sheet1!$D$1</c:f>
              <c:strCache>
                <c:ptCount val="1"/>
                <c:pt idx="0">
                  <c:v>Optimiser, live forecast</c:v>
                </c:pt>
              </c:strCache>
            </c:strRef>
          </c:tx>
          <c:spPr>
            <a:solidFill>
              <a:srgbClr val="D9930D"/>
            </a:solidFill>
            <a:effectLst/>
          </c:spPr>
          <c:invertIfNegative val="0"/>
          <c:dLbls>
            <c:numFmt formatCode="0" sourceLinked="0"/>
            <c:txPr>
              <a:bodyPr/>
              <a:lstStyle/>
              <a:p>
                <a:pPr>
                  <a:defRPr b="0" i="0" strike="noStrike" sz="800" u="none">
                    <a:solidFill>
                      <a:srgbClr val="2B3440"/>
                    </a:solidFill>
                    <a:latin typeface="+mn-lt"/>
                  </a:defRPr>
                </a:pPr>
              </a:p>
            </c:txPr>
            <c:showLegendKey val="0"/>
            <c:showVal val="1"/>
            <c:showCatName val="0"/>
            <c:showSerName val="0"/>
            <c:showPercent val="0"/>
            <c:showBubbleSize val="0"/>
            <c:showLeaderLines val="0"/>
          </c:dLbls>
          <c:cat>
            <c:multiLvlStrRef>
              <c:f>Sheet1!$A$2:$A$7</c:f>
              <c:multiLvlStrCache>
                <c:ptCount val="6"/>
                <c:lvl>
                  <c:pt idx="0">
                    <c:v>Typical AM</c:v>
                  </c:pt>
                  <c:pt idx="1">
                    <c:v>Busy AM</c:v>
                  </c:pt>
                  <c:pt idx="2">
                    <c:v>Storm</c:v>
                  </c:pt>
                  <c:pt idx="3">
                    <c:v>Evening</c:v>
                  </c:pt>
                  <c:pt idx="4">
                    <c:v>Accident</c:v>
                  </c:pt>
                  <c:pt idx="5">
                    <c:v>Stadium event</c:v>
                  </c:pt>
                </c:lvl>
              </c:multiLvlStrCache>
            </c:multiLvlStrRef>
          </c:cat>
          <c:val>
            <c:numRef>
              <c:f>Sheet1!$D$2:$D$7</c:f>
              <c:numCache>
                <c:formatCode>General</c:formatCode>
                <c:ptCount val="6"/>
                <c:pt idx="0">
                  <c:v>49.4</c:v>
                </c:pt>
                <c:pt idx="1">
                  <c:v>110.7</c:v>
                </c:pt>
                <c:pt idx="2">
                  <c:v>169.1</c:v>
                </c:pt>
                <c:pt idx="3">
                  <c:v>86.2</c:v>
                </c:pt>
                <c:pt idx="4">
                  <c:v>225</c:v>
                </c:pt>
                <c:pt idx="5">
                  <c:v>132.3</c:v>
                </c:pt>
              </c:numCache>
            </c:numRef>
          </c:val>
        </c:ser>
        <c:dLbls>
          <c:numFmt formatCode="0" sourceLinked="0"/>
          <c:txPr>
            <a:bodyPr/>
            <a:lstStyle/>
            <a:p>
              <a:pPr>
                <a:defRPr b="0" i="0" strike="noStrike" sz="800" u="none">
                  <a:solidFill>
                    <a:srgbClr val="2B344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344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DE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79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B344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24"/>
                </a:solidFill>
                <a:latin typeface="+mj-lt"/>
              </a:defRPr>
            </a:pPr>
            <a:r>
              <a:rPr sz="1200" b="0" i="0" u="none" strike="noStrike">
                <a:solidFill>
                  <a:srgbClr val="1B1F24"/>
                </a:solidFill>
                <a:latin typeface="+mj-lt"/>
              </a:rPr>
              <a:t>QP solve time vs intersections (one central solve)</a:t>
            </a:r>
          </a:p>
        </c:rich>
      </c:tx>
      <c:layout/>
      <c:overlay val="0"/>
    </c:title>
    <c:autoTitleDeleted val="0"/>
    <c:plotArea>
      <c:layout/>
      <c:lineChart>
        <c:varyColors val="0"/>
        <c:ser>
          <c:idx val="0"/>
          <c:order val="0"/>
          <c:tx>
            <c:strRef>
              <c:f>Sheet1!$B$1</c:f>
              <c:strCache>
                <c:ptCount val="1"/>
                <c:pt idx="0">
                  <c:v>Mean solve time (ms)</c:v>
                </c:pt>
              </c:strCache>
            </c:strRef>
          </c:tx>
          <c:spPr>
            <a:solidFill>
              <a:srgbClr val="D9930D"/>
            </a:solidFill>
            <a:ln w="31750" cap="flat">
              <a:solidFill>
                <a:srgbClr val="D9930D"/>
              </a:solidFill>
              <a:prstDash val="solid"/>
              <a:round/>
            </a:ln>
            <a:effectLst/>
          </c:spPr>
          <c:invertIfNegative val="0"/>
          <c:dLbls>
            <c:numFmt formatCode="#,##0" sourceLinked="0"/>
            <c:txPr>
              <a:bodyPr/>
              <a:lstStyle/>
              <a:p>
                <a:pPr>
                  <a:defRPr b="0" i="0" strike="noStrike" sz="900" u="none">
                    <a:solidFill>
                      <a:srgbClr val="2B3440"/>
                    </a:solidFill>
                    <a:latin typeface="+mn-lt"/>
                  </a:defRPr>
                </a:pPr>
              </a:p>
            </c:txPr>
            <c:dLblPos val="t"/>
            <c:showLegendKey val="0"/>
            <c:showVal val="1"/>
            <c:showCatName val="0"/>
            <c:showSerName val="0"/>
            <c:showPercent val="0"/>
            <c:showBubbleSize val="0"/>
            <c:showLeaderLines val="0"/>
          </c:dLbls>
          <c:marker>
            <c:symbol val="circle"/>
            <c:size val="8"/>
            <c:spPr>
              <a:solidFill>
                <a:srgbClr val="D9930D"/>
              </a:solidFill>
              <a:ln w="9525" cap="flat">
                <a:solidFill>
                  <a:srgbClr val="D9930D"/>
                </a:solidFill>
                <a:prstDash val="solid"/>
                <a:round/>
              </a:ln>
              <a:effectLst/>
            </c:spPr>
          </c:marker>
          <c:cat>
            <c:multiLvlStrRef>
              <c:f>Sheet1!$A$2:$A$5</c:f>
              <c:multiLvlStrCache>
                <c:ptCount val="4"/>
                <c:lvl>
                  <c:pt idx="0">
                    <c:v>4</c:v>
                  </c:pt>
                  <c:pt idx="1">
                    <c:v>16</c:v>
                  </c:pt>
                  <c:pt idx="2">
                    <c:v>36</c:v>
                  </c:pt>
                  <c:pt idx="3">
                    <c:v>100</c:v>
                  </c:pt>
                </c:lvl>
              </c:multiLvlStrCache>
            </c:multiLvlStrRef>
          </c:cat>
          <c:val>
            <c:numRef>
              <c:f>Sheet1!$B$2:$B$5</c:f>
              <c:numCache>
                <c:formatCode>General</c:formatCode>
                <c:ptCount val="4"/>
                <c:pt idx="0">
                  <c:v>38</c:v>
                </c:pt>
                <c:pt idx="1">
                  <c:v>203</c:v>
                </c:pt>
                <c:pt idx="2">
                  <c:v>512</c:v>
                </c:pt>
                <c:pt idx="3">
                  <c:v>1857</c:v>
                </c:pt>
              </c:numCache>
            </c:numRef>
          </c:val>
          <c:smooth val="0"/>
        </c:ser>
        <c:dLbls>
          <c:numFmt formatCode="#,##0" sourceLinked="0"/>
          <c:txPr>
            <a:bodyPr/>
            <a:lstStyle/>
            <a:p>
              <a:pPr>
                <a:defRPr b="0" i="0" strike="noStrike" sz="900" u="none">
                  <a:solidFill>
                    <a:srgbClr val="2B3440"/>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7A8794"/>
                    </a:solidFill>
                    <a:latin typeface="Arial"/>
                  </a:defRPr>
                </a:pPr>
                <a:r>
                  <a:rPr sz="1000" b="0" i="0" u="none" strike="noStrike">
                    <a:solidFill>
                      <a:srgbClr val="7A8794"/>
                    </a:solidFill>
                    <a:latin typeface="Arial"/>
                  </a:rPr>
                  <a:t>intersections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B344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DED4"/>
              </a:solidFill>
              <a:prstDash val="solid"/>
              <a:round/>
            </a:ln>
          </c:spPr>
        </c:majorGridlines>
        <c:title>
          <c:tx>
            <c:rich>
              <a:bodyPr/>
              <a:lstStyle/>
              <a:p>
                <a:pPr>
                  <a:defRPr sz="1000" b="0" i="0" u="none" strike="noStrike">
                    <a:solidFill>
                      <a:srgbClr val="7A8794"/>
                    </a:solidFill>
                    <a:latin typeface="Arial"/>
                  </a:defRPr>
                </a:pPr>
                <a:r>
                  <a:rPr sz="1000" b="0" i="0" u="none" strike="noStrike">
                    <a:solidFill>
                      <a:srgbClr val="7A8794"/>
                    </a:solidFill>
                    <a:latin typeface="Arial"/>
                  </a:rPr>
                  <a:t>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A879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(20 seconds). The project is a full loop: I built a vehicle-level traffic simulator, a forecaster for arrivals at each entrance, a queue estimator, and a convex optimiser that sets the green splits every minute. Everything is judged on one number, average delay per car, on days the controller was never tuned on.
The key assumption, which I'll come back to: the controller only sees a car counter on each road into the network. Nothing inside. So it has to predict and estimate, which is the point of an ML-plus-optimisation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on a normal morning the optimiser cuts delay per car by about a third against a fixed green wave whose cycle I tuned as well as I could. Against the kind of untuned plan the brief probably means by "fixed timing", it's 43 to 64 percent better in every scenario.
The honest part, which I'll keep coming back to: the learned forecast is a good forecast, but it adds almost nothing to delay. Persistence, my model, and a perfect oracle forecast all give about the same delay. The gain comes from the queue model and the optimiser. I'll show why.
Criteria: 20% is met against the untuned plan everywhere, and against the tuned plan only on the typical and busy mornings. The tuned baseline is deliberately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on one slide. The simulator owns the truth. The controller only sees counts at the entrances. The forecaster turns those counts into expected arrivals for the next 15 minutes, the estimator turns counts plus its own signal history into cars per road, and the optimiser uses both to pick green splits. Then the simulator moves the cars and I measure delay.
The design choice I want to flag: the controller plans with a deliberately simple linear model, but it is graded in a much richer simulator. If I graded it in its own model it would look perfect. The gap between the two models is part of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decision was how to score. The tempting shortcut is to evaluate the controller in the same queue model it optimises over. That is grading your own homework: no model error by construction.
So I wrote a vehicle-level simulator. Every car follows the Intelligent Driver Model, which is the standard car-following model in the literature (Treiber 2000). Saturation flow, start-up delay, spillback and the rain effect are not parameters I set: they come out of the driving behaviour, and I measure them.
Why not SUMO? It is the real tool, but in a weekend it's a big dependency and harder for you to read and reproduce. Why time-stepped and not event-driven? Event-driven needs a queue abstraction, which assumes exactly the service process I want to observe.
If asked about step size: 0.5 s is the usual choice for IDM with a ballistic update. It's fast enough: 20 simulated minutes take 0.3 s under the fixed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is a 2x2 grid: four junctions, eight roads in, eight out, four internal roads. One lane each way, two signal phases, north-south and east-west. Every car draws its turns when it is created: 70% straight, 15% left, 15% right.
Internal roads are 200 m, which holds about 30 queued cars. Entry roads are 400 m, about 61 cars. That matters later: when an entry road is full, cars wait outside the network, and the counter at the boundary stops seeing them. That's censoring, and it causes trouble for both the forecaster and the estimator.
The car-following parameters are standard urban values. Saturation flow is measured, not set: about 0.40 cars per second per lane, 1,440 per hour, which is in the usual range for one urban lane. Rain lowers it to 0.33.
Small details that make congestion realistic: an amber dilemma-zone rule, and box-clearing: a car won't enter the junction if there's no room on the road ahead. That's what produces spillback.
Why 2x2? It's the smallest grid with interaction between junctions, and everything is generated from the grid size, so 10x10 is a config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 is the part I designed most carefully, because it decides what the forecaster can possibly learn.
The rate at each entrance is a product of layers. A weekday profile with morning and evening peaks. A timing shift: today's rush might come 12 minutes late. A day level: today might be 10% busier. Rain adds up to 10%. A directional tide: inbound in the morning, outbound in the evening. Slow AR(1) noise with about ten minutes of memory. And scheduled events. Arrivals are Poisson around that rate, so it's a Cox process: the rate itself is random.
The 0.136: 0.16 cars per second per entry is where the grid saturates under fixed timing; a normal peak runs at 85% of that.
Why multiplicative? Real traffic effects scale: rain or a busy day raise every hour proportionally. And it makes a log-link model the natural forecaster.
Each layer has a different answer to "can it be learned": the profile from history, the level and shift from today's counts, rain and events from feeds, Poisson noise never. That's why the forecast ladder later reads cleanly.
If asked how I chose the Poisson parameters: Poisson has one parameter, the rate. The choice is the rate model above. The noise sizes (10% level, 12-min shift, AR sd) are assumptions chosen to give a 12-20% day-to-day spread at the same time of day, shown in the lower panel. They are not calibrated to real data, and I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randomness. Random days, used to build 60 days of history for the forecaster: each day draws its level, timing shift, storms, accidents and events. And six fixed evaluation scenarios, each three hours.
The scenarios are chosen to stress different parts of the chain. Busy morning: capacity. Storm: saturation flow drops 17%, which the estimator has to know about from the weather feed. Accident: the brief's closure criterion. Evening: a different peak with outbound tide. And the stadium event, which I added specifically as the case where forecasting should pay: the calendar announces the crowd before the cars arrive.
All the rates are assumptions. I didn't have real data; I chose values that give plausible variability and I say that plainly in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assumption that shapes everything else. The controller sees a counter on each road into the network, the clock, the weather, an incident feed, an event calendar, and its own signals. It never sees a queue.
Why? Two reasons. Practical: loop counters are common infrastructure. And thematically: I first built it with cameras that read the true queue on every road. With that, the problem is much less interesting: you can run each junction greedily on what it sees, and there's nothing for the ML to do. Counts only forces the system to predict arrivals and estimate the state, which is what an ML-plus-optimisation case is about.
It cost nothing: the counts-only optimiser is as good as or better than the camera one, because the model-based gap-out turned out to be strong.
It's enforced by a test: the controller is handed an observation with only the allowed keys.
Likely question: "isn't the event calendar cheating?" No: it publishes the announced crowd, not the real one, and the real crowd varies by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metric: average delay per car, measured from when the car is created, so waiting outside a full entry road counts. Cars still in the network at the end are included, which stops a controller looking good by holding cars back.
Two baselines. The untuned 60 s plan is what most people mean by fixed timing. The tuned green wave is my strong baseline: I tuned its cycle on each scenario's normal day, 120 s for mornings and 180 s for evenings, then applied it unchanged to the disturbed days. Same rule for my optimiser's settings: tuned on normal days only.
Seeds are partitioned: tuning 100-109, evaluation 200-209, demo 300, forecaster history separate. Nothing was ever chosen on an evaluation seed.
Common random numbers: the same seed means literally the same cars, same arrival times, same turns, for every controller. So differences between controllers are paired, which removes most of the day-to-day noise from the comparison. That's why 10 seeds is enough for clear intervals on normal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forecasting job: for each of the 8 entrances, predict the arrival rate 5, 10 and 15 minutes ahead, every 5 minutes. One global model with horizon as a feature, rather than 24 separate models, so the data is pooled.
Labels versus inputs: this was my first mistake and I'll come back to it. The labels are the true rates, which in real life would come from a historical survey. The inputs are only what a deployed system could see at that moment. Tests check that no feature uses the future and that the oracle columns and occupancy are never features.
Validation is by whole days in time order. Five-minute windows next to each other are strongly correlated; a random split would put 07:40 in training and 07:45 in test and flatter every model.
The censoring guard: when an entry road fills, cars queue outside and the counter undercounts demand. The model would read that as low demand. So when the estimate says the road is nearly full, the forecast ignores that entry's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model-selection slide. I built a ladder from naive to flexible.
The raw count carried forward is the worst, 24%, because a single five-minute count is mostly Poisson noise. The hour-of-day profile gets to 10%. Adding weather and the event calendar gets to 9.7% overall and halves the error on event days.
The Poisson GLM with live counts gets 7.1%. Why a GLM: the data are counts, so Poisson likelihood; the demand is a product of effects, so a log link turns them into a sum. And the calendar feature log(1+announced) means a coefficient of one reproduces the event multiplier, so it extrapolates to new events.
Gradient boosting is my flexibility check: it's level overall, 7.3%, so there's no structure the GLM is missing. But it's much worse on events, 20.6 vs 13.3, because events are rare: trees can't learn from 18 examples.
I didn't fit deep models: 60 days of data, a known structure, and the flexible check already found nothing. I'd say that rather than claim I tried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results. Left: error by horizon. The GLM beats the profile by about a third at every horizon. The interesting comparison is the oracle: it knows today's true rate exactly but assumes it stays flat. It wins at five minutes, and from ten minutes my model wins, because the model knows the daily shape (the rush is still ramping up) and the calendar.
So the model's skill is mostly a good nowcast, plus the daily shape, plus the calendar. What's left is random variation that nothing in the inputs can see.
Right: error by day type. On normal days every live-count model is around 7%. On event days the profile is 40% wrong; the calendar alone gets to 18%, and the GLM with counts and calendar to 13%. Boosting is 21% there, which is the strongest evidence for the GLM.
Keep in mind for later: a good forecast is not the same as a forecast that improves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validation caught. I think these matter more than the headline error.
One: I initially conflated training on true rates with training on counts. Now the rule is explicit and tested.
Two, the most important: censoring. On one test day the network gridlocked, the counters reported the jam rather than the demand, and every model collapsed. The guard fixes it, and I confirmed it on fresh days I hadn't looked at.
Three: I removed occupancy sensors from the forecaster and nothing changed, so I kept the simpler sensor set.
Four: if you score against the noisy counts, every model looks the same because Poisson noise dominates. Score against the true rate and they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works on four timescales. Every second it updates its queue estimate and executes the signals. Every 60 seconds it re-plans. Once a day the forecaster is refit.
Why 60 seconds? The decision is a green split, which only means something at cycle scale. Re-planning every few seconds would chase Poisson noise. The second-by-second layer, gap-out, handles individual cars.
Why 15 minutes? Long enough for a queue on one road to affect its neighbours, and the same horizon the forecaster predicts. The terminal cost stops the plan from pushing work past the horizon.
It's receding-horizon control, MPC: plan 15 minutes, apply one, re-plan. That's what makes it robust to the forecast being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counts only, the controller has to estimate the queues. It uses the same store-and-forward model the optimiser plans with, stepped every second. Cars enter on the counted roads, drive to the stop line at free speed, queue, and leave at saturation flow when green, splitting by the average turning shares.
The two parameters, discharge rate and start-up delay, were calibrated against the simulator's truth on tuning seeds. They were not tuned for delay, which would be overfitting.
How good is it? The figure: on a normal morning the blue estimate tracks the black truth closely; entry roads within half a car. In the accident panels, it tracks the blockage via the incident feed, but after clearance it thinks the backlog drains at full saturation, when really spillback holds it longer. So it reads too low. That's why the incident fallback exists.
The same failure appears in the stadium event, triggered by demand rather than a blockage: when entry roads fill, cars wait outside, the counters go quiet, and the estimator thinks the road is emptying. No sensor inside the network corrects it, and that's the single biggest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formulation. For each junction and each minute in the next 15, decide the north-south share of green. Queues evolve by conservation: queue next minute equals queue now plus arrivals minus departures. Arrivals on entry roads come from the forecast; on internal roads they're last minute's departures upstream times the turning shares. Departures are capped by saturation flow times green time, and by what's there. A blocked road discharges nothing.
The objective: sum of queues over time is total delay in vehicle-minutes, by Little's law. The quadratic term is the fairness term: it penalises long queues more than proportionally, so the optimiser can't starve the light approaches to serve the heavy ones. Terminal cost, spillback slack, and a smoothness penalty.
All constraints are linear and the objective is convex quadratic, so it's a QP: globally optimal, solved in about 40 ms.
The cycle length is set outside, by Webster's formula. If C were a variable, green time would be x times C, a product of variables, and the problem would be non-convex. Webster is the textbook delay-minimising cycle for given flows, and it uses the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"why X over Y" slide for the optimiser.
Why not an LP? It would be convex too and a bit faster, but LPs land on vertices: give all the spare green to one approach. The quadratic term gives smooth, fair splits. And speed isn't the constraint: 40 ms against a 60 second budget.
Why not a mixed-integer formulation? That's for choosing phase orders or offsets. With two phases there's nothing discrete to choose.
Why not put the cycle in the program? Bilinear, non-convex. Webster outside is the standard decomposition.
Max-pressure is the famous alternative. I ran it in the camera version where it had the true queues: it lost to the optimiser everywhere and to the tuned fixed plan in four of five scenarios. It's designed for stability at max throughput, not minimum delay, and it has no look-ahead, so a forecast is useless to it. That's why it didn't fit this project's theme either.
RL: possible, but data-hungry and opaque, and the structure is known. I'd rather use the model.
The point of convexity: local optimum is global, so any remaining error is in the inputs, not the 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practical pieces.
Gap-out: if the estimate says nobody is arriving on the green approach and someone is waiting on the cross street, end the green early. This turned out to be a big part of the gain in light traffic: the QP alone is 12% better than tuned on a typical morning; with gap-out it's 30%. That's honest attribution: in light traffic, the reactive layer matters; at peak the QP matters.
Incident fallback: when the incident feed reports a blockage, the signals switch to the tuned fixed plan until an hour after it clears. That sounds like giving up, but the estimate is wrong after a blockage and a robust plan beats optimising on a wrong state. Without the incident feed the counts-only controller gridlocks two of ten accident days. The window was chosen on tuning seeds.
And a bug, which I want to own: the cycle smoothing rounded its own state every step, so it got stuck one step short of the target and essentially never moved. Found while reviewing the demo, fixed, test added, and every result in this deck is from the rerun. It mattered most in the storm and the event, where the cycle should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outputs/demo_viewer.html. Deep link format #clip=3&amp;f=600.
Suggested order (about 5 minutes):
1. Morning peak: point out estimate vs truth bars, the plan, and that the cycle now moves.
2. Accident: the incident banner, the fallback to the fixed plan, the backlog clearing.
3. Stadium event: the shaded calendar window, the forecast rising before the counts, and the eastbound entries filling.
4. If time: storm, the estimate running high.
Mention the clip rule: I didn't pick flattering windows; the rule picks the fixed plan's worst quarter-hour. One day can look better or worse than average; the held-out average is shown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chart, on held-out seeds the controller never saw. Grey: untuned 60 s. Dark: tuned green wave. Amber: the optimiser.
Against the untuned plan, 43 to 64 percent everywhere. Against the tuned plan, 32 percent on a typical morning, 22 on a busy one, 14-15 in the storm and evening, and 5-7 in the accident and event.
Statistics: paired by seed thanks to common random numbers, 95% t-intervals on the saving. Typical, storm and evening clearly exclude zero. Busy only just, with 3 seeds. Accident and event do not: the day-to-day swing is large.
Tail delay: better in four scenarios, level in evening and event. The optimiser lowers the mean by serving heavy approaches; the q-squared term limits how much the light side pays.
So the 20% target: met against untuned everywhere; against a strong tuned baseline, met on the mornings. I'd argue real fixed plans are rarely tuned per scenario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the ML section, and I'd rather say it than have you find it.
I ran the same optimiser with four levels of information: repeat the last count, calendar and weather only, my learned forecast, and a perfect oracle. The delays are within noise of each other, in every scenario. Even a perfect forecast doesn't help.
Why? The optimiser re-plans every minute. The live counts already tell it today's level. Over 15 minutes, today's level is most of what a forecast knows. And the receding horizon corrects forecast error every minute.
So I added the stadium event, the case where information should arrive before the cars: the calendar. The forecaster does see it coming, and the perfect forecast is the best row, but by 7 seconds with a 19-second spread.
The conclusion I'd defend: the ML is good and correctly validated, but for this control problem, at this horizon, the binding constraint is state estimation, not prediction. That's a finding, not a failure.
If asked "so why have the forecaster?": Webster's cycle and the QP's arrivals need a rate; the GLM is the right way to produce one; it's what would matter at longer horizons or for planning; and the experiment that tells you it doesn't matter here needed it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disturbance scenarios, where counts-only shows its limits.
Accident: the blockage adds about 170-180 seconds per car whatever you do, because cars behind a blocked single lane wait for it to clear and there's no rerouting. No signal plan fixes that. The optimiser wins the day because it was ahead before; the accident itself costs it about the same as the fixed plan. Without the incident feed it can't know the road is blocked and gridlocks twice in ten.
Event: the optimiser is ahead on nine of ten days, but one day goes badly. I traced it: the forecaster saw the surge coming from the calendar. What failed is the estimate: entry roads fill, cars queue outside the boundary, the counters go quiet, and the estimator, which assumes queues drain at saturation, thinks the approach is emptying. The optimiser then gives that approach less green: exactly the wrong move.
On seed 207, the two controllers that use live counts blow up, and the calendar-only and perfect ones don't, which fits the quiet-counter story.
Fixes I'd build next: treat an entry road as full when its counter goes quiet while the calendar says a crowd is coming, or a calendar-triggered fallback like the accident's. I didn't build them, because the event was added after everything was frozen and I didn't want to tune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Scalability: the same code runs on any grid. One central QP per decision grows roughly linearly, about 19 ms per junction; 100 junctions take under 2 seconds against a 60 second decision interval. Beyond that you'd decompose by region, which the store-and-forward structure allows. On the larger grids the optimiser still beats the untuned plan, without any tuning.
Engineering: 33 tests, running in about 20 seconds. The ones I'd point to are the guard-rail tests: features use the past only, no oracle columns, and the controller can only read the allowed sensors. Those protect the experiment's validity, not just the code.
Reproducibility: fixed seeds, common random numbers, and every number in the deck comes from a command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plainly. The forecast adds little to control. 20% against the tuned plan only on mornings. The estimate is the weak spot. The data is synthetic. The network is simplified. And busy and storm have only three seeds.
Next steps in order of expected value. The biggest is a measurement inside the network: a stop-line counter on each road would let the estimator correct itself, which addresses the storm, the accident and the event at once. Second, use the information I already have better: a silent counter plus a calendar event means a full road. Third, plan robustly over the uncertainty in the estimate. Then more seeds, offsets, rerouting, and real data.
Notice that a better forecaster isn't on the list. The experiments say that's not where the gain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remember. A simulator I didn't let the controller grade itself in. A forecaster chosen to match the data and validated properly. A convex optimiser that is fast, exact and explainable. And a result that's strong on normal days, honest about where it isn't, and clear about what to build next.
Then open to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"how does the car-following work". IDM: acceleration is a free-road term minus an interaction term based on the desired gap s-star. A red light is modelled as a stopped car at the stop line. Saturation flow emerges at about 2.5 s headway; I measured it and a test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 the cycle. Webster's formula, and the cap check: since the tuned evening plan uses 180 seconds, I checked whether the optimiser should be allowed 180. On tuning seeds it's worse in both the normal evening and the event, so the cap stays at 120.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"how did you choose the weights". One at a time around the defaults on tuning seeds. It's flat: nothing moves more than about 2 seconds except gap-out. A flat surface means the result is not a product of lucky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 max-pressure and the camera version. Max-pressure with perfect queue information still lost. Under counts only it would have to act second by second on the estimate, which is worse still. That plus no use for a forecast is why it was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AI question. The brief encourages it, as long as I can explain everything. Rewrite this slide in your own words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for the methods used. The provided starter code was read but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011680"/>
            <a:ext cx="7863840" cy="17373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02920" y="3931920"/>
            <a:ext cx="7863840" cy="146304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2E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rtlCol="0"/>
          <a:lstStyle>
            <a:lvl1pPr indent="0" marL="0">
              <a:buNone/>
              <a:defRPr lang="en-US" sz="2500" b="1" dirty="0">
                <a:solidFill>
                  <a:schemeClr val="tx1"/>
                </a:solidFill>
              </a:defRPr>
            </a:lvl1pPr>
          </a:lstStyle>
          <a:p>
            <a:pPr indent="0" marL="0">
              <a:buNone/>
            </a:pPr>
            <a:endParaRPr lang="en-US" sz="2500" dirty="0"/>
          </a:p>
        </p:txBody>
      </p:sp>
      <p:sp>
        <p:nvSpPr>
          <p:cNvPr id="4" name="Text 0"/>
          <p:cNvSpPr/>
          <p:nvPr/>
        </p:nvSpPr>
        <p:spPr>
          <a:xfrm>
            <a:off x="502920" y="6473952"/>
            <a:ext cx="7315200" cy="256032"/>
          </a:xfrm>
          <a:prstGeom prst="rect">
            <a:avLst/>
          </a:prstGeom>
          <a:noFill/>
          <a:ln/>
        </p:spPr>
        <p:txBody>
          <a:bodyPr wrap="square" lIns="0" tIns="0" rIns="0" bIns="0" rtlCol="0" anchor="ctr"/>
          <a:lstStyle/>
          <a:p>
            <a:pPr indent="0" marL="0">
              <a:buNone/>
            </a:pPr>
            <a:r>
              <a:rPr lang="en-US" sz="900" dirty="0">
                <a:solidFill>
                  <a:schemeClr val="accent5"/>
                </a:solidFill>
              </a:rPr>
              <a:t>Smart traffic signals from entrance counts  ·  Senior Quant case study</a:t>
            </a:r>
            <a:endParaRPr lang="en-US" sz="9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B1F2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rtlCol="0"/>
          <a:lstStyle>
            <a:lvl1pPr indent="0" marL="0">
              <a:buNone/>
              <a:defRPr lang="en-US" sz="2500" b="1" dirty="0">
                <a:solidFill>
                  <a:schemeClr val="bg1"/>
                </a:solidFill>
              </a:defRPr>
            </a:lvl1pPr>
          </a:lstStyle>
          <a:p>
            <a:pPr indent="0" marL="0">
              <a:buNone/>
            </a:pPr>
            <a:endParaRPr lang="en-US" sz="2500" dirty="0"/>
          </a:p>
        </p:txBody>
      </p:sp>
      <p:sp>
        <p:nvSpPr>
          <p:cNvPr id="4" name="Text 0"/>
          <p:cNvSpPr/>
          <p:nvPr/>
        </p:nvSpPr>
        <p:spPr>
          <a:xfrm>
            <a:off x="502920" y="6473952"/>
            <a:ext cx="7315200" cy="256032"/>
          </a:xfrm>
          <a:prstGeom prst="rect">
            <a:avLst/>
          </a:prstGeom>
          <a:noFill/>
          <a:ln/>
        </p:spPr>
        <p:txBody>
          <a:bodyPr wrap="square" lIns="0" tIns="0" rIns="0" bIns="0" rtlCol="0" anchor="ctr"/>
          <a:lstStyle/>
          <a:p>
            <a:pPr indent="0" marL="0">
              <a:buNone/>
            </a:pPr>
            <a:r>
              <a:rPr lang="en-US" sz="900" dirty="0">
                <a:solidFill>
                  <a:schemeClr val="accent5"/>
                </a:solidFill>
              </a:rPr>
              <a:t>Smart traffic signals from entrance counts  ·  Senior Quant case study</a:t>
            </a:r>
            <a:endParaRPr lang="en-US" sz="9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02920" y="2011680"/>
            <a:ext cx="7863840" cy="1737360"/>
          </a:xfrm>
          <a:prstGeom prst="rect">
            <a:avLst/>
          </a:prstGeom>
          <a:noFill/>
          <a:ln/>
        </p:spPr>
        <p:txBody>
          <a:bodyPr wrap="square" lIns="0" tIns="0" rIns="0" bIns="0" rtlCol="0" anchor="b"/>
          <a:lstStyle/>
          <a:p>
            <a:pPr indent="0" marL="0">
              <a:buNone/>
            </a:pPr>
            <a:r>
              <a:rPr lang="en-US" sz="4000" b="1" dirty="0">
                <a:solidFill>
                  <a:schemeClr val="bg1"/>
                </a:solidFill>
              </a:rPr>
              <a:t>Smart traffic signals from entrance counts</a:t>
            </a:r>
            <a:endParaRPr lang="en-US" sz="4000" dirty="0"/>
          </a:p>
        </p:txBody>
      </p:sp>
      <p:sp>
        <p:nvSpPr>
          <p:cNvPr id="3" name="Text 0"/>
          <p:cNvSpPr/>
          <p:nvPr>
            <p:ph idx="101" type="body" hasCustomPrompt="1"/>
          </p:nvPr>
        </p:nvSpPr>
        <p:spPr>
          <a:xfrm>
            <a:off x="502920" y="3931920"/>
            <a:ext cx="7863840" cy="1463040"/>
          </a:xfrm>
          <a:prstGeom prst="rect">
            <a:avLst/>
          </a:prstGeom>
          <a:noFill/>
          <a:ln/>
        </p:spPr>
        <p:txBody>
          <a:bodyPr wrap="square" lIns="0" tIns="0" rIns="0" bIns="0" rtlCol="0" anchor="t"/>
          <a:lstStyle/>
          <a:p>
            <a:pPr indent="0" marL="0">
              <a:buNone/>
            </a:pPr>
            <a:r>
              <a:rPr lang="en-US" sz="1600" dirty="0">
                <a:solidFill>
                  <a:schemeClr val="bg2"/>
                </a:solidFill>
              </a:rPr>
              <a:t>Simulate  →  forecast  →  estimate the queues  →  optimise  →  measure wait time</a:t>
            </a:r>
            <a:endParaRPr lang="en-US" sz="1600" dirty="0"/>
          </a:p>
          <a:p>
            <a:pPr indent="0" marL="0">
              <a:buNone/>
            </a:pPr>
            <a:r>
              <a:rPr lang="en-US" sz="800" dirty="0">
                <a:solidFill>
                  <a:schemeClr val="bg2"/>
                </a:solidFill>
              </a:rPr>
              <a:t> </a:t>
            </a:r>
            <a:endParaRPr lang="en-US" sz="1600" dirty="0"/>
          </a:p>
          <a:p>
            <a:pPr indent="0" marL="0">
              <a:buNone/>
            </a:pPr>
            <a:r>
              <a:rPr lang="en-US" sz="1300" dirty="0">
                <a:solidFill>
                  <a:schemeClr val="accent5"/>
                </a:solidFill>
              </a:rPr>
              <a:t>Senior Quant case study  ·  Problem 1: smart traffic-light optimisation</a:t>
            </a:r>
            <a:endParaRPr lang="en-US" sz="1600" dirty="0"/>
          </a:p>
          <a:p>
            <a:pPr indent="0" marL="0">
              <a:buNone/>
            </a:pPr>
            <a:r>
              <a:rPr lang="en-US" sz="1300" dirty="0">
                <a:solidFill>
                  <a:schemeClr val="accent5"/>
                </a:solidFill>
              </a:rPr>
              <a:t>Glen McKenzie</a:t>
            </a:r>
            <a:endParaRPr lang="en-US" sz="1600" dirty="0"/>
          </a:p>
        </p:txBody>
      </p:sp>
      <p:sp>
        <p:nvSpPr>
          <p:cNvPr id="4" name="signal-head"/>
          <p:cNvSpPr/>
          <p:nvPr/>
        </p:nvSpPr>
        <p:spPr>
          <a:xfrm>
            <a:off x="9692640" y="1600200"/>
            <a:ext cx="1190549" cy="3264408"/>
          </a:xfrm>
          <a:prstGeom prst="roundRect">
            <a:avLst>
              <a:gd name="adj" fmla="val 19355"/>
            </a:avLst>
          </a:prstGeom>
          <a:solidFill>
            <a:srgbClr val="2E353E"/>
          </a:solidFill>
          <a:ln w="12700">
            <a:solidFill>
              <a:srgbClr val="48515C"/>
            </a:solidFill>
            <a:prstDash val="solid"/>
          </a:ln>
        </p:spPr>
      </p:sp>
      <p:sp>
        <p:nvSpPr>
          <p:cNvPr id="5" name="signal-lamp-0"/>
          <p:cNvSpPr/>
          <p:nvPr/>
        </p:nvSpPr>
        <p:spPr>
          <a:xfrm>
            <a:off x="9903866" y="1849831"/>
            <a:ext cx="768096" cy="768096"/>
          </a:xfrm>
          <a:prstGeom prst="ellipse">
            <a:avLst/>
          </a:prstGeom>
          <a:solidFill>
            <a:srgbClr val="C8443A">
              <a:alpha val="22000"/>
            </a:srgbClr>
          </a:solidFill>
          <a:ln w="6350">
            <a:solidFill>
              <a:srgbClr val="C8443A">
                <a:alpha val="40000"/>
              </a:srgbClr>
            </a:solidFill>
            <a:prstDash val="solid"/>
          </a:ln>
        </p:spPr>
      </p:sp>
      <p:sp>
        <p:nvSpPr>
          <p:cNvPr id="6" name="signal-lamp-1"/>
          <p:cNvSpPr/>
          <p:nvPr/>
        </p:nvSpPr>
        <p:spPr>
          <a:xfrm>
            <a:off x="9903866" y="2848356"/>
            <a:ext cx="768096" cy="768096"/>
          </a:xfrm>
          <a:prstGeom prst="ellipse">
            <a:avLst/>
          </a:prstGeom>
          <a:solidFill>
            <a:srgbClr val="D9930D">
              <a:alpha val="22000"/>
            </a:srgbClr>
          </a:solidFill>
          <a:ln w="6350">
            <a:solidFill>
              <a:srgbClr val="D9930D">
                <a:alpha val="40000"/>
              </a:srgbClr>
            </a:solidFill>
            <a:prstDash val="solid"/>
          </a:ln>
        </p:spPr>
      </p:sp>
      <p:sp>
        <p:nvSpPr>
          <p:cNvPr id="7" name="signal-lamp-2"/>
          <p:cNvSpPr/>
          <p:nvPr/>
        </p:nvSpPr>
        <p:spPr>
          <a:xfrm>
            <a:off x="9903866" y="3846881"/>
            <a:ext cx="768096" cy="768096"/>
          </a:xfrm>
          <a:prstGeom prst="ellipse">
            <a:avLst/>
          </a:prstGeom>
          <a:solidFill>
            <a:srgbClr val="2E8B57"/>
          </a:solidFill>
          <a:ln w="6350">
            <a:solidFill>
              <a:srgbClr val="2E8B5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THE ANSWER UP FRONT</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A third less waiting than a tuned fixed plan on a normal morning</a:t>
            </a:r>
            <a:endParaRPr lang="en-US" sz="2500" dirty="0"/>
          </a:p>
        </p:txBody>
      </p:sp>
      <p:sp>
        <p:nvSpPr>
          <p:cNvPr id="4" name="headline-card-0"/>
          <p:cNvSpPr/>
          <p:nvPr/>
        </p:nvSpPr>
        <p:spPr>
          <a:xfrm>
            <a:off x="502920" y="1508760"/>
            <a:ext cx="2606040" cy="2148840"/>
          </a:xfrm>
          <a:prstGeom prst="roundRect">
            <a:avLst>
              <a:gd name="adj" fmla="val 3404"/>
            </a:avLst>
          </a:prstGeom>
          <a:solidFill>
            <a:schemeClr val="bg1"/>
          </a:solidFill>
          <a:ln w="9525">
            <a:solidFill>
              <a:srgbClr val="DDD8CC"/>
            </a:solidFill>
            <a:prstDash val="solid"/>
          </a:ln>
        </p:spPr>
      </p:sp>
      <p:sp>
        <p:nvSpPr>
          <p:cNvPr id="5" name="stat-32%"/>
          <p:cNvSpPr txBox="1"/>
          <p:nvPr/>
        </p:nvSpPr>
        <p:spPr>
          <a:xfrm>
            <a:off x="685800" y="1645920"/>
            <a:ext cx="2240280" cy="82296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32%</a:t>
            </a:r>
            <a:endParaRPr lang="en-US" sz="4000" dirty="0"/>
          </a:p>
        </p:txBody>
      </p:sp>
      <p:sp>
        <p:nvSpPr>
          <p:cNvPr id="6" name="stat-label-32%"/>
          <p:cNvSpPr txBox="1"/>
          <p:nvPr/>
        </p:nvSpPr>
        <p:spPr>
          <a:xfrm>
            <a:off x="685800" y="2487168"/>
            <a:ext cx="2240280" cy="1097280"/>
          </a:xfrm>
          <a:prstGeom prst="rect">
            <a:avLst/>
          </a:prstGeom>
          <a:noFill/>
          <a:ln/>
        </p:spPr>
        <p:txBody>
          <a:bodyPr wrap="square" lIns="0" tIns="0" rIns="0" bIns="0" rtlCol="0" anchor="t"/>
          <a:lstStyle/>
          <a:p>
            <a:pPr indent="0" marL="0">
              <a:buNone/>
            </a:pPr>
            <a:r>
              <a:rPr lang="en-US" sz="1200" dirty="0">
                <a:solidFill>
                  <a:schemeClr val="tx2"/>
                </a:solidFill>
              </a:rPr>
              <a:t>less delay per car than a tuned fixed green wave on a typical morning (10 held-out days, 72 → 49 s)</a:t>
            </a:r>
            <a:endParaRPr lang="en-US" sz="1200" dirty="0"/>
          </a:p>
        </p:txBody>
      </p:sp>
      <p:sp>
        <p:nvSpPr>
          <p:cNvPr id="7" name="headline-card-1"/>
          <p:cNvSpPr/>
          <p:nvPr/>
        </p:nvSpPr>
        <p:spPr>
          <a:xfrm>
            <a:off x="3310128" y="1508760"/>
            <a:ext cx="2606040" cy="2148840"/>
          </a:xfrm>
          <a:prstGeom prst="roundRect">
            <a:avLst>
              <a:gd name="adj" fmla="val 3404"/>
            </a:avLst>
          </a:prstGeom>
          <a:solidFill>
            <a:schemeClr val="bg1"/>
          </a:solidFill>
          <a:ln w="9525">
            <a:solidFill>
              <a:srgbClr val="DDD8CC"/>
            </a:solidFill>
            <a:prstDash val="solid"/>
          </a:ln>
        </p:spPr>
      </p:sp>
      <p:sp>
        <p:nvSpPr>
          <p:cNvPr id="8" name="stat-43–64%"/>
          <p:cNvSpPr txBox="1"/>
          <p:nvPr/>
        </p:nvSpPr>
        <p:spPr>
          <a:xfrm>
            <a:off x="3493008" y="1645920"/>
            <a:ext cx="2240280" cy="82296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43–64%</a:t>
            </a:r>
            <a:endParaRPr lang="en-US" sz="4000" dirty="0"/>
          </a:p>
        </p:txBody>
      </p:sp>
      <p:sp>
        <p:nvSpPr>
          <p:cNvPr id="9" name="stat-label-43–64%"/>
          <p:cNvSpPr txBox="1"/>
          <p:nvPr/>
        </p:nvSpPr>
        <p:spPr>
          <a:xfrm>
            <a:off x="3493008" y="2487168"/>
            <a:ext cx="2240280" cy="1097280"/>
          </a:xfrm>
          <a:prstGeom prst="rect">
            <a:avLst/>
          </a:prstGeom>
          <a:noFill/>
          <a:ln/>
        </p:spPr>
        <p:txBody>
          <a:bodyPr wrap="square" lIns="0" tIns="0" rIns="0" bIns="0" rtlCol="0" anchor="t"/>
          <a:lstStyle/>
          <a:p>
            <a:pPr indent="0" marL="0">
              <a:buNone/>
            </a:pPr>
            <a:r>
              <a:rPr lang="en-US" sz="1200" dirty="0">
                <a:solidFill>
                  <a:schemeClr val="tx2"/>
                </a:solidFill>
              </a:rPr>
              <a:t>less than the untuned 60 s fixed plan, in every one of the six scenarios</a:t>
            </a:r>
            <a:endParaRPr lang="en-US" sz="1200" dirty="0"/>
          </a:p>
        </p:txBody>
      </p:sp>
      <p:sp>
        <p:nvSpPr>
          <p:cNvPr id="10" name="headline-card-2"/>
          <p:cNvSpPr/>
          <p:nvPr/>
        </p:nvSpPr>
        <p:spPr>
          <a:xfrm>
            <a:off x="6117336" y="1508760"/>
            <a:ext cx="2606040" cy="2148840"/>
          </a:xfrm>
          <a:prstGeom prst="roundRect">
            <a:avLst>
              <a:gd name="adj" fmla="val 3404"/>
            </a:avLst>
          </a:prstGeom>
          <a:solidFill>
            <a:schemeClr val="bg1"/>
          </a:solidFill>
          <a:ln w="9525">
            <a:solidFill>
              <a:srgbClr val="DDD8CC"/>
            </a:solidFill>
            <a:prstDash val="solid"/>
          </a:ln>
        </p:spPr>
      </p:sp>
      <p:sp>
        <p:nvSpPr>
          <p:cNvPr id="11" name="stat-7.1%"/>
          <p:cNvSpPr txBox="1"/>
          <p:nvPr/>
        </p:nvSpPr>
        <p:spPr>
          <a:xfrm>
            <a:off x="6300216" y="1645920"/>
            <a:ext cx="2240280" cy="822960"/>
          </a:xfrm>
          <a:prstGeom prst="rect">
            <a:avLst/>
          </a:prstGeom>
          <a:noFill/>
          <a:ln/>
        </p:spPr>
        <p:txBody>
          <a:bodyPr wrap="square" lIns="0" tIns="0" rIns="0" bIns="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7.1%</a:t>
            </a:r>
            <a:endParaRPr lang="en-US" sz="4000" dirty="0"/>
          </a:p>
        </p:txBody>
      </p:sp>
      <p:sp>
        <p:nvSpPr>
          <p:cNvPr id="12" name="stat-label-7.1%"/>
          <p:cNvSpPr txBox="1"/>
          <p:nvPr/>
        </p:nvSpPr>
        <p:spPr>
          <a:xfrm>
            <a:off x="6300216" y="2487168"/>
            <a:ext cx="2240280" cy="1097280"/>
          </a:xfrm>
          <a:prstGeom prst="rect">
            <a:avLst/>
          </a:prstGeom>
          <a:noFill/>
          <a:ln/>
        </p:spPr>
        <p:txBody>
          <a:bodyPr wrap="square" lIns="0" tIns="0" rIns="0" bIns="0" rtlCol="0" anchor="t"/>
          <a:lstStyle/>
          <a:p>
            <a:pPr indent="0" marL="0">
              <a:buNone/>
            </a:pPr>
            <a:r>
              <a:rPr lang="en-US" sz="1200" dirty="0">
                <a:solidFill>
                  <a:schemeClr val="tx2"/>
                </a:solidFill>
              </a:rPr>
              <a:t>forecast error, 15 min ahead, vs 10.4% for the hour-of-day profile and 24% for the raw count</a:t>
            </a:r>
            <a:endParaRPr lang="en-US" sz="1200" dirty="0"/>
          </a:p>
        </p:txBody>
      </p:sp>
      <p:sp>
        <p:nvSpPr>
          <p:cNvPr id="13" name="headline-card-3"/>
          <p:cNvSpPr/>
          <p:nvPr/>
        </p:nvSpPr>
        <p:spPr>
          <a:xfrm>
            <a:off x="8924544" y="1508760"/>
            <a:ext cx="2606040" cy="2148840"/>
          </a:xfrm>
          <a:prstGeom prst="roundRect">
            <a:avLst>
              <a:gd name="adj" fmla="val 3404"/>
            </a:avLst>
          </a:prstGeom>
          <a:solidFill>
            <a:schemeClr val="bg1"/>
          </a:solidFill>
          <a:ln w="9525">
            <a:solidFill>
              <a:srgbClr val="DDD8CC"/>
            </a:solidFill>
            <a:prstDash val="solid"/>
          </a:ln>
        </p:spPr>
      </p:sp>
      <p:sp>
        <p:nvSpPr>
          <p:cNvPr id="14" name="stat-≈ 0 s"/>
          <p:cNvSpPr txBox="1"/>
          <p:nvPr/>
        </p:nvSpPr>
        <p:spPr>
          <a:xfrm>
            <a:off x="9107424" y="1645920"/>
            <a:ext cx="2240280" cy="82296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 0 s</a:t>
            </a:r>
            <a:endParaRPr lang="en-US" sz="4000" dirty="0"/>
          </a:p>
        </p:txBody>
      </p:sp>
      <p:sp>
        <p:nvSpPr>
          <p:cNvPr id="15" name="stat-label-≈ 0 s"/>
          <p:cNvSpPr txBox="1"/>
          <p:nvPr/>
        </p:nvSpPr>
        <p:spPr>
          <a:xfrm>
            <a:off x="9107424" y="2487168"/>
            <a:ext cx="2240280" cy="1097280"/>
          </a:xfrm>
          <a:prstGeom prst="rect">
            <a:avLst/>
          </a:prstGeom>
          <a:noFill/>
          <a:ln/>
        </p:spPr>
        <p:txBody>
          <a:bodyPr wrap="square" lIns="0" tIns="0" rIns="0" bIns="0" rtlCol="0" anchor="t"/>
          <a:lstStyle/>
          <a:p>
            <a:pPr indent="0" marL="0">
              <a:buNone/>
            </a:pPr>
            <a:r>
              <a:rPr lang="en-US" sz="1200" dirty="0">
                <a:solidFill>
                  <a:schemeClr val="tx2"/>
                </a:solidFill>
              </a:rPr>
              <a:t>what the learned forecast adds to delay over repeating the last count. The gain is in the queue model and the optimiser</a:t>
            </a:r>
            <a:endParaRPr lang="en-US" sz="1200" dirty="0"/>
          </a:p>
        </p:txBody>
      </p:sp>
      <p:sp>
        <p:nvSpPr>
          <p:cNvPr id="16" name="Text 14"/>
          <p:cNvSpPr txBox="1"/>
          <p:nvPr/>
        </p:nvSpPr>
        <p:spPr>
          <a:xfrm>
            <a:off x="502920" y="3886200"/>
            <a:ext cx="5486400" cy="32004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The brief's success criteria</a:t>
            </a:r>
            <a:endParaRPr lang="en-US" sz="1400" dirty="0"/>
          </a:p>
        </p:txBody>
      </p:sp>
      <p:graphicFrame>
        <p:nvGraphicFramePr>
          <p:cNvPr id="3" name="table"/>
          <p:cNvGraphicFramePr>
            <a:graphicFrameLocks noGrp="1"/>
          </p:cNvGraphicFramePr>
          <p:nvPr>
            <p:extLst>
              <p:ext uri="{D42A27DB-BD31-4B8C-83A1-F6EECF244321}">
                <p14:modId xmlns:p14="http://schemas.microsoft.com/office/powerpoint/2010/main" val="1579011935"/>
              </p:ext>
            </p:extLst>
          </p:nvPr>
        </p:nvGraphicFramePr>
        <p:xfrm>
          <a:off x="502920" y="4251960"/>
          <a:ext cx="11185855" cy="914400"/>
        </p:xfrm>
        <a:graphic>
          <a:graphicData uri="http://schemas.openxmlformats.org/drawingml/2006/table">
            <a:tbl>
              <a:tblPr/>
              <a:tblGrid>
                <a:gridCol w="2834640"/>
                <a:gridCol w="2194560"/>
                <a:gridCol w="6144768"/>
              </a:tblGrid>
              <a:tr h="256032">
                <a:tc>
                  <a:txBody>
                    <a:bodyPr/>
                    <a:lstStyle/>
                    <a:p>
                      <a:pPr algn="l" indent="0" marL="0">
                        <a:buNone/>
                      </a:pPr>
                      <a:r>
                        <a:rPr lang="en-US" sz="1050" b="1" dirty="0">
                          <a:solidFill>
                            <a:schemeClr val="bg1"/>
                          </a:solidFill>
                        </a:rPr>
                        <a:t>Criterion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Status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50" b="1" dirty="0">
                          <a:solidFill>
                            <a:schemeClr val="bg1"/>
                          </a:solidFill>
                        </a:rPr>
                        <a:t>Evidence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100" b="1" dirty="0">
                          <a:solidFill>
                            <a:schemeClr val="tx1"/>
                          </a:solidFill>
                        </a:rPr>
                        <a:t>20%+ less delay than fixed timing</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Met vs untuned; partly vs tuned</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43–64% vs the 60 s plan everywhere; vs the tuned plan 32% typical and 22% busy mornings, 5–15% in storm, evening, accident and event</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b="1" dirty="0">
                          <a:solidFill>
                            <a:schemeClr val="tx1"/>
                          </a:solidFill>
                        </a:rPr>
                        <a:t>4+ intersections</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Met</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100" dirty="0">
                          <a:solidFill>
                            <a:schemeClr val="tx1"/>
                          </a:solidFill>
                        </a:rPr>
                        <a:t>2x2 grid evaluated; the same code solves a 10x10 (100 junctions) in 1.9 s per decision</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100" b="1" dirty="0">
                          <a:solidFill>
                            <a:schemeClr val="tx1"/>
                          </a:solidFill>
                        </a:rPr>
                        <a:t>Real-time visualisation</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Met</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100" dirty="0">
                          <a:solidFill>
                            <a:schemeClr val="tx1"/>
                          </a:solidFill>
                        </a:rPr>
                        <a:t>Side-by-side viewer: fixed plan vs optimiser on identical traffic, five clips, estimate vs truth</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b="1" dirty="0">
                          <a:solidFill>
                            <a:schemeClr val="tx1"/>
                          </a:solidFill>
                        </a:rPr>
                        <a:t>Responds to accidents and closures</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Met, with a fallback</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100" dirty="0">
                          <a:solidFill>
                            <a:schemeClr val="tx1"/>
                          </a:solidFill>
                        </a:rPr>
                        <a:t>Incident feed + fallback to the tuned plan; also scheduled events via the calendar</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THE PIPELINE</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Plan with a simple model, get judged in a detailed one</a:t>
            </a:r>
            <a:endParaRPr lang="en-US" sz="2500" dirty="0"/>
          </a:p>
        </p:txBody>
      </p:sp>
      <p:sp>
        <p:nvSpPr>
          <p:cNvPr id="4" name="pipe-Simulator"/>
          <p:cNvSpPr/>
          <p:nvPr/>
        </p:nvSpPr>
        <p:spPr>
          <a:xfrm>
            <a:off x="502920" y="1874520"/>
            <a:ext cx="1929933" cy="1143000"/>
          </a:xfrm>
          <a:prstGeom prst="roundRect">
            <a:avLst>
              <a:gd name="adj" fmla="val 8000"/>
            </a:avLst>
          </a:prstGeom>
          <a:solidFill>
            <a:schemeClr val="bg1"/>
          </a:solidFill>
          <a:ln w="25400">
            <a:solidFill>
              <a:schemeClr val="tx2"/>
            </a:solidFill>
            <a:prstDash val="solid"/>
          </a:ln>
        </p:spPr>
      </p:sp>
      <p:sp>
        <p:nvSpPr>
          <p:cNvPr id="5" name="Text 3"/>
          <p:cNvSpPr txBox="1"/>
          <p:nvPr/>
        </p:nvSpPr>
        <p:spPr>
          <a:xfrm>
            <a:off x="612648" y="1965960"/>
            <a:ext cx="1710477" cy="292608"/>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Simulator</a:t>
            </a:r>
            <a:endParaRPr lang="en-US" sz="1400" dirty="0"/>
          </a:p>
        </p:txBody>
      </p:sp>
      <p:sp>
        <p:nvSpPr>
          <p:cNvPr id="6" name="Text 4"/>
          <p:cNvSpPr txBox="1"/>
          <p:nvPr/>
        </p:nvSpPr>
        <p:spPr>
          <a:xfrm>
            <a:off x="612648" y="2295144"/>
            <a:ext cx="1710477" cy="685800"/>
          </a:xfrm>
          <a:prstGeom prst="rect">
            <a:avLst/>
          </a:prstGeom>
          <a:noFill/>
          <a:ln/>
        </p:spPr>
        <p:txBody>
          <a:bodyPr wrap="square" lIns="0" tIns="0" rIns="0" bIns="0" rtlCol="0" anchor="t"/>
          <a:lstStyle/>
          <a:p>
            <a:pPr indent="0" marL="0">
              <a:buNone/>
            </a:pPr>
            <a:r>
              <a:rPr lang="en-US" sz="1050" dirty="0">
                <a:solidFill>
                  <a:schemeClr val="tx1"/>
                </a:solidFill>
              </a:rPr>
              <a:t>Vehicle-level, 0.5 s steps. Owns the truth: real queues, real demand</a:t>
            </a:r>
            <a:endParaRPr lang="en-US" sz="1050" dirty="0"/>
          </a:p>
        </p:txBody>
      </p:sp>
      <p:sp>
        <p:nvSpPr>
          <p:cNvPr id="7" name="pipe-arrow-0"/>
          <p:cNvSpPr/>
          <p:nvPr/>
        </p:nvSpPr>
        <p:spPr>
          <a:xfrm>
            <a:off x="2469429" y="2446020"/>
            <a:ext cx="310896" cy="0"/>
          </a:xfrm>
          <a:prstGeom prst="line">
            <a:avLst/>
          </a:prstGeom>
          <a:noFill/>
          <a:ln w="19050">
            <a:solidFill>
              <a:schemeClr val="accent5"/>
            </a:solidFill>
            <a:prstDash val="solid"/>
            <a:tailEnd type="triangle"/>
          </a:ln>
        </p:spPr>
      </p:sp>
      <p:sp>
        <p:nvSpPr>
          <p:cNvPr id="8" name="pipe-Forecaster"/>
          <p:cNvSpPr/>
          <p:nvPr/>
        </p:nvSpPr>
        <p:spPr>
          <a:xfrm>
            <a:off x="2816901" y="1874520"/>
            <a:ext cx="1929933" cy="1143000"/>
          </a:xfrm>
          <a:prstGeom prst="roundRect">
            <a:avLst>
              <a:gd name="adj" fmla="val 8000"/>
            </a:avLst>
          </a:prstGeom>
          <a:solidFill>
            <a:schemeClr val="bg1"/>
          </a:solidFill>
          <a:ln w="25400">
            <a:solidFill>
              <a:schemeClr val="accent4"/>
            </a:solidFill>
            <a:prstDash val="solid"/>
          </a:ln>
        </p:spPr>
      </p:sp>
      <p:sp>
        <p:nvSpPr>
          <p:cNvPr id="9" name="Text 7"/>
          <p:cNvSpPr txBox="1"/>
          <p:nvPr/>
        </p:nvSpPr>
        <p:spPr>
          <a:xfrm>
            <a:off x="2926629" y="1965960"/>
            <a:ext cx="1710477" cy="292608"/>
          </a:xfrm>
          <a:prstGeom prst="rect">
            <a:avLst/>
          </a:prstGeom>
          <a:noFill/>
          <a:ln/>
        </p:spPr>
        <p:txBody>
          <a:bodyPr wrap="square" lIns="0" tIns="0" rIns="0" bIns="0" rtlCol="0" anchor="t"/>
          <a:lstStyle/>
          <a:p>
            <a:pPr indent="0" marL="0">
              <a:buNone/>
            </a:pPr>
            <a:r>
              <a:rPr lang="en-US" sz="1400" b="1" dirty="0">
                <a:solidFill>
                  <a:schemeClr val="accent4"/>
                </a:solidFill>
                <a:latin typeface="Cambria" pitchFamily="34" charset="0"/>
                <a:ea typeface="Cambria" pitchFamily="34" charset="-122"/>
                <a:cs typeface="Cambria" pitchFamily="34" charset="-120"/>
              </a:rPr>
              <a:t>Forecaster</a:t>
            </a:r>
            <a:endParaRPr lang="en-US" sz="1400" dirty="0"/>
          </a:p>
        </p:txBody>
      </p:sp>
      <p:sp>
        <p:nvSpPr>
          <p:cNvPr id="10" name="Text 8"/>
          <p:cNvSpPr txBox="1"/>
          <p:nvPr/>
        </p:nvSpPr>
        <p:spPr>
          <a:xfrm>
            <a:off x="2926629" y="2295144"/>
            <a:ext cx="1710477" cy="685800"/>
          </a:xfrm>
          <a:prstGeom prst="rect">
            <a:avLst/>
          </a:prstGeom>
          <a:noFill/>
          <a:ln/>
        </p:spPr>
        <p:txBody>
          <a:bodyPr wrap="square" lIns="0" tIns="0" rIns="0" bIns="0" rtlCol="0" anchor="t"/>
          <a:lstStyle/>
          <a:p>
            <a:pPr indent="0" marL="0">
              <a:buNone/>
            </a:pPr>
            <a:r>
              <a:rPr lang="en-US" sz="1050" dirty="0">
                <a:solidFill>
                  <a:schemeClr val="tx1"/>
                </a:solidFill>
              </a:rPr>
              <a:t>Poisson GLM: arrivals at each entrance for the next 15 min</a:t>
            </a:r>
            <a:endParaRPr lang="en-US" sz="1050" dirty="0"/>
          </a:p>
        </p:txBody>
      </p:sp>
      <p:sp>
        <p:nvSpPr>
          <p:cNvPr id="11" name="pipe-arrow-1"/>
          <p:cNvSpPr/>
          <p:nvPr/>
        </p:nvSpPr>
        <p:spPr>
          <a:xfrm>
            <a:off x="4783409" y="2446020"/>
            <a:ext cx="310896" cy="0"/>
          </a:xfrm>
          <a:prstGeom prst="line">
            <a:avLst/>
          </a:prstGeom>
          <a:noFill/>
          <a:ln w="19050">
            <a:solidFill>
              <a:schemeClr val="accent5"/>
            </a:solidFill>
            <a:prstDash val="solid"/>
            <a:tailEnd type="triangle"/>
          </a:ln>
        </p:spPr>
      </p:sp>
      <p:sp>
        <p:nvSpPr>
          <p:cNvPr id="12" name="pipe-Queue estimator"/>
          <p:cNvSpPr/>
          <p:nvPr/>
        </p:nvSpPr>
        <p:spPr>
          <a:xfrm>
            <a:off x="5130881" y="1874520"/>
            <a:ext cx="1929933" cy="1143000"/>
          </a:xfrm>
          <a:prstGeom prst="roundRect">
            <a:avLst>
              <a:gd name="adj" fmla="val 8000"/>
            </a:avLst>
          </a:prstGeom>
          <a:solidFill>
            <a:schemeClr val="bg1"/>
          </a:solidFill>
          <a:ln w="25400">
            <a:solidFill>
              <a:schemeClr val="accent4"/>
            </a:solidFill>
            <a:prstDash val="solid"/>
          </a:ln>
        </p:spPr>
      </p:sp>
      <p:sp>
        <p:nvSpPr>
          <p:cNvPr id="13" name="Text 11"/>
          <p:cNvSpPr txBox="1"/>
          <p:nvPr/>
        </p:nvSpPr>
        <p:spPr>
          <a:xfrm>
            <a:off x="5240609" y="1965960"/>
            <a:ext cx="1710477" cy="292608"/>
          </a:xfrm>
          <a:prstGeom prst="rect">
            <a:avLst/>
          </a:prstGeom>
          <a:noFill/>
          <a:ln/>
        </p:spPr>
        <p:txBody>
          <a:bodyPr wrap="square" lIns="0" tIns="0" rIns="0" bIns="0" rtlCol="0" anchor="t"/>
          <a:lstStyle/>
          <a:p>
            <a:pPr indent="0" marL="0">
              <a:buNone/>
            </a:pPr>
            <a:r>
              <a:rPr lang="en-US" sz="1400" b="1" dirty="0">
                <a:solidFill>
                  <a:schemeClr val="accent4"/>
                </a:solidFill>
                <a:latin typeface="Cambria" pitchFamily="34" charset="0"/>
                <a:ea typeface="Cambria" pitchFamily="34" charset="-122"/>
                <a:cs typeface="Cambria" pitchFamily="34" charset="-120"/>
              </a:rPr>
              <a:t>Queue estimator</a:t>
            </a:r>
            <a:endParaRPr lang="en-US" sz="1400" dirty="0"/>
          </a:p>
        </p:txBody>
      </p:sp>
      <p:sp>
        <p:nvSpPr>
          <p:cNvPr id="14" name="Text 12"/>
          <p:cNvSpPr txBox="1"/>
          <p:nvPr/>
        </p:nvSpPr>
        <p:spPr>
          <a:xfrm>
            <a:off x="5240609" y="2295144"/>
            <a:ext cx="1710477" cy="685800"/>
          </a:xfrm>
          <a:prstGeom prst="rect">
            <a:avLst/>
          </a:prstGeom>
          <a:noFill/>
          <a:ln/>
        </p:spPr>
        <p:txBody>
          <a:bodyPr wrap="square" lIns="0" tIns="0" rIns="0" bIns="0" rtlCol="0" anchor="t"/>
          <a:lstStyle/>
          <a:p>
            <a:pPr indent="0" marL="0">
              <a:buNone/>
            </a:pPr>
            <a:r>
              <a:rPr lang="en-US" sz="1050" dirty="0">
                <a:solidFill>
                  <a:schemeClr val="tx1"/>
                </a:solidFill>
              </a:rPr>
              <a:t>Store-and-forward model fed by the counts and its own signals</a:t>
            </a:r>
            <a:endParaRPr lang="en-US" sz="1050" dirty="0"/>
          </a:p>
        </p:txBody>
      </p:sp>
      <p:sp>
        <p:nvSpPr>
          <p:cNvPr id="15" name="pipe-arrow-2"/>
          <p:cNvSpPr/>
          <p:nvPr/>
        </p:nvSpPr>
        <p:spPr>
          <a:xfrm>
            <a:off x="7097390" y="2446020"/>
            <a:ext cx="310896" cy="0"/>
          </a:xfrm>
          <a:prstGeom prst="line">
            <a:avLst/>
          </a:prstGeom>
          <a:noFill/>
          <a:ln w="19050">
            <a:solidFill>
              <a:schemeClr val="accent5"/>
            </a:solidFill>
            <a:prstDash val="solid"/>
            <a:tailEnd type="triangle"/>
          </a:ln>
        </p:spPr>
      </p:sp>
      <p:sp>
        <p:nvSpPr>
          <p:cNvPr id="16" name="pipe-Optimiser"/>
          <p:cNvSpPr/>
          <p:nvPr/>
        </p:nvSpPr>
        <p:spPr>
          <a:xfrm>
            <a:off x="7444862" y="1874520"/>
            <a:ext cx="1929933" cy="1143000"/>
          </a:xfrm>
          <a:prstGeom prst="roundRect">
            <a:avLst>
              <a:gd name="adj" fmla="val 8000"/>
            </a:avLst>
          </a:prstGeom>
          <a:solidFill>
            <a:schemeClr val="bg1"/>
          </a:solidFill>
          <a:ln w="25400">
            <a:solidFill>
              <a:schemeClr val="accent1"/>
            </a:solidFill>
            <a:prstDash val="solid"/>
          </a:ln>
        </p:spPr>
      </p:sp>
      <p:sp>
        <p:nvSpPr>
          <p:cNvPr id="17" name="Text 15"/>
          <p:cNvSpPr txBox="1"/>
          <p:nvPr/>
        </p:nvSpPr>
        <p:spPr>
          <a:xfrm>
            <a:off x="7554590" y="1965960"/>
            <a:ext cx="1710477" cy="292608"/>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Optimiser</a:t>
            </a:r>
            <a:endParaRPr lang="en-US" sz="1400" dirty="0"/>
          </a:p>
        </p:txBody>
      </p:sp>
      <p:sp>
        <p:nvSpPr>
          <p:cNvPr id="18" name="Text 16"/>
          <p:cNvSpPr txBox="1"/>
          <p:nvPr/>
        </p:nvSpPr>
        <p:spPr>
          <a:xfrm>
            <a:off x="7554590" y="2295144"/>
            <a:ext cx="1710477" cy="685800"/>
          </a:xfrm>
          <a:prstGeom prst="rect">
            <a:avLst/>
          </a:prstGeom>
          <a:noFill/>
          <a:ln/>
        </p:spPr>
        <p:txBody>
          <a:bodyPr wrap="square" lIns="0" tIns="0" rIns="0" bIns="0" rtlCol="0" anchor="t"/>
          <a:lstStyle/>
          <a:p>
            <a:pPr indent="0" marL="0">
              <a:buNone/>
            </a:pPr>
            <a:r>
              <a:rPr lang="en-US" sz="1050" dirty="0">
                <a:solidFill>
                  <a:schemeClr val="tx1"/>
                </a:solidFill>
              </a:rPr>
              <a:t>Convex QP every 60 s: green splits for the next 15 min; Webster cycle</a:t>
            </a:r>
            <a:endParaRPr lang="en-US" sz="1050" dirty="0"/>
          </a:p>
        </p:txBody>
      </p:sp>
      <p:sp>
        <p:nvSpPr>
          <p:cNvPr id="19" name="pipe-arrow-3"/>
          <p:cNvSpPr/>
          <p:nvPr/>
        </p:nvSpPr>
        <p:spPr>
          <a:xfrm>
            <a:off x="9411371" y="2446020"/>
            <a:ext cx="310896" cy="0"/>
          </a:xfrm>
          <a:prstGeom prst="line">
            <a:avLst/>
          </a:prstGeom>
          <a:noFill/>
          <a:ln w="19050">
            <a:solidFill>
              <a:schemeClr val="accent5"/>
            </a:solidFill>
            <a:prstDash val="solid"/>
            <a:tailEnd type="triangle"/>
          </a:ln>
        </p:spPr>
      </p:sp>
      <p:sp>
        <p:nvSpPr>
          <p:cNvPr id="20" name="pipe-Signals"/>
          <p:cNvSpPr/>
          <p:nvPr/>
        </p:nvSpPr>
        <p:spPr>
          <a:xfrm>
            <a:off x="9758843" y="1874520"/>
            <a:ext cx="1929933" cy="1143000"/>
          </a:xfrm>
          <a:prstGeom prst="roundRect">
            <a:avLst>
              <a:gd name="adj" fmla="val 8000"/>
            </a:avLst>
          </a:prstGeom>
          <a:solidFill>
            <a:schemeClr val="bg1"/>
          </a:solidFill>
          <a:ln w="25400">
            <a:solidFill>
              <a:schemeClr val="accent2"/>
            </a:solidFill>
            <a:prstDash val="solid"/>
          </a:ln>
        </p:spPr>
      </p:sp>
      <p:sp>
        <p:nvSpPr>
          <p:cNvPr id="21" name="Text 19"/>
          <p:cNvSpPr txBox="1"/>
          <p:nvPr/>
        </p:nvSpPr>
        <p:spPr>
          <a:xfrm>
            <a:off x="9868571" y="1965960"/>
            <a:ext cx="1710477" cy="292608"/>
          </a:xfrm>
          <a:prstGeom prst="rect">
            <a:avLst/>
          </a:prstGeom>
          <a:noFill/>
          <a:ln/>
        </p:spPr>
        <p:txBody>
          <a:bodyPr wrap="square" lIns="0" tIns="0" rIns="0" bIns="0" rtlCol="0" anchor="t"/>
          <a:lstStyle/>
          <a:p>
            <a:pPr indent="0" marL="0">
              <a:buNone/>
            </a:pPr>
            <a:r>
              <a:rPr lang="en-US" sz="1400" b="1" dirty="0">
                <a:solidFill>
                  <a:schemeClr val="accent2"/>
                </a:solidFill>
                <a:latin typeface="Cambria" pitchFamily="34" charset="0"/>
                <a:ea typeface="Cambria" pitchFamily="34" charset="-122"/>
                <a:cs typeface="Cambria" pitchFamily="34" charset="-120"/>
              </a:rPr>
              <a:t>Signals</a:t>
            </a:r>
            <a:endParaRPr lang="en-US" sz="1400" dirty="0"/>
          </a:p>
        </p:txBody>
      </p:sp>
      <p:sp>
        <p:nvSpPr>
          <p:cNvPr id="22" name="Text 20"/>
          <p:cNvSpPr txBox="1"/>
          <p:nvPr/>
        </p:nvSpPr>
        <p:spPr>
          <a:xfrm>
            <a:off x="9868571" y="2295144"/>
            <a:ext cx="1710477" cy="685800"/>
          </a:xfrm>
          <a:prstGeom prst="rect">
            <a:avLst/>
          </a:prstGeom>
          <a:noFill/>
          <a:ln/>
        </p:spPr>
        <p:txBody>
          <a:bodyPr wrap="square" lIns="0" tIns="0" rIns="0" bIns="0" rtlCol="0" anchor="t"/>
          <a:lstStyle/>
          <a:p>
            <a:pPr indent="0" marL="0">
              <a:buNone/>
            </a:pPr>
            <a:r>
              <a:rPr lang="en-US" sz="1050" dirty="0">
                <a:solidFill>
                  <a:schemeClr val="tx1"/>
                </a:solidFill>
              </a:rPr>
              <a:t>Executed second by second, with gap-out and incident fallback</a:t>
            </a:r>
            <a:endParaRPr lang="en-US" sz="1050" dirty="0"/>
          </a:p>
        </p:txBody>
      </p:sp>
      <p:sp>
        <p:nvSpPr>
          <p:cNvPr id="23" name="Text 21"/>
          <p:cNvSpPr txBox="1"/>
          <p:nvPr/>
        </p:nvSpPr>
        <p:spPr>
          <a:xfrm>
            <a:off x="2112813" y="1490472"/>
            <a:ext cx="1024128" cy="274320"/>
          </a:xfrm>
          <a:prstGeom prst="rect">
            <a:avLst/>
          </a:prstGeom>
          <a:noFill/>
          <a:ln/>
        </p:spPr>
        <p:txBody>
          <a:bodyPr wrap="square" lIns="0" tIns="0" rIns="0" bIns="0" rtlCol="0" anchor="t"/>
          <a:lstStyle/>
          <a:p>
            <a:pPr algn="ctr" indent="0" marL="0">
              <a:buNone/>
            </a:pPr>
            <a:r>
              <a:rPr lang="en-US" sz="900" i="1" dirty="0">
                <a:solidFill>
                  <a:schemeClr val="accent5"/>
                </a:solidFill>
              </a:rPr>
              <a:t>entrance counts</a:t>
            </a:r>
            <a:endParaRPr lang="en-US" sz="900" dirty="0"/>
          </a:p>
        </p:txBody>
      </p:sp>
      <p:sp>
        <p:nvSpPr>
          <p:cNvPr id="24" name="Text 22"/>
          <p:cNvSpPr txBox="1"/>
          <p:nvPr/>
        </p:nvSpPr>
        <p:spPr>
          <a:xfrm>
            <a:off x="4426793" y="1490472"/>
            <a:ext cx="1024128" cy="274320"/>
          </a:xfrm>
          <a:prstGeom prst="rect">
            <a:avLst/>
          </a:prstGeom>
          <a:noFill/>
          <a:ln/>
        </p:spPr>
        <p:txBody>
          <a:bodyPr wrap="square" lIns="0" tIns="0" rIns="0" bIns="0" rtlCol="0" anchor="t"/>
          <a:lstStyle/>
          <a:p>
            <a:pPr algn="ctr" indent="0" marL="0">
              <a:buNone/>
            </a:pPr>
            <a:r>
              <a:rPr lang="en-US" sz="900" i="1" dirty="0">
                <a:solidFill>
                  <a:schemeClr val="accent5"/>
                </a:solidFill>
              </a:rPr>
              <a:t>15-min arrivals</a:t>
            </a:r>
            <a:endParaRPr lang="en-US" sz="900" dirty="0"/>
          </a:p>
        </p:txBody>
      </p:sp>
      <p:sp>
        <p:nvSpPr>
          <p:cNvPr id="25" name="Text 23"/>
          <p:cNvSpPr txBox="1"/>
          <p:nvPr/>
        </p:nvSpPr>
        <p:spPr>
          <a:xfrm>
            <a:off x="6740774" y="1490472"/>
            <a:ext cx="1024128" cy="274320"/>
          </a:xfrm>
          <a:prstGeom prst="rect">
            <a:avLst/>
          </a:prstGeom>
          <a:noFill/>
          <a:ln/>
        </p:spPr>
        <p:txBody>
          <a:bodyPr wrap="square" lIns="0" tIns="0" rIns="0" bIns="0" rtlCol="0" anchor="t"/>
          <a:lstStyle/>
          <a:p>
            <a:pPr algn="ctr" indent="0" marL="0">
              <a:buNone/>
            </a:pPr>
            <a:r>
              <a:rPr lang="en-US" sz="900" i="1" dirty="0">
                <a:solidFill>
                  <a:schemeClr val="accent5"/>
                </a:solidFill>
              </a:rPr>
              <a:t>cars per road</a:t>
            </a:r>
            <a:endParaRPr lang="en-US" sz="900" dirty="0"/>
          </a:p>
        </p:txBody>
      </p:sp>
      <p:sp>
        <p:nvSpPr>
          <p:cNvPr id="26" name="Text 24"/>
          <p:cNvSpPr txBox="1"/>
          <p:nvPr/>
        </p:nvSpPr>
        <p:spPr>
          <a:xfrm>
            <a:off x="9054755" y="1490472"/>
            <a:ext cx="1024128" cy="274320"/>
          </a:xfrm>
          <a:prstGeom prst="rect">
            <a:avLst/>
          </a:prstGeom>
          <a:noFill/>
          <a:ln/>
        </p:spPr>
        <p:txBody>
          <a:bodyPr wrap="square" lIns="0" tIns="0" rIns="0" bIns="0" rtlCol="0" anchor="t"/>
          <a:lstStyle/>
          <a:p>
            <a:pPr algn="ctr" indent="0" marL="0">
              <a:buNone/>
            </a:pPr>
            <a:r>
              <a:rPr lang="en-US" sz="900" i="1" dirty="0">
                <a:solidFill>
                  <a:schemeClr val="accent5"/>
                </a:solidFill>
              </a:rPr>
              <a:t>green shares + cycle</a:t>
            </a:r>
            <a:endParaRPr lang="en-US" sz="900" dirty="0"/>
          </a:p>
        </p:txBody>
      </p:sp>
      <p:sp>
        <p:nvSpPr>
          <p:cNvPr id="27" name="loop-down"/>
          <p:cNvSpPr/>
          <p:nvPr/>
        </p:nvSpPr>
        <p:spPr>
          <a:xfrm>
            <a:off x="10723809" y="3017520"/>
            <a:ext cx="0" cy="411480"/>
          </a:xfrm>
          <a:prstGeom prst="line">
            <a:avLst/>
          </a:prstGeom>
          <a:noFill/>
          <a:ln w="19050">
            <a:solidFill>
              <a:schemeClr val="accent5"/>
            </a:solidFill>
            <a:prstDash val="solid"/>
          </a:ln>
        </p:spPr>
      </p:sp>
      <p:sp>
        <p:nvSpPr>
          <p:cNvPr id="28" name="loop-across"/>
          <p:cNvSpPr/>
          <p:nvPr/>
        </p:nvSpPr>
        <p:spPr>
          <a:xfrm>
            <a:off x="1467886" y="3429000"/>
            <a:ext cx="9255923" cy="0"/>
          </a:xfrm>
          <a:prstGeom prst="line">
            <a:avLst/>
          </a:prstGeom>
          <a:noFill/>
          <a:ln w="19050">
            <a:solidFill>
              <a:schemeClr val="accent5"/>
            </a:solidFill>
            <a:prstDash val="solid"/>
          </a:ln>
        </p:spPr>
      </p:sp>
      <p:sp>
        <p:nvSpPr>
          <p:cNvPr id="29" name="loop-up"/>
          <p:cNvSpPr/>
          <p:nvPr/>
        </p:nvSpPr>
        <p:spPr>
          <a:xfrm flipV="1">
            <a:off x="1467886" y="3035808"/>
            <a:ext cx="0" cy="393192"/>
          </a:xfrm>
          <a:prstGeom prst="line">
            <a:avLst/>
          </a:prstGeom>
          <a:noFill/>
          <a:ln w="19050">
            <a:solidFill>
              <a:schemeClr val="accent5"/>
            </a:solidFill>
            <a:prstDash val="solid"/>
            <a:tailEnd type="triangle"/>
          </a:ln>
        </p:spPr>
      </p:sp>
      <p:sp>
        <p:nvSpPr>
          <p:cNvPr id="30" name="Text 28"/>
          <p:cNvSpPr txBox="1"/>
          <p:nvPr/>
        </p:nvSpPr>
        <p:spPr>
          <a:xfrm>
            <a:off x="1742206" y="3474720"/>
            <a:ext cx="8229600" cy="274320"/>
          </a:xfrm>
          <a:prstGeom prst="rect">
            <a:avLst/>
          </a:prstGeom>
          <a:noFill/>
          <a:ln/>
        </p:spPr>
        <p:txBody>
          <a:bodyPr wrap="square" lIns="0" tIns="0" rIns="0" bIns="0" rtlCol="0" anchor="t"/>
          <a:lstStyle/>
          <a:p>
            <a:pPr indent="0" marL="0">
              <a:buNone/>
            </a:pPr>
            <a:r>
              <a:rPr lang="en-US" sz="1000" i="1" dirty="0">
                <a:solidFill>
                  <a:schemeClr val="accent5"/>
                </a:solidFill>
              </a:rPr>
              <a:t>the simulator moves the cars under those signals; delay per car is measured on the simulator's truth</a:t>
            </a:r>
            <a:endParaRPr lang="en-US" sz="1000" dirty="0"/>
          </a:p>
        </p:txBody>
      </p:sp>
      <p:sp>
        <p:nvSpPr>
          <p:cNvPr id="31" name="card-Why two models?"/>
          <p:cNvSpPr/>
          <p:nvPr/>
        </p:nvSpPr>
        <p:spPr>
          <a:xfrm>
            <a:off x="502920" y="4160520"/>
            <a:ext cx="3606698" cy="2103120"/>
          </a:xfrm>
          <a:prstGeom prst="roundRect">
            <a:avLst>
              <a:gd name="adj" fmla="val 3478"/>
            </a:avLst>
          </a:prstGeom>
          <a:solidFill>
            <a:schemeClr val="bg1"/>
          </a:solidFill>
          <a:ln w="9525">
            <a:solidFill>
              <a:srgbClr val="DDD8CC"/>
            </a:solidFill>
            <a:prstDash val="solid"/>
          </a:ln>
        </p:spPr>
      </p:sp>
      <p:sp>
        <p:nvSpPr>
          <p:cNvPr id="32" name="Shape 30"/>
          <p:cNvSpPr/>
          <p:nvPr/>
        </p:nvSpPr>
        <p:spPr>
          <a:xfrm>
            <a:off x="667512" y="4343400"/>
            <a:ext cx="384048" cy="45720"/>
          </a:xfrm>
          <a:prstGeom prst="rect">
            <a:avLst/>
          </a:prstGeom>
          <a:solidFill>
            <a:schemeClr val="tx2"/>
          </a:solidFill>
          <a:ln w="12700">
            <a:solidFill>
              <a:schemeClr val="tx2"/>
            </a:solidFill>
            <a:prstDash val="solid"/>
          </a:ln>
        </p:spPr>
      </p:sp>
      <p:sp>
        <p:nvSpPr>
          <p:cNvPr id="33" name="card-head-Why two mode"/>
          <p:cNvSpPr txBox="1"/>
          <p:nvPr/>
        </p:nvSpPr>
        <p:spPr>
          <a:xfrm>
            <a:off x="667512" y="443484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two models?</a:t>
            </a:r>
            <a:endParaRPr lang="en-US" sz="1350" dirty="0"/>
          </a:p>
        </p:txBody>
      </p:sp>
      <p:sp>
        <p:nvSpPr>
          <p:cNvPr id="34" name="card-body-Why two mode"/>
          <p:cNvSpPr txBox="1"/>
          <p:nvPr/>
        </p:nvSpPr>
        <p:spPr>
          <a:xfrm>
            <a:off x="667512" y="4800600"/>
            <a:ext cx="3277514" cy="1371600"/>
          </a:xfrm>
          <a:prstGeom prst="rect">
            <a:avLst/>
          </a:prstGeom>
          <a:noFill/>
          <a:ln/>
        </p:spPr>
        <p:txBody>
          <a:bodyPr wrap="square" lIns="0" tIns="0" rIns="0" bIns="0" rtlCol="0" anchor="t"/>
          <a:lstStyle/>
          <a:p>
            <a:pPr indent="0" marL="0">
              <a:buNone/>
            </a:pPr>
            <a:r>
              <a:rPr lang="en-US" sz="1150" dirty="0">
                <a:solidFill>
                  <a:schemeClr val="tx1"/>
                </a:solidFill>
              </a:rPr>
              <a:t>The controller's store-and-forward model is cheap and linear, so it can be optimised exactly. The simulator is detailed, so the score includes the error of that simpler model (start-up loss, spillback, rain).</a:t>
            </a:r>
            <a:endParaRPr lang="en-US" sz="1150" dirty="0"/>
          </a:p>
        </p:txBody>
      </p:sp>
      <p:sp>
        <p:nvSpPr>
          <p:cNvPr id="35" name="card-What is learned vs. "/>
          <p:cNvSpPr/>
          <p:nvPr/>
        </p:nvSpPr>
        <p:spPr>
          <a:xfrm>
            <a:off x="4292498" y="4160520"/>
            <a:ext cx="3606698" cy="2103120"/>
          </a:xfrm>
          <a:prstGeom prst="roundRect">
            <a:avLst>
              <a:gd name="adj" fmla="val 3478"/>
            </a:avLst>
          </a:prstGeom>
          <a:solidFill>
            <a:schemeClr val="bg1"/>
          </a:solidFill>
          <a:ln w="9525">
            <a:solidFill>
              <a:srgbClr val="DDD8CC"/>
            </a:solidFill>
            <a:prstDash val="solid"/>
          </a:ln>
        </p:spPr>
      </p:sp>
      <p:sp>
        <p:nvSpPr>
          <p:cNvPr id="36" name="Shape 34"/>
          <p:cNvSpPr/>
          <p:nvPr/>
        </p:nvSpPr>
        <p:spPr>
          <a:xfrm>
            <a:off x="4457090" y="4343400"/>
            <a:ext cx="384048" cy="45720"/>
          </a:xfrm>
          <a:prstGeom prst="rect">
            <a:avLst/>
          </a:prstGeom>
          <a:solidFill>
            <a:schemeClr val="accent4"/>
          </a:solidFill>
          <a:ln w="12700">
            <a:solidFill>
              <a:schemeClr val="accent4"/>
            </a:solidFill>
            <a:prstDash val="solid"/>
          </a:ln>
        </p:spPr>
      </p:sp>
      <p:sp>
        <p:nvSpPr>
          <p:cNvPr id="37" name="card-head-What is lear"/>
          <p:cNvSpPr txBox="1"/>
          <p:nvPr/>
        </p:nvSpPr>
        <p:spPr>
          <a:xfrm>
            <a:off x="4457090" y="443484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What is learned vs. modelled?</a:t>
            </a:r>
            <a:endParaRPr lang="en-US" sz="1350" dirty="0"/>
          </a:p>
        </p:txBody>
      </p:sp>
      <p:sp>
        <p:nvSpPr>
          <p:cNvPr id="38" name="card-body-What is lear"/>
          <p:cNvSpPr txBox="1"/>
          <p:nvPr/>
        </p:nvSpPr>
        <p:spPr>
          <a:xfrm>
            <a:off x="4457090" y="4800600"/>
            <a:ext cx="3277514" cy="1371600"/>
          </a:xfrm>
          <a:prstGeom prst="rect">
            <a:avLst/>
          </a:prstGeom>
          <a:noFill/>
          <a:ln/>
        </p:spPr>
        <p:txBody>
          <a:bodyPr wrap="square" lIns="0" tIns="0" rIns="0" bIns="0" rtlCol="0" anchor="t"/>
          <a:lstStyle/>
          <a:p>
            <a:pPr indent="0" marL="0">
              <a:buNone/>
            </a:pPr>
            <a:r>
              <a:rPr lang="en-US" sz="1150" dirty="0">
                <a:solidFill>
                  <a:schemeClr val="tx1"/>
                </a:solidFill>
              </a:rPr>
              <a:t>Learned: the arrival rate (from 60 days of history). Modelled: how queues form and drain (physics we know). Optimised: the green splits.</a:t>
            </a:r>
            <a:endParaRPr lang="en-US" sz="1150" dirty="0"/>
          </a:p>
        </p:txBody>
      </p:sp>
      <p:sp>
        <p:nvSpPr>
          <p:cNvPr id="39" name="card-Judged on"/>
          <p:cNvSpPr/>
          <p:nvPr/>
        </p:nvSpPr>
        <p:spPr>
          <a:xfrm>
            <a:off x="8082077" y="4160520"/>
            <a:ext cx="3606698" cy="2103120"/>
          </a:xfrm>
          <a:prstGeom prst="roundRect">
            <a:avLst>
              <a:gd name="adj" fmla="val 3478"/>
            </a:avLst>
          </a:prstGeom>
          <a:solidFill>
            <a:schemeClr val="bg1"/>
          </a:solidFill>
          <a:ln w="9525">
            <a:solidFill>
              <a:srgbClr val="DDD8CC"/>
            </a:solidFill>
            <a:prstDash val="solid"/>
          </a:ln>
        </p:spPr>
      </p:sp>
      <p:sp>
        <p:nvSpPr>
          <p:cNvPr id="40" name="Shape 38"/>
          <p:cNvSpPr/>
          <p:nvPr/>
        </p:nvSpPr>
        <p:spPr>
          <a:xfrm>
            <a:off x="8246669" y="4343400"/>
            <a:ext cx="384048" cy="45720"/>
          </a:xfrm>
          <a:prstGeom prst="rect">
            <a:avLst/>
          </a:prstGeom>
          <a:solidFill>
            <a:schemeClr val="accent1"/>
          </a:solidFill>
          <a:ln w="12700">
            <a:solidFill>
              <a:schemeClr val="accent1"/>
            </a:solidFill>
            <a:prstDash val="solid"/>
          </a:ln>
        </p:spPr>
      </p:sp>
      <p:sp>
        <p:nvSpPr>
          <p:cNvPr id="41" name="card-head-Judged on"/>
          <p:cNvSpPr txBox="1"/>
          <p:nvPr/>
        </p:nvSpPr>
        <p:spPr>
          <a:xfrm>
            <a:off x="8246669" y="443484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Judged on</a:t>
            </a:r>
            <a:endParaRPr lang="en-US" sz="1350" dirty="0"/>
          </a:p>
        </p:txBody>
      </p:sp>
      <p:sp>
        <p:nvSpPr>
          <p:cNvPr id="42" name="card-body-Judged on"/>
          <p:cNvSpPr txBox="1"/>
          <p:nvPr/>
        </p:nvSpPr>
        <p:spPr>
          <a:xfrm>
            <a:off x="8246669" y="4800600"/>
            <a:ext cx="3277514" cy="1371600"/>
          </a:xfrm>
          <a:prstGeom prst="rect">
            <a:avLst/>
          </a:prstGeom>
          <a:noFill/>
          <a:ln/>
        </p:spPr>
        <p:txBody>
          <a:bodyPr wrap="square" lIns="0" tIns="0" rIns="0" bIns="0" rtlCol="0" anchor="t"/>
          <a:lstStyle/>
          <a:p>
            <a:pPr indent="0" marL="0">
              <a:buNone/>
            </a:pPr>
            <a:r>
              <a:rPr lang="en-US" sz="1150" dirty="0">
                <a:solidFill>
                  <a:schemeClr val="tx1"/>
                </a:solidFill>
              </a:rPr>
              <a:t>Mean delay per car on held-out days (seeds never used for any choice), against a fixed plan whose cycle was tuned on each scenario's normal day.</a:t>
            </a:r>
            <a:endParaRPr lang="en-US" sz="115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1 · SIMULATION</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Why a vehicle-level simulator, and why time-stepped</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accent1"/>
          </a:solidFill>
          <a:ln w="9525">
            <a:solidFill>
              <a:schemeClr val="accent1"/>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7406640" cy="914400"/>
        </p:xfrm>
        <a:graphic>
          <a:graphicData uri="http://schemas.openxmlformats.org/drawingml/2006/table">
            <a:tbl>
              <a:tblPr/>
              <a:tblGrid>
                <a:gridCol w="2240280"/>
                <a:gridCol w="1874520"/>
                <a:gridCol w="3291840"/>
              </a:tblGrid>
              <a:tr h="256032">
                <a:tc>
                  <a:txBody>
                    <a:bodyPr/>
                    <a:lstStyle/>
                    <a:p>
                      <a:pPr algn="l" indent="0" marL="0">
                        <a:buNone/>
                      </a:pPr>
                      <a:r>
                        <a:rPr lang="en-US" sz="1000" b="1" dirty="0">
                          <a:solidFill>
                            <a:schemeClr val="bg1"/>
                          </a:solidFill>
                        </a:rPr>
                        <a:t>Option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What it gives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Why not chosen / why chosen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dirty="0">
                          <a:solidFill>
                            <a:schemeClr val="tx1"/>
                          </a:solidFill>
                        </a:rPr>
                        <a:t>Score in the controller's own store-and-forward model</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Fast, exact, already written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The controller would be graded on its own assumptions: no start-up loss, no spillback dynamics, no model error. Rejected.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Cell-transmission (macroscopic flow) model</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Spillback, fast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Still a flow model: queue discharge is an input, not an outcome. Rejected.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dirty="0">
                          <a:solidFill>
                            <a:schemeClr val="tx1"/>
                          </a:solidFill>
                        </a:rPr>
                        <a:t>SUMO or a commercial micro-simulator</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Realistic, validated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Heavy dependency, slow to set up and make reproducible in a weekend, harder for a reviewer to read. Rejected.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Event-driven (queue) simulation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Exact timing, fast in light traffic</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Needs a queueing abstraction: it assumes the service process we want to observe. Rejected.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Own time-stepped car-following simulator (IDM, Δt = 0.5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l" indent="0" marL="0">
                        <a:buNone/>
                      </a:pPr>
                      <a:r>
                        <a:rPr lang="en-US" sz="1050" b="1" dirty="0">
                          <a:solidFill>
                            <a:schemeClr val="tx1"/>
                          </a:solidFill>
                        </a:rPr>
                        <a:t>Queues, saturation flow, start-up loss, spillback and rain effects all emerge from driver behaviour</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l" indent="0" marL="0">
                        <a:buNone/>
                      </a:pPr>
                      <a:r>
                        <a:rPr lang="en-US" sz="1050" b="1" dirty="0">
                          <a:solidFill>
                            <a:schemeClr val="tx1"/>
                          </a:solidFill>
                        </a:rPr>
                        <a:t>Chosen. Cost: we must calibrate and test it ourselves (12 simulator tests: conservation, no overlap, saturation flow, rain, accidents, common random numbers).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r>
            </a:tbl>
          </a:graphicData>
        </a:graphic>
      </p:graphicFrame>
      <p:sp>
        <p:nvSpPr>
          <p:cNvPr id="13" name="card-The principle"/>
          <p:cNvSpPr/>
          <p:nvPr/>
        </p:nvSpPr>
        <p:spPr>
          <a:xfrm>
            <a:off x="8183880" y="1463040"/>
            <a:ext cx="3502152" cy="2240280"/>
          </a:xfrm>
          <a:prstGeom prst="roundRect">
            <a:avLst>
              <a:gd name="adj" fmla="val 3265"/>
            </a:avLst>
          </a:prstGeom>
          <a:solidFill>
            <a:schemeClr val="bg1"/>
          </a:solidFill>
          <a:ln w="9525">
            <a:solidFill>
              <a:srgbClr val="DDD8CC"/>
            </a:solidFill>
            <a:prstDash val="solid"/>
          </a:ln>
        </p:spPr>
      </p:sp>
      <p:sp>
        <p:nvSpPr>
          <p:cNvPr id="14" name="Shape 11"/>
          <p:cNvSpPr/>
          <p:nvPr/>
        </p:nvSpPr>
        <p:spPr>
          <a:xfrm>
            <a:off x="8348472" y="1645920"/>
            <a:ext cx="384048" cy="45720"/>
          </a:xfrm>
          <a:prstGeom prst="rect">
            <a:avLst/>
          </a:prstGeom>
          <a:solidFill>
            <a:schemeClr val="accent1"/>
          </a:solidFill>
          <a:ln w="12700">
            <a:solidFill>
              <a:schemeClr val="accent1"/>
            </a:solidFill>
            <a:prstDash val="solid"/>
          </a:ln>
        </p:spPr>
      </p:sp>
      <p:sp>
        <p:nvSpPr>
          <p:cNvPr id="15" name="card-head-The principl"/>
          <p:cNvSpPr txBox="1"/>
          <p:nvPr/>
        </p:nvSpPr>
        <p:spPr>
          <a:xfrm>
            <a:off x="8348472" y="1737360"/>
            <a:ext cx="3172968"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The principle</a:t>
            </a:r>
            <a:endParaRPr lang="en-US" sz="1350" dirty="0"/>
          </a:p>
        </p:txBody>
      </p:sp>
      <p:sp>
        <p:nvSpPr>
          <p:cNvPr id="16" name="card-body-The principl"/>
          <p:cNvSpPr txBox="1"/>
          <p:nvPr/>
        </p:nvSpPr>
        <p:spPr>
          <a:xfrm>
            <a:off x="8348472" y="2103120"/>
            <a:ext cx="3172968" cy="1508760"/>
          </a:xfrm>
          <a:prstGeom prst="rect">
            <a:avLst/>
          </a:prstGeom>
          <a:noFill/>
          <a:ln/>
        </p:spPr>
        <p:txBody>
          <a:bodyPr wrap="square" lIns="0" tIns="0" rIns="0" bIns="0" rtlCol="0" anchor="t"/>
          <a:lstStyle/>
          <a:p>
            <a:pPr indent="0" marL="0">
              <a:buNone/>
            </a:pPr>
            <a:r>
              <a:rPr lang="en-US" sz="1200" dirty="0">
                <a:solidFill>
                  <a:schemeClr val="tx1"/>
                </a:solidFill>
              </a:rPr>
              <a:t>The controller should never be graded in the model it plans with. The simulator is richer than the controller's model, so every result includes model error, as it would on a real street.</a:t>
            </a:r>
            <a:endParaRPr lang="en-US" sz="1200" dirty="0"/>
          </a:p>
        </p:txBody>
      </p:sp>
      <p:sp>
        <p:nvSpPr>
          <p:cNvPr id="17" name="card-Why 0.5 s steps"/>
          <p:cNvSpPr/>
          <p:nvPr/>
        </p:nvSpPr>
        <p:spPr>
          <a:xfrm>
            <a:off x="8183880" y="3886200"/>
            <a:ext cx="3502152" cy="2331720"/>
          </a:xfrm>
          <a:prstGeom prst="roundRect">
            <a:avLst>
              <a:gd name="adj" fmla="val 3137"/>
            </a:avLst>
          </a:prstGeom>
          <a:solidFill>
            <a:schemeClr val="bg1"/>
          </a:solidFill>
          <a:ln w="9525">
            <a:solidFill>
              <a:srgbClr val="DDD8CC"/>
            </a:solidFill>
            <a:prstDash val="solid"/>
          </a:ln>
        </p:spPr>
      </p:sp>
      <p:sp>
        <p:nvSpPr>
          <p:cNvPr id="18" name="Shape 15"/>
          <p:cNvSpPr/>
          <p:nvPr/>
        </p:nvSpPr>
        <p:spPr>
          <a:xfrm>
            <a:off x="8348472" y="4069080"/>
            <a:ext cx="384048" cy="45720"/>
          </a:xfrm>
          <a:prstGeom prst="rect">
            <a:avLst/>
          </a:prstGeom>
          <a:solidFill>
            <a:schemeClr val="tx2"/>
          </a:solidFill>
          <a:ln w="12700">
            <a:solidFill>
              <a:schemeClr val="tx2"/>
            </a:solidFill>
            <a:prstDash val="solid"/>
          </a:ln>
        </p:spPr>
      </p:sp>
      <p:sp>
        <p:nvSpPr>
          <p:cNvPr id="19" name="card-head-Why 0.5 s st"/>
          <p:cNvSpPr txBox="1"/>
          <p:nvPr/>
        </p:nvSpPr>
        <p:spPr>
          <a:xfrm>
            <a:off x="8348472" y="4160520"/>
            <a:ext cx="3172968"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0.5 s steps</a:t>
            </a:r>
            <a:endParaRPr lang="en-US" sz="1350" dirty="0"/>
          </a:p>
        </p:txBody>
      </p:sp>
      <p:sp>
        <p:nvSpPr>
          <p:cNvPr id="20" name="card-body-Why 0.5 s st"/>
          <p:cNvSpPr txBox="1"/>
          <p:nvPr/>
        </p:nvSpPr>
        <p:spPr>
          <a:xfrm>
            <a:off x="8348472" y="4526280"/>
            <a:ext cx="3172968" cy="1600200"/>
          </a:xfrm>
          <a:prstGeom prst="rect">
            <a:avLst/>
          </a:prstGeom>
          <a:noFill/>
          <a:ln/>
        </p:spPr>
        <p:txBody>
          <a:bodyPr wrap="square" lIns="0" tIns="0" rIns="0" bIns="0" rtlCol="0" anchor="t"/>
          <a:lstStyle/>
          <a:p>
            <a:pPr indent="0" marL="0">
              <a:buNone/>
            </a:pPr>
            <a:r>
              <a:rPr lang="en-US" sz="1200" dirty="0">
                <a:solidFill>
                  <a:schemeClr val="tx1"/>
                </a:solidFill>
              </a:rPr>
              <a:t>A ballistic IDM update at 0.5 s is the standard scheme (Treiber &amp; Kesting): it resolves stop-and-go waves and the 4 s amber. Cheap: 20 simulated minutes on the 2x2 take 0.3 s under the fixed plan, 1.1 s with the optimiser.</a:t>
            </a:r>
            <a:endParaRPr lang="en-US" sz="12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1 · SIMULATION</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Network and vehicles: small enough to read, rich enough to congest</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accent1"/>
          </a:solidFill>
          <a:ln w="9525">
            <a:solidFill>
              <a:schemeClr val="accent1"/>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road-h-0"/>
          <p:cNvSpPr/>
          <p:nvPr/>
        </p:nvSpPr>
        <p:spPr>
          <a:xfrm>
            <a:off x="960120" y="2889504"/>
            <a:ext cx="4224528" cy="91440"/>
          </a:xfrm>
          <a:prstGeom prst="rect">
            <a:avLst/>
          </a:prstGeom>
          <a:solidFill>
            <a:srgbClr val="CFCAC0"/>
          </a:solidFill>
          <a:ln w="12700">
            <a:solidFill>
              <a:srgbClr val="CFCAC0"/>
            </a:solidFill>
            <a:prstDash val="solid"/>
          </a:ln>
        </p:spPr>
      </p:sp>
      <p:sp>
        <p:nvSpPr>
          <p:cNvPr id="13" name="road-h-1"/>
          <p:cNvSpPr/>
          <p:nvPr/>
        </p:nvSpPr>
        <p:spPr>
          <a:xfrm>
            <a:off x="960120" y="4809744"/>
            <a:ext cx="4224528" cy="91440"/>
          </a:xfrm>
          <a:prstGeom prst="rect">
            <a:avLst/>
          </a:prstGeom>
          <a:solidFill>
            <a:srgbClr val="CFCAC0"/>
          </a:solidFill>
          <a:ln w="12700">
            <a:solidFill>
              <a:srgbClr val="CFCAC0"/>
            </a:solidFill>
            <a:prstDash val="solid"/>
          </a:ln>
        </p:spPr>
      </p:sp>
      <p:sp>
        <p:nvSpPr>
          <p:cNvPr id="14" name="road-v-0"/>
          <p:cNvSpPr/>
          <p:nvPr/>
        </p:nvSpPr>
        <p:spPr>
          <a:xfrm>
            <a:off x="2066544" y="1874520"/>
            <a:ext cx="91440" cy="4041648"/>
          </a:xfrm>
          <a:prstGeom prst="rect">
            <a:avLst/>
          </a:prstGeom>
          <a:solidFill>
            <a:srgbClr val="CFCAC0"/>
          </a:solidFill>
          <a:ln w="12700">
            <a:solidFill>
              <a:srgbClr val="CFCAC0"/>
            </a:solidFill>
            <a:prstDash val="solid"/>
          </a:ln>
        </p:spPr>
      </p:sp>
      <p:sp>
        <p:nvSpPr>
          <p:cNvPr id="15" name="road-v-1"/>
          <p:cNvSpPr/>
          <p:nvPr/>
        </p:nvSpPr>
        <p:spPr>
          <a:xfrm>
            <a:off x="3986784" y="1874520"/>
            <a:ext cx="91440" cy="4041648"/>
          </a:xfrm>
          <a:prstGeom prst="rect">
            <a:avLst/>
          </a:prstGeom>
          <a:solidFill>
            <a:srgbClr val="CFCAC0"/>
          </a:solidFill>
          <a:ln w="12700">
            <a:solidFill>
              <a:srgbClr val="CFCAC0"/>
            </a:solidFill>
            <a:prstDash val="solid"/>
          </a:ln>
        </p:spPr>
      </p:sp>
      <p:sp>
        <p:nvSpPr>
          <p:cNvPr id="16" name="junction-00"/>
          <p:cNvSpPr/>
          <p:nvPr/>
        </p:nvSpPr>
        <p:spPr>
          <a:xfrm>
            <a:off x="1965960" y="2788920"/>
            <a:ext cx="292608" cy="292608"/>
          </a:xfrm>
          <a:prstGeom prst="roundRect">
            <a:avLst>
              <a:gd name="adj" fmla="val 15625"/>
            </a:avLst>
          </a:prstGeom>
          <a:solidFill>
            <a:schemeClr val="tx2"/>
          </a:solidFill>
          <a:ln w="12700">
            <a:solidFill>
              <a:schemeClr val="tx2"/>
            </a:solidFill>
            <a:prstDash val="solid"/>
          </a:ln>
        </p:spPr>
      </p:sp>
      <p:sp>
        <p:nvSpPr>
          <p:cNvPr id="17" name="junction-10"/>
          <p:cNvSpPr/>
          <p:nvPr/>
        </p:nvSpPr>
        <p:spPr>
          <a:xfrm>
            <a:off x="1965960" y="4709160"/>
            <a:ext cx="292608" cy="292608"/>
          </a:xfrm>
          <a:prstGeom prst="roundRect">
            <a:avLst>
              <a:gd name="adj" fmla="val 15625"/>
            </a:avLst>
          </a:prstGeom>
          <a:solidFill>
            <a:schemeClr val="tx2"/>
          </a:solidFill>
          <a:ln w="12700">
            <a:solidFill>
              <a:schemeClr val="tx2"/>
            </a:solidFill>
            <a:prstDash val="solid"/>
          </a:ln>
        </p:spPr>
      </p:sp>
      <p:sp>
        <p:nvSpPr>
          <p:cNvPr id="18" name="junction-01"/>
          <p:cNvSpPr/>
          <p:nvPr/>
        </p:nvSpPr>
        <p:spPr>
          <a:xfrm>
            <a:off x="3886200" y="2788920"/>
            <a:ext cx="292608" cy="292608"/>
          </a:xfrm>
          <a:prstGeom prst="roundRect">
            <a:avLst>
              <a:gd name="adj" fmla="val 15625"/>
            </a:avLst>
          </a:prstGeom>
          <a:solidFill>
            <a:schemeClr val="tx2"/>
          </a:solidFill>
          <a:ln w="12700">
            <a:solidFill>
              <a:schemeClr val="tx2"/>
            </a:solidFill>
            <a:prstDash val="solid"/>
          </a:ln>
        </p:spPr>
      </p:sp>
      <p:sp>
        <p:nvSpPr>
          <p:cNvPr id="19" name="junction-11"/>
          <p:cNvSpPr/>
          <p:nvPr/>
        </p:nvSpPr>
        <p:spPr>
          <a:xfrm>
            <a:off x="3886200" y="4709160"/>
            <a:ext cx="292608" cy="292608"/>
          </a:xfrm>
          <a:prstGeom prst="roundRect">
            <a:avLst>
              <a:gd name="adj" fmla="val 15625"/>
            </a:avLst>
          </a:prstGeom>
          <a:solidFill>
            <a:schemeClr val="tx2"/>
          </a:solidFill>
          <a:ln w="12700">
            <a:solidFill>
              <a:schemeClr val="tx2"/>
            </a:solidFill>
            <a:prstDash val="solid"/>
          </a:ln>
        </p:spPr>
      </p:sp>
      <p:sp>
        <p:nvSpPr>
          <p:cNvPr id="20" name="entry-w0"/>
          <p:cNvSpPr/>
          <p:nvPr/>
        </p:nvSpPr>
        <p:spPr>
          <a:xfrm>
            <a:off x="777240" y="2825496"/>
            <a:ext cx="868680" cy="0"/>
          </a:xfrm>
          <a:prstGeom prst="line">
            <a:avLst/>
          </a:prstGeom>
          <a:noFill/>
          <a:ln w="28575">
            <a:solidFill>
              <a:schemeClr val="accent1"/>
            </a:solidFill>
            <a:prstDash val="solid"/>
            <a:tailEnd type="triangle"/>
          </a:ln>
        </p:spPr>
      </p:sp>
      <p:sp>
        <p:nvSpPr>
          <p:cNvPr id="21" name="entry-e0"/>
          <p:cNvSpPr/>
          <p:nvPr/>
        </p:nvSpPr>
        <p:spPr>
          <a:xfrm flipH="1">
            <a:off x="4498848" y="3044952"/>
            <a:ext cx="868680" cy="0"/>
          </a:xfrm>
          <a:prstGeom prst="line">
            <a:avLst/>
          </a:prstGeom>
          <a:noFill/>
          <a:ln w="28575">
            <a:solidFill>
              <a:schemeClr val="accent1"/>
            </a:solidFill>
            <a:prstDash val="solid"/>
            <a:tailEnd type="triangle"/>
          </a:ln>
        </p:spPr>
      </p:sp>
      <p:sp>
        <p:nvSpPr>
          <p:cNvPr id="22" name="entry-w1"/>
          <p:cNvSpPr/>
          <p:nvPr/>
        </p:nvSpPr>
        <p:spPr>
          <a:xfrm>
            <a:off x="777240" y="4745736"/>
            <a:ext cx="868680" cy="0"/>
          </a:xfrm>
          <a:prstGeom prst="line">
            <a:avLst/>
          </a:prstGeom>
          <a:noFill/>
          <a:ln w="28575">
            <a:solidFill>
              <a:schemeClr val="accent1"/>
            </a:solidFill>
            <a:prstDash val="solid"/>
            <a:tailEnd type="triangle"/>
          </a:ln>
        </p:spPr>
      </p:sp>
      <p:sp>
        <p:nvSpPr>
          <p:cNvPr id="23" name="entry-e1"/>
          <p:cNvSpPr/>
          <p:nvPr/>
        </p:nvSpPr>
        <p:spPr>
          <a:xfrm flipH="1">
            <a:off x="4498848" y="4965192"/>
            <a:ext cx="868680" cy="0"/>
          </a:xfrm>
          <a:prstGeom prst="line">
            <a:avLst/>
          </a:prstGeom>
          <a:noFill/>
          <a:ln w="28575">
            <a:solidFill>
              <a:schemeClr val="accent1"/>
            </a:solidFill>
            <a:prstDash val="solid"/>
            <a:tailEnd type="triangle"/>
          </a:ln>
        </p:spPr>
      </p:sp>
      <p:sp>
        <p:nvSpPr>
          <p:cNvPr id="24" name="entry-n0"/>
          <p:cNvSpPr/>
          <p:nvPr/>
        </p:nvSpPr>
        <p:spPr>
          <a:xfrm>
            <a:off x="2221992" y="1691640"/>
            <a:ext cx="0" cy="777240"/>
          </a:xfrm>
          <a:prstGeom prst="line">
            <a:avLst/>
          </a:prstGeom>
          <a:noFill/>
          <a:ln w="28575">
            <a:solidFill>
              <a:schemeClr val="accent1"/>
            </a:solidFill>
            <a:prstDash val="solid"/>
            <a:tailEnd type="triangle"/>
          </a:ln>
        </p:spPr>
      </p:sp>
      <p:sp>
        <p:nvSpPr>
          <p:cNvPr id="25" name="entry-s0"/>
          <p:cNvSpPr/>
          <p:nvPr/>
        </p:nvSpPr>
        <p:spPr>
          <a:xfrm flipV="1">
            <a:off x="2002536" y="5321808"/>
            <a:ext cx="0" cy="777240"/>
          </a:xfrm>
          <a:prstGeom prst="line">
            <a:avLst/>
          </a:prstGeom>
          <a:noFill/>
          <a:ln w="28575">
            <a:solidFill>
              <a:schemeClr val="accent1"/>
            </a:solidFill>
            <a:prstDash val="solid"/>
            <a:tailEnd type="triangle"/>
          </a:ln>
        </p:spPr>
      </p:sp>
      <p:sp>
        <p:nvSpPr>
          <p:cNvPr id="26" name="entry-n1"/>
          <p:cNvSpPr/>
          <p:nvPr/>
        </p:nvSpPr>
        <p:spPr>
          <a:xfrm>
            <a:off x="4142232" y="1691640"/>
            <a:ext cx="0" cy="777240"/>
          </a:xfrm>
          <a:prstGeom prst="line">
            <a:avLst/>
          </a:prstGeom>
          <a:noFill/>
          <a:ln w="28575">
            <a:solidFill>
              <a:schemeClr val="accent1"/>
            </a:solidFill>
            <a:prstDash val="solid"/>
            <a:tailEnd type="triangle"/>
          </a:ln>
        </p:spPr>
      </p:sp>
      <p:sp>
        <p:nvSpPr>
          <p:cNvPr id="27" name="entry-s1"/>
          <p:cNvSpPr/>
          <p:nvPr/>
        </p:nvSpPr>
        <p:spPr>
          <a:xfrm flipV="1">
            <a:off x="3922776" y="5321808"/>
            <a:ext cx="0" cy="777240"/>
          </a:xfrm>
          <a:prstGeom prst="line">
            <a:avLst/>
          </a:prstGeom>
          <a:noFill/>
          <a:ln w="28575">
            <a:solidFill>
              <a:schemeClr val="accent1"/>
            </a:solidFill>
            <a:prstDash val="solid"/>
            <a:tailEnd type="triangle"/>
          </a:ln>
        </p:spPr>
      </p:sp>
      <p:sp>
        <p:nvSpPr>
          <p:cNvPr id="28" name="Text 26"/>
          <p:cNvSpPr txBox="1"/>
          <p:nvPr/>
        </p:nvSpPr>
        <p:spPr>
          <a:xfrm>
            <a:off x="2295144" y="2487168"/>
            <a:ext cx="1554480" cy="237744"/>
          </a:xfrm>
          <a:prstGeom prst="rect">
            <a:avLst/>
          </a:prstGeom>
          <a:noFill/>
          <a:ln/>
        </p:spPr>
        <p:txBody>
          <a:bodyPr wrap="square" lIns="0" tIns="0" rIns="0" bIns="0" rtlCol="0" anchor="t"/>
          <a:lstStyle/>
          <a:p>
            <a:pPr algn="ctr" indent="0" marL="0">
              <a:buNone/>
            </a:pPr>
            <a:r>
              <a:rPr lang="en-US" sz="950" dirty="0">
                <a:solidFill>
                  <a:schemeClr val="tx2"/>
                </a:solidFill>
              </a:rPr>
              <a:t>200 m internal (~30 cars)</a:t>
            </a:r>
            <a:endParaRPr lang="en-US" sz="950" dirty="0"/>
          </a:p>
        </p:txBody>
      </p:sp>
      <p:sp>
        <p:nvSpPr>
          <p:cNvPr id="29" name="Text 27"/>
          <p:cNvSpPr txBox="1"/>
          <p:nvPr/>
        </p:nvSpPr>
        <p:spPr>
          <a:xfrm>
            <a:off x="685800" y="6144768"/>
            <a:ext cx="4206240" cy="237744"/>
          </a:xfrm>
          <a:prstGeom prst="rect">
            <a:avLst/>
          </a:prstGeom>
          <a:noFill/>
          <a:ln/>
        </p:spPr>
        <p:txBody>
          <a:bodyPr wrap="square" lIns="0" tIns="0" rIns="0" bIns="0" rtlCol="0" anchor="t"/>
          <a:lstStyle/>
          <a:p>
            <a:pPr algn="ctr" indent="0" marL="0">
              <a:buNone/>
            </a:pPr>
            <a:r>
              <a:rPr lang="en-US" sz="950" b="1" dirty="0">
                <a:solidFill>
                  <a:schemeClr val="accent1"/>
                </a:solidFill>
              </a:rPr>
              <a:t>400 m entry roads (~61 cars), counter at the boundary</a:t>
            </a:r>
            <a:endParaRPr lang="en-US" sz="950" dirty="0"/>
          </a:p>
        </p:txBody>
      </p:sp>
      <p:sp>
        <p:nvSpPr>
          <p:cNvPr id="30" name="Text 28"/>
          <p:cNvSpPr txBox="1"/>
          <p:nvPr/>
        </p:nvSpPr>
        <p:spPr>
          <a:xfrm>
            <a:off x="685800" y="1371600"/>
            <a:ext cx="4206240" cy="237744"/>
          </a:xfrm>
          <a:prstGeom prst="rect">
            <a:avLst/>
          </a:prstGeom>
          <a:noFill/>
          <a:ln/>
        </p:spPr>
        <p:txBody>
          <a:bodyPr wrap="square" lIns="0" tIns="0" rIns="0" bIns="0" rtlCol="0" anchor="t"/>
          <a:lstStyle/>
          <a:p>
            <a:pPr algn="ctr" indent="0" marL="0">
              <a:buNone/>
            </a:pPr>
            <a:r>
              <a:rPr lang="en-US" sz="950" dirty="0">
                <a:solidFill>
                  <a:schemeClr val="tx2"/>
                </a:solidFill>
              </a:rPr>
              <a:t>2x2 grid · 4 junctions · 16 links · 8 entries, 8 exits</a:t>
            </a:r>
            <a:endParaRPr lang="en-US" sz="95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715000" y="1463040"/>
          <a:ext cx="5973775" cy="914400"/>
        </p:xfrm>
        <a:graphic>
          <a:graphicData uri="http://schemas.openxmlformats.org/drawingml/2006/table">
            <a:tbl>
              <a:tblPr/>
              <a:tblGrid>
                <a:gridCol w="1463040"/>
                <a:gridCol w="2423160"/>
                <a:gridCol w="2084832"/>
              </a:tblGrid>
              <a:tr h="256032">
                <a:tc>
                  <a:txBody>
                    <a:bodyPr/>
                    <a:lstStyle/>
                    <a:p>
                      <a:pPr algn="l" indent="0" marL="0">
                        <a:buNone/>
                      </a:pPr>
                      <a:r>
                        <a:rPr lang="en-US" sz="950" b="1" dirty="0">
                          <a:solidFill>
                            <a:schemeClr val="bg1"/>
                          </a:solidFill>
                        </a:rPr>
                        <a:t>Assumption</a:t>
                      </a:r>
                      <a:endParaRPr lang="en-US" sz="9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950" b="1" dirty="0">
                          <a:solidFill>
                            <a:schemeClr val="bg1"/>
                          </a:solidFill>
                        </a:rPr>
                        <a:t>Value</a:t>
                      </a:r>
                      <a:endParaRPr lang="en-US" sz="9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950" b="1" dirty="0">
                          <a:solidFill>
                            <a:schemeClr val="bg1"/>
                          </a:solidFill>
                        </a:rPr>
                        <a:t>Why</a:t>
                      </a:r>
                      <a:endParaRPr lang="en-US" sz="9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00" b="1" dirty="0">
                          <a:solidFill>
                            <a:schemeClr val="tx1"/>
                          </a:solidFill>
                        </a:rPr>
                        <a:t>Lanes, phases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1 lane per approach; 2 phases (NS / EW)</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Smallest setting with real conflicts; turns share the lane</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00" b="1" dirty="0">
                          <a:solidFill>
                            <a:schemeClr val="tx1"/>
                          </a:solidFill>
                        </a:rPr>
                        <a:t>Turns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70% straight / 15% left / 15% right, drawn per car</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Survey-style averages the controller also knows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00" b="1" dirty="0">
                          <a:solidFill>
                            <a:schemeClr val="tx1"/>
                          </a:solidFill>
                        </a:rPr>
                        <a:t>Signal timing</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4 s lost per switch; green 8–60 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Amber + all-red; standard minimum and maximum green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00" b="1" dirty="0">
                          <a:solidFill>
                            <a:schemeClr val="tx1"/>
                          </a:solidFill>
                        </a:rPr>
                        <a:t>Car</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4.5 m + 2 m gap = 6.5 m queued</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Storage per road follows from length</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00" b="1" dirty="0">
                          <a:solidFill>
                            <a:schemeClr val="tx1"/>
                          </a:solidFill>
                        </a:rPr>
                        <a:t>Car following (IDM)</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v₀ 13.9 m/s (50 km/h), T 1.5 s, a 1.5, b 2.0 m/s², s₀ 2 m</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Urban values from Treiber &amp; Kesting</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00" b="1" dirty="0">
                          <a:solidFill>
                            <a:schemeClr val="tx1"/>
                          </a:solidFill>
                        </a:rPr>
                        <a:t>Saturation flow</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0.40 veh/s (1,440/h); 0.33 in full rain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Emergent from IDM, measured and tested, not set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00" b="1" dirty="0">
                          <a:solidFill>
                            <a:schemeClr val="tx1"/>
                          </a:solidFill>
                        </a:rPr>
                        <a:t>Junction rules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Dilemma-zone amber; box-clearing; full entry road → cars wait outside</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Realistic spillback; waiting outside counts as delay</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00" b="1" dirty="0">
                          <a:solidFill>
                            <a:schemeClr val="tx1"/>
                          </a:solidFill>
                        </a:rPr>
                        <a:t>Not modelled</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Lane changes, pedestrians, protected turns, rerouting</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Out of scope; listed as limitations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1 · SIMULATION</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Demand: Poisson arrivals around a hidden, structured rate</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accent1"/>
          </a:solidFill>
          <a:ln w="9525">
            <a:solidFill>
              <a:schemeClr val="accent1"/>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formula-box"/>
          <p:cNvSpPr/>
          <p:nvPr/>
        </p:nvSpPr>
        <p:spPr>
          <a:xfrm>
            <a:off x="502920" y="1417320"/>
            <a:ext cx="6675120" cy="868680"/>
          </a:xfrm>
          <a:prstGeom prst="roundRect">
            <a:avLst>
              <a:gd name="adj" fmla="val 8421"/>
            </a:avLst>
          </a:prstGeom>
          <a:solidFill>
            <a:schemeClr val="tx1"/>
          </a:solidFill>
          <a:ln w="12700">
            <a:solidFill>
              <a:schemeClr val="tx1"/>
            </a:solidFill>
            <a:prstDash val="solid"/>
          </a:ln>
        </p:spPr>
      </p:sp>
      <p:sp>
        <p:nvSpPr>
          <p:cNvPr id="13" name="formula"/>
          <p:cNvSpPr txBox="1"/>
          <p:nvPr/>
        </p:nvSpPr>
        <p:spPr>
          <a:xfrm>
            <a:off x="685800" y="1481328"/>
            <a:ext cx="6400800" cy="777240"/>
          </a:xfrm>
          <a:prstGeom prst="rect">
            <a:avLst/>
          </a:prstGeom>
          <a:noFill/>
          <a:ln/>
        </p:spPr>
        <p:txBody>
          <a:bodyPr wrap="square" lIns="0" tIns="0" rIns="0" bIns="0" rtlCol="0" anchor="t"/>
          <a:lstStyle/>
          <a:p>
            <a:pPr indent="0" marL="0">
              <a:buNone/>
            </a:pPr>
            <a:r>
              <a:rPr lang="en-US" sz="1600" dirty="0">
                <a:solidFill>
                  <a:schemeClr val="bg1"/>
                </a:solidFill>
                <a:latin typeface="Consolas" pitchFamily="34" charset="0"/>
                <a:ea typeface="Consolas" pitchFamily="34" charset="-122"/>
                <a:cs typeface="Consolas" pitchFamily="34" charset="-120"/>
              </a:rPr>
              <a:t>λₑ(t) = 0.136·P(h−δ)·L·(1+0.1r)·(1+0.25τdₑ)·e^εₑ·(1+Sₑ)</a:t>
            </a:r>
            <a:endParaRPr lang="en-US" sz="1200" dirty="0"/>
          </a:p>
          <a:p>
            <a:pPr indent="0" marL="0">
              <a:buNone/>
            </a:pPr>
            <a:r>
              <a:rPr lang="en-US" sz="1100" dirty="0">
                <a:solidFill>
                  <a:srgbClr val="C9C4B8"/>
                </a:solidFill>
              </a:rPr>
              <a:t>arrivals at entry e ~ Poisson(λₑ(t)): a doubly stochastic (Cox) process</a:t>
            </a:r>
            <a:endParaRPr lang="en-US" sz="1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02920" y="2423160"/>
          <a:ext cx="6675120" cy="914400"/>
        </p:xfrm>
        <a:graphic>
          <a:graphicData uri="http://schemas.openxmlformats.org/drawingml/2006/table">
            <a:tbl>
              <a:tblPr/>
              <a:tblGrid>
                <a:gridCol w="960120"/>
                <a:gridCol w="3657600"/>
                <a:gridCol w="2057400"/>
              </a:tblGrid>
              <a:tr h="256032">
                <a:tc>
                  <a:txBody>
                    <a:bodyPr/>
                    <a:lstStyle/>
                    <a:p>
                      <a:pPr algn="l" indent="0" marL="0">
                        <a:buNone/>
                      </a:pPr>
                      <a:r>
                        <a:rPr lang="en-US" sz="950" b="1" dirty="0">
                          <a:solidFill>
                            <a:schemeClr val="bg1"/>
                          </a:solidFill>
                        </a:rPr>
                        <a:t>Term</a:t>
                      </a:r>
                      <a:endParaRPr lang="en-US" sz="9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950" b="1" dirty="0">
                          <a:solidFill>
                            <a:schemeClr val="bg1"/>
                          </a:solidFill>
                        </a:rPr>
                        <a:t>What it is</a:t>
                      </a:r>
                      <a:endParaRPr lang="en-US" sz="9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950" b="1" dirty="0">
                          <a:solidFill>
                            <a:schemeClr val="bg1"/>
                          </a:solidFill>
                        </a:rPr>
                        <a:t>Can a forecaster learn it?</a:t>
                      </a:r>
                      <a:endParaRPr lang="en-US" sz="9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00" dirty="0">
                          <a:solidFill>
                            <a:schemeClr val="tx1"/>
                          </a:solidFill>
                        </a:rPr>
                        <a:t>0.136</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0.16 veh/s (the grid's saturation knee) × 0.85: a normal peak runs at 85% of capacity</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Constant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00" dirty="0">
                          <a:solidFill>
                            <a:schemeClr val="tx1"/>
                          </a:solidFill>
                        </a:rPr>
                        <a:t>P(h − δ)</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Weekday profile: AM peak 07:42, PM 17:00, midday plateau; δ = today's timing shift, sd 12 min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Profile from history; shift from today's counts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00" dirty="0">
                          <a:solidFill>
                            <a:schemeClr val="tx1"/>
                          </a:solidFill>
                        </a:rPr>
                        <a:t>L</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Today's level, lognormal, sd 10%</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From today's counts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00" dirty="0">
                          <a:solidFill>
                            <a:schemeClr val="tx1"/>
                          </a:solidFill>
                        </a:rPr>
                        <a:t>1 + 0.10 r</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Rain intensity r (0 to 1) adds up to 10% demand</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From the weather feed</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00" dirty="0">
                          <a:solidFill>
                            <a:schemeClr val="tx1"/>
                          </a:solidFill>
                        </a:rPr>
                        <a:t>1 + 0.25 τ dₑ</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Tide: inbound-heavy AM, outbound-heavy PM (dₑ = ±1 by direction)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Profile × entry</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00" dirty="0">
                          <a:solidFill>
                            <a:schemeClr val="tx1"/>
                          </a:solidFill>
                        </a:rPr>
                        <a:t>e^ε</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AR(1) noise per minute, φ = 0.9 (~10-min memory): shared + half-size per entry</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Partly, from recent counts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00" dirty="0">
                          <a:solidFill>
                            <a:schemeClr val="tx1"/>
                          </a:solidFill>
                        </a:rPr>
                        <a:t>1 + Sₑ</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Scheduled event surge on one side; announced size × lognormal(0, 0.25)</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00" dirty="0">
                          <a:solidFill>
                            <a:schemeClr val="tx1"/>
                          </a:solidFill>
                        </a:rPr>
                        <a:t>Announced part from the calendar</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00" dirty="0">
                          <a:solidFill>
                            <a:schemeClr val="tx1"/>
                          </a:solidFill>
                        </a:rPr>
                        <a:t>Poisson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Count noise: a 5-min count of 30–90 cars carries 10–20% pure noise</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00" dirty="0">
                          <a:solidFill>
                            <a:schemeClr val="tx1"/>
                          </a:solidFill>
                        </a:rPr>
                        <a:t>Never</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pic>
        <p:nvPicPr>
          <p:cNvPr id="15" name="img-demand_days.png" descr="True demand across 300 simulated weekdays with mean and spread, CV by hour and share of days raining">    </p:cNvPr>
          <p:cNvPicPr>
            <a:picLocks noChangeAspect="1"/>
          </p:cNvPicPr>
          <p:nvPr/>
        </p:nvPicPr>
        <p:blipFill>
          <a:blip r:embed="rId1"/>
          <a:stretch>
            <a:fillRect/>
          </a:stretch>
        </p:blipFill>
        <p:spPr>
          <a:xfrm>
            <a:off x="7406640" y="1417320"/>
            <a:ext cx="4279392" cy="3374136"/>
          </a:xfrm>
          <a:prstGeom prst="rect">
            <a:avLst/>
          </a:prstGeom>
        </p:spPr>
      </p:pic>
      <p:sp>
        <p:nvSpPr>
          <p:cNvPr id="16" name="card-Designed in layers"/>
          <p:cNvSpPr/>
          <p:nvPr/>
        </p:nvSpPr>
        <p:spPr>
          <a:xfrm>
            <a:off x="7406640" y="4892040"/>
            <a:ext cx="4279392" cy="1417320"/>
          </a:xfrm>
          <a:prstGeom prst="roundRect">
            <a:avLst>
              <a:gd name="adj" fmla="val 5161"/>
            </a:avLst>
          </a:prstGeom>
          <a:solidFill>
            <a:schemeClr val="bg1"/>
          </a:solidFill>
          <a:ln w="9525">
            <a:solidFill>
              <a:srgbClr val="DDD8CC"/>
            </a:solidFill>
            <a:prstDash val="solid"/>
          </a:ln>
        </p:spPr>
      </p:sp>
      <p:sp>
        <p:nvSpPr>
          <p:cNvPr id="17" name="Shape 13"/>
          <p:cNvSpPr/>
          <p:nvPr/>
        </p:nvSpPr>
        <p:spPr>
          <a:xfrm>
            <a:off x="7571232" y="5074920"/>
            <a:ext cx="384048" cy="45720"/>
          </a:xfrm>
          <a:prstGeom prst="rect">
            <a:avLst/>
          </a:prstGeom>
          <a:solidFill>
            <a:schemeClr val="accent4"/>
          </a:solidFill>
          <a:ln w="12700">
            <a:solidFill>
              <a:schemeClr val="accent4"/>
            </a:solidFill>
            <a:prstDash val="solid"/>
          </a:ln>
        </p:spPr>
      </p:sp>
      <p:sp>
        <p:nvSpPr>
          <p:cNvPr id="18" name="card-head-Designed in "/>
          <p:cNvSpPr txBox="1"/>
          <p:nvPr/>
        </p:nvSpPr>
        <p:spPr>
          <a:xfrm>
            <a:off x="7571232" y="5166360"/>
            <a:ext cx="3950208" cy="274320"/>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Designed in layers</a:t>
            </a:r>
            <a:endParaRPr lang="en-US" sz="1350" dirty="0"/>
          </a:p>
        </p:txBody>
      </p:sp>
      <p:sp>
        <p:nvSpPr>
          <p:cNvPr id="19" name="card-body-Designed in "/>
          <p:cNvSpPr txBox="1"/>
          <p:nvPr/>
        </p:nvSpPr>
        <p:spPr>
          <a:xfrm>
            <a:off x="7571232" y="5477256"/>
            <a:ext cx="3950208" cy="740664"/>
          </a:xfrm>
          <a:prstGeom prst="rect">
            <a:avLst/>
          </a:prstGeom>
          <a:noFill/>
          <a:ln/>
        </p:spPr>
        <p:txBody>
          <a:bodyPr wrap="square" lIns="0" tIns="0" rIns="0" bIns="0" rtlCol="0" anchor="t"/>
          <a:lstStyle/>
          <a:p>
            <a:pPr indent="0" marL="0">
              <a:buNone/>
            </a:pPr>
            <a:r>
              <a:rPr lang="en-US" sz="1100" dirty="0">
                <a:solidFill>
                  <a:schemeClr val="tx1"/>
                </a:solidFill>
              </a:rPr>
              <a:t>Each layer is something a forecaster could learn from history, from today's counts, from a feed, or not at all. That makes the forecast ladder interpretable.</a:t>
            </a:r>
            <a:endParaRPr lang="en-US" sz="11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1 · SIMULATION</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Disturbances, random days, and the six test scenarios</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accent1"/>
          </a:solidFill>
          <a:ln w="9525">
            <a:solidFill>
              <a:schemeClr val="accent1"/>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Text 10"/>
          <p:cNvSpPr txBox="1"/>
          <p:nvPr/>
        </p:nvSpPr>
        <p:spPr>
          <a:xfrm>
            <a:off x="502920" y="1417320"/>
            <a:ext cx="5486400" cy="292608"/>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Random days (forecaster history, 60 days)</a:t>
            </a:r>
            <a:endParaRPr lang="en-US" sz="135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02920" y="1783080"/>
          <a:ext cx="5486400" cy="914400"/>
        </p:xfrm>
        <a:graphic>
          <a:graphicData uri="http://schemas.openxmlformats.org/drawingml/2006/table">
            <a:tbl>
              <a:tblPr/>
              <a:tblGrid>
                <a:gridCol w="1508760"/>
                <a:gridCol w="3977640"/>
              </a:tblGrid>
              <a:tr h="256032">
                <a:tc>
                  <a:txBody>
                    <a:bodyPr/>
                    <a:lstStyle/>
                    <a:p>
                      <a:pPr algn="l" indent="0" marL="0">
                        <a:buNone/>
                      </a:pPr>
                      <a:r>
                        <a:rPr lang="en-US" sz="1000" b="1" dirty="0">
                          <a:solidFill>
                            <a:schemeClr val="bg1"/>
                          </a:solidFill>
                        </a:rPr>
                        <a:t>Draw</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Assumption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b="1" dirty="0">
                          <a:solidFill>
                            <a:schemeClr val="tx1"/>
                          </a:solidFill>
                        </a:rPr>
                        <a:t>Day level, timing shift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Lognormal sd 10%; shift sd 12 min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Storms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Poisson ~0.8/day, 70% start 13:00–19:00. Free speed −20%, headway +30%, accel −15% → saturation flow −17%</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Accidents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Poisson 0.10/h (×3 in rain): one lane blocked 15 min, no rerouting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Scheduled events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Poisson 0.4/day, 11:00–20:00, 20–90 min, random side; announced +40% to +120%; actual = announced × lognormal(0, 0.25)</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14" name="Text 11"/>
          <p:cNvSpPr txBox="1"/>
          <p:nvPr/>
        </p:nvSpPr>
        <p:spPr>
          <a:xfrm>
            <a:off x="502920" y="4206240"/>
            <a:ext cx="5486400" cy="502920"/>
          </a:xfrm>
          <a:prstGeom prst="rect">
            <a:avLst/>
          </a:prstGeom>
          <a:noFill/>
          <a:ln/>
        </p:spPr>
        <p:txBody>
          <a:bodyPr wrap="square" lIns="0" tIns="0" rIns="0" bIns="0" rtlCol="0" anchor="t"/>
          <a:lstStyle/>
          <a:p>
            <a:pPr indent="0" marL="0">
              <a:buNone/>
            </a:pPr>
            <a:r>
              <a:rPr lang="en-US" sz="1050" i="1" dirty="0">
                <a:solidFill>
                  <a:schemeClr val="accent5"/>
                </a:solidFill>
              </a:rPr>
              <a:t>All rates are assumptions, not calibrated to a city. Events use their own random stream, so adding them left every other day unchanged.</a:t>
            </a:r>
            <a:endParaRPr lang="en-US" sz="1050" dirty="0"/>
          </a:p>
        </p:txBody>
      </p:sp>
      <p:sp>
        <p:nvSpPr>
          <p:cNvPr id="15" name="Text 12"/>
          <p:cNvSpPr txBox="1"/>
          <p:nvPr/>
        </p:nvSpPr>
        <p:spPr>
          <a:xfrm>
            <a:off x="6263640" y="1417320"/>
            <a:ext cx="5486400" cy="292608"/>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Evaluation scenarios (3 hours each)</a:t>
            </a:r>
            <a:endParaRPr lang="en-US" sz="135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6263640" y="1783080"/>
          <a:ext cx="5425135" cy="914400"/>
        </p:xfrm>
        <a:graphic>
          <a:graphicData uri="http://schemas.openxmlformats.org/drawingml/2006/table">
            <a:tbl>
              <a:tblPr/>
              <a:tblGrid>
                <a:gridCol w="1325880"/>
                <a:gridCol w="2468880"/>
                <a:gridCol w="1627632"/>
              </a:tblGrid>
              <a:tr h="256032">
                <a:tc>
                  <a:txBody>
                    <a:bodyPr/>
                    <a:lstStyle/>
                    <a:p>
                      <a:pPr algn="l" indent="0" marL="0">
                        <a:buNone/>
                      </a:pPr>
                      <a:r>
                        <a:rPr lang="en-US" sz="1000" b="1" dirty="0">
                          <a:solidFill>
                            <a:schemeClr val="bg1"/>
                          </a:solidFill>
                        </a:rPr>
                        <a:t>Scenario</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What happens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Tests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b="1" dirty="0">
                          <a:solidFill>
                            <a:schemeClr val="tx1"/>
                          </a:solidFill>
                        </a:rPr>
                        <a:t>Typical morning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06:00–09:00 normal weekday</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The everyday case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Busy morning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Same, demand +15%</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Near saturation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Storm</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Rain across the peak</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Capacity drop the model must track</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Accident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One lane blocked 07:42–07:57</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Closures (brief criterion)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Typical evening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15:30–18:30, outbound tide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A different peak</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Stadium event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West side lets out 16:15: two eastbound entries double for 45 min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Where a forecast should matter</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17" name="card-Why these scenarios"/>
          <p:cNvSpPr/>
          <p:nvPr/>
        </p:nvSpPr>
        <p:spPr>
          <a:xfrm>
            <a:off x="502920" y="4846320"/>
            <a:ext cx="11185855" cy="1417320"/>
          </a:xfrm>
          <a:prstGeom prst="roundRect">
            <a:avLst>
              <a:gd name="adj" fmla="val 5161"/>
            </a:avLst>
          </a:prstGeom>
          <a:solidFill>
            <a:schemeClr val="bg1"/>
          </a:solidFill>
          <a:ln w="9525">
            <a:solidFill>
              <a:srgbClr val="DDD8CC"/>
            </a:solidFill>
            <a:prstDash val="solid"/>
          </a:ln>
        </p:spPr>
      </p:sp>
      <p:sp>
        <p:nvSpPr>
          <p:cNvPr id="18" name="Shape 14"/>
          <p:cNvSpPr/>
          <p:nvPr/>
        </p:nvSpPr>
        <p:spPr>
          <a:xfrm>
            <a:off x="667512" y="5029200"/>
            <a:ext cx="384048" cy="45720"/>
          </a:xfrm>
          <a:prstGeom prst="rect">
            <a:avLst/>
          </a:prstGeom>
          <a:solidFill>
            <a:schemeClr val="accent1"/>
          </a:solidFill>
          <a:ln w="12700">
            <a:solidFill>
              <a:schemeClr val="accent1"/>
            </a:solidFill>
            <a:prstDash val="solid"/>
          </a:ln>
        </p:spPr>
      </p:sp>
      <p:sp>
        <p:nvSpPr>
          <p:cNvPr id="19" name="card-head-Why these sc"/>
          <p:cNvSpPr txBox="1"/>
          <p:nvPr/>
        </p:nvSpPr>
        <p:spPr>
          <a:xfrm>
            <a:off x="667512" y="5120640"/>
            <a:ext cx="10856671" cy="274320"/>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these scenarios</a:t>
            </a:r>
            <a:endParaRPr lang="en-US" sz="1350" dirty="0"/>
          </a:p>
        </p:txBody>
      </p:sp>
      <p:sp>
        <p:nvSpPr>
          <p:cNvPr id="20" name="card-body-Why these sc"/>
          <p:cNvSpPr txBox="1"/>
          <p:nvPr/>
        </p:nvSpPr>
        <p:spPr>
          <a:xfrm>
            <a:off x="667512" y="5431536"/>
            <a:ext cx="10856671" cy="740664"/>
          </a:xfrm>
          <a:prstGeom prst="rect">
            <a:avLst/>
          </a:prstGeom>
          <a:noFill/>
          <a:ln/>
        </p:spPr>
        <p:txBody>
          <a:bodyPr wrap="square" lIns="0" tIns="0" rIns="0" bIns="0" rtlCol="0" anchor="t"/>
          <a:lstStyle/>
          <a:p>
            <a:pPr indent="0" marL="0">
              <a:buNone/>
            </a:pPr>
            <a:r>
              <a:rPr lang="en-US" sz="1150" dirty="0">
                <a:solidFill>
                  <a:schemeClr val="tx1"/>
                </a:solidFill>
              </a:rPr>
              <a:t>Each one stresses a different link of the chain: the busy morning stresses capacity, the storm the estimator's discharge assumption, the accident the incident path, and the stadium event the forecaster (information that arrives before the cars do). Baselines are tuned on the normal day only, so disturbed days test robustness, not tuning.</a:t>
            </a:r>
            <a:endParaRPr lang="en-US" sz="115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1 · SIMULATION</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What the controller is allowed to know: counts only</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accent1"/>
          </a:solidFill>
          <a:ln w="9525">
            <a:solidFill>
              <a:schemeClr val="accent1"/>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card-It sees"/>
          <p:cNvSpPr/>
          <p:nvPr/>
        </p:nvSpPr>
        <p:spPr>
          <a:xfrm>
            <a:off x="502920" y="1463040"/>
            <a:ext cx="3611880" cy="3246120"/>
          </a:xfrm>
          <a:prstGeom prst="roundRect">
            <a:avLst>
              <a:gd name="adj" fmla="val 2254"/>
            </a:avLst>
          </a:prstGeom>
          <a:solidFill>
            <a:schemeClr val="bg1"/>
          </a:solidFill>
          <a:ln w="9525">
            <a:solidFill>
              <a:srgbClr val="DDD8CC"/>
            </a:solidFill>
            <a:prstDash val="solid"/>
          </a:ln>
        </p:spPr>
      </p:sp>
      <p:sp>
        <p:nvSpPr>
          <p:cNvPr id="13" name="Shape 11"/>
          <p:cNvSpPr/>
          <p:nvPr/>
        </p:nvSpPr>
        <p:spPr>
          <a:xfrm>
            <a:off x="667512" y="1645920"/>
            <a:ext cx="384048" cy="45720"/>
          </a:xfrm>
          <a:prstGeom prst="rect">
            <a:avLst/>
          </a:prstGeom>
          <a:solidFill>
            <a:schemeClr val="accent2"/>
          </a:solidFill>
          <a:ln w="12700">
            <a:solidFill>
              <a:schemeClr val="accent2"/>
            </a:solidFill>
            <a:prstDash val="solid"/>
          </a:ln>
        </p:spPr>
      </p:sp>
      <p:sp>
        <p:nvSpPr>
          <p:cNvPr id="14" name="card-head-It sees"/>
          <p:cNvSpPr txBox="1"/>
          <p:nvPr/>
        </p:nvSpPr>
        <p:spPr>
          <a:xfrm>
            <a:off x="667512" y="1737360"/>
            <a:ext cx="3282696" cy="292608"/>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It sees</a:t>
            </a:r>
            <a:endParaRPr lang="en-US" sz="1350" dirty="0"/>
          </a:p>
        </p:txBody>
      </p:sp>
      <p:sp>
        <p:nvSpPr>
          <p:cNvPr id="15" name="card-body-It sees"/>
          <p:cNvSpPr txBox="1"/>
          <p:nvPr/>
        </p:nvSpPr>
        <p:spPr>
          <a:xfrm>
            <a:off x="667512" y="2066544"/>
            <a:ext cx="3282696" cy="2551176"/>
          </a:xfrm>
          <a:prstGeom prst="rect">
            <a:avLst/>
          </a:prstGeom>
          <a:noFill/>
          <a:ln/>
        </p:spPr>
        <p:txBody>
          <a:bodyPr wrap="square" lIns="0" tIns="0" rIns="0" bIns="0" rtlCol="0" anchor="t"/>
          <a:lstStyle/>
          <a:p>
            <a:pPr indent="0" marL="0">
              <a:buNone/>
            </a:pPr>
            <a:endParaRPr lang="en-US" sz="1150" dirty="0"/>
          </a:p>
        </p:txBody>
      </p:sp>
      <p:sp>
        <p:nvSpPr>
          <p:cNvPr id="16" name="sees"/>
          <p:cNvSpPr txBox="1"/>
          <p:nvPr/>
        </p:nvSpPr>
        <p:spPr>
          <a:xfrm>
            <a:off x="667512" y="2075688"/>
            <a:ext cx="3337560" cy="2587752"/>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chemeClr val="tx1"/>
                </a:solidFill>
              </a:rPr>
              <a:t>A car counter on each of the 8 entry roads (cumulative count)</a:t>
            </a:r>
            <a:endParaRPr lang="en-US" sz="1200" dirty="0"/>
          </a:p>
          <a:p>
            <a:pPr marL="177800" indent="-177800">
              <a:spcAft>
                <a:spcPts val="400"/>
              </a:spcAft>
              <a:buSzPct val="100000"/>
              <a:buChar char="•"/>
            </a:pPr>
            <a:r>
              <a:rPr lang="en-US" sz="1150" dirty="0">
                <a:solidFill>
                  <a:schemeClr val="tx1"/>
                </a:solidFill>
              </a:rPr>
              <a:t>The clock and calendar (weekday / weekend)</a:t>
            </a:r>
            <a:endParaRPr lang="en-US" sz="1200" dirty="0"/>
          </a:p>
          <a:p>
            <a:pPr marL="177800" indent="-177800">
              <a:spcAft>
                <a:spcPts val="400"/>
              </a:spcAft>
              <a:buSzPct val="100000"/>
              <a:buChar char="•"/>
            </a:pPr>
            <a:r>
              <a:rPr lang="en-US" sz="1150" dirty="0">
                <a:solidFill>
                  <a:schemeClr val="tx1"/>
                </a:solidFill>
              </a:rPr>
              <a:t>A weather feed: rain now and a noisy rain forecast</a:t>
            </a:r>
            <a:endParaRPr lang="en-US" sz="1200" dirty="0"/>
          </a:p>
          <a:p>
            <a:pPr marL="177800" indent="-177800">
              <a:spcAft>
                <a:spcPts val="400"/>
              </a:spcAft>
              <a:buSzPct val="100000"/>
              <a:buChar char="•"/>
            </a:pPr>
            <a:r>
              <a:rPr lang="en-US" sz="1150" dirty="0">
                <a:solidFill>
                  <a:schemeClr val="tx1"/>
                </a:solidFill>
              </a:rPr>
              <a:t>An incident feed: “road X blocked”, then “cleared”</a:t>
            </a:r>
            <a:endParaRPr lang="en-US" sz="1200" dirty="0"/>
          </a:p>
          <a:p>
            <a:pPr marL="177800" indent="-177800">
              <a:spcAft>
                <a:spcPts val="400"/>
              </a:spcAft>
              <a:buSzPct val="100000"/>
              <a:buChar char="•"/>
            </a:pPr>
            <a:r>
              <a:rPr lang="en-US" sz="1150" dirty="0">
                <a:solidFill>
                  <a:schemeClr val="tx1"/>
                </a:solidFill>
              </a:rPr>
              <a:t>An event calendar: time, side and announced crowd size</a:t>
            </a:r>
            <a:endParaRPr lang="en-US" sz="1200" dirty="0"/>
          </a:p>
          <a:p>
            <a:pPr marL="177800" indent="-177800">
              <a:spcAft>
                <a:spcPts val="400"/>
              </a:spcAft>
              <a:buSzPct val="100000"/>
              <a:buChar char="•"/>
            </a:pPr>
            <a:r>
              <a:rPr lang="en-US" sz="1150" dirty="0">
                <a:solidFill>
                  <a:schemeClr val="tx1"/>
                </a:solidFill>
              </a:rPr>
              <a:t>Its own signal states</a:t>
            </a:r>
            <a:endParaRPr lang="en-US" sz="1200" dirty="0"/>
          </a:p>
          <a:p>
            <a:pPr marL="177800" indent="-177800">
              <a:spcAft>
                <a:spcPts val="400"/>
              </a:spcAft>
              <a:buSzPct val="100000"/>
              <a:buChar char="•"/>
            </a:pPr>
            <a:r>
              <a:rPr lang="en-US" sz="1150" dirty="0">
                <a:solidFill>
                  <a:schemeClr val="tx1"/>
                </a:solidFill>
              </a:rPr>
              <a:t>The map: road lengths, average turn shares, nominal saturation flow</a:t>
            </a:r>
            <a:endParaRPr lang="en-US" sz="1200" dirty="0"/>
          </a:p>
        </p:txBody>
      </p:sp>
      <p:sp>
        <p:nvSpPr>
          <p:cNvPr id="17" name="card-It never sees"/>
          <p:cNvSpPr/>
          <p:nvPr/>
        </p:nvSpPr>
        <p:spPr>
          <a:xfrm>
            <a:off x="4343400" y="1463040"/>
            <a:ext cx="3611880" cy="3246120"/>
          </a:xfrm>
          <a:prstGeom prst="roundRect">
            <a:avLst>
              <a:gd name="adj" fmla="val 2254"/>
            </a:avLst>
          </a:prstGeom>
          <a:solidFill>
            <a:schemeClr val="bg1"/>
          </a:solidFill>
          <a:ln w="9525">
            <a:solidFill>
              <a:srgbClr val="DDD8CC"/>
            </a:solidFill>
            <a:prstDash val="solid"/>
          </a:ln>
        </p:spPr>
      </p:sp>
      <p:sp>
        <p:nvSpPr>
          <p:cNvPr id="18" name="Shape 16"/>
          <p:cNvSpPr/>
          <p:nvPr/>
        </p:nvSpPr>
        <p:spPr>
          <a:xfrm>
            <a:off x="4507992" y="1645920"/>
            <a:ext cx="384048" cy="45720"/>
          </a:xfrm>
          <a:prstGeom prst="rect">
            <a:avLst/>
          </a:prstGeom>
          <a:solidFill>
            <a:schemeClr val="accent3"/>
          </a:solidFill>
          <a:ln w="12700">
            <a:solidFill>
              <a:schemeClr val="accent3"/>
            </a:solidFill>
            <a:prstDash val="solid"/>
          </a:ln>
        </p:spPr>
      </p:sp>
      <p:sp>
        <p:nvSpPr>
          <p:cNvPr id="19" name="card-head-It never see"/>
          <p:cNvSpPr txBox="1"/>
          <p:nvPr/>
        </p:nvSpPr>
        <p:spPr>
          <a:xfrm>
            <a:off x="4507992" y="1737360"/>
            <a:ext cx="3282696" cy="292608"/>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It never sees</a:t>
            </a:r>
            <a:endParaRPr lang="en-US" sz="1350" dirty="0"/>
          </a:p>
        </p:txBody>
      </p:sp>
      <p:sp>
        <p:nvSpPr>
          <p:cNvPr id="20" name="card-body-It never see"/>
          <p:cNvSpPr txBox="1"/>
          <p:nvPr/>
        </p:nvSpPr>
        <p:spPr>
          <a:xfrm>
            <a:off x="4507992" y="2066544"/>
            <a:ext cx="3282696" cy="2551176"/>
          </a:xfrm>
          <a:prstGeom prst="rect">
            <a:avLst/>
          </a:prstGeom>
          <a:noFill/>
          <a:ln/>
        </p:spPr>
        <p:txBody>
          <a:bodyPr wrap="square" lIns="0" tIns="0" rIns="0" bIns="0" rtlCol="0" anchor="t"/>
          <a:lstStyle/>
          <a:p>
            <a:pPr indent="0" marL="0">
              <a:buNone/>
            </a:pPr>
            <a:endParaRPr lang="en-US" sz="1150" dirty="0"/>
          </a:p>
        </p:txBody>
      </p:sp>
      <p:sp>
        <p:nvSpPr>
          <p:cNvPr id="21" name="never"/>
          <p:cNvSpPr txBox="1"/>
          <p:nvPr/>
        </p:nvSpPr>
        <p:spPr>
          <a:xfrm>
            <a:off x="4507992" y="2075688"/>
            <a:ext cx="3337560" cy="2587752"/>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chemeClr val="tx1"/>
                </a:solidFill>
              </a:rPr>
              <a:t>Queues or cars on any road (no cameras, no stop-line detectors, no occupancy)</a:t>
            </a:r>
            <a:endParaRPr lang="en-US" sz="1200" dirty="0"/>
          </a:p>
          <a:p>
            <a:pPr marL="177800" indent="-177800">
              <a:spcAft>
                <a:spcPts val="400"/>
              </a:spcAft>
              <a:buSzPct val="100000"/>
              <a:buChar char="•"/>
            </a:pPr>
            <a:r>
              <a:rPr lang="en-US" sz="1150" dirty="0">
                <a:solidFill>
                  <a:schemeClr val="tx1"/>
                </a:solidFill>
              </a:rPr>
              <a:t>Cars waiting outside a full entry road</a:t>
            </a:r>
            <a:endParaRPr lang="en-US" sz="1200" dirty="0"/>
          </a:p>
          <a:p>
            <a:pPr marL="177800" indent="-177800">
              <a:spcAft>
                <a:spcPts val="400"/>
              </a:spcAft>
              <a:buSzPct val="100000"/>
              <a:buChar char="•"/>
            </a:pPr>
            <a:r>
              <a:rPr lang="en-US" sz="1150" dirty="0">
                <a:solidFill>
                  <a:schemeClr val="tx1"/>
                </a:solidFill>
              </a:rPr>
              <a:t>The true arrival rate</a:t>
            </a:r>
            <a:endParaRPr lang="en-US" sz="1200" dirty="0"/>
          </a:p>
          <a:p>
            <a:pPr marL="177800" indent="-177800">
              <a:spcAft>
                <a:spcPts val="400"/>
              </a:spcAft>
              <a:buSzPct val="100000"/>
              <a:buChar char="•"/>
            </a:pPr>
            <a:r>
              <a:rPr lang="en-US" sz="1150" dirty="0">
                <a:solidFill>
                  <a:schemeClr val="tx1"/>
                </a:solidFill>
              </a:rPr>
              <a:t>The actual size of an event crowd</a:t>
            </a:r>
            <a:endParaRPr lang="en-US" sz="1200" dirty="0"/>
          </a:p>
          <a:p>
            <a:pPr marL="177800" indent="-177800">
              <a:spcAft>
                <a:spcPts val="400"/>
              </a:spcAft>
              <a:buSzPct val="100000"/>
              <a:buChar char="•"/>
            </a:pPr>
            <a:r>
              <a:rPr lang="en-US" sz="1150" dirty="0">
                <a:solidFill>
                  <a:schemeClr val="tx1"/>
                </a:solidFill>
              </a:rPr>
              <a:t>Which way each car will turn</a:t>
            </a:r>
            <a:endParaRPr lang="en-US" sz="1200" dirty="0"/>
          </a:p>
        </p:txBody>
      </p:sp>
      <p:sp>
        <p:nvSpPr>
          <p:cNvPr id="22" name="card-Enforced in code"/>
          <p:cNvSpPr/>
          <p:nvPr/>
        </p:nvSpPr>
        <p:spPr>
          <a:xfrm>
            <a:off x="8183880" y="1463040"/>
            <a:ext cx="3504895" cy="3246120"/>
          </a:xfrm>
          <a:prstGeom prst="roundRect">
            <a:avLst>
              <a:gd name="adj" fmla="val 2254"/>
            </a:avLst>
          </a:prstGeom>
          <a:solidFill>
            <a:schemeClr val="bg1"/>
          </a:solidFill>
          <a:ln w="9525">
            <a:solidFill>
              <a:srgbClr val="DDD8CC"/>
            </a:solidFill>
            <a:prstDash val="solid"/>
          </a:ln>
        </p:spPr>
      </p:sp>
      <p:sp>
        <p:nvSpPr>
          <p:cNvPr id="23" name="Shape 21"/>
          <p:cNvSpPr/>
          <p:nvPr/>
        </p:nvSpPr>
        <p:spPr>
          <a:xfrm>
            <a:off x="8348472" y="1645920"/>
            <a:ext cx="384048" cy="45720"/>
          </a:xfrm>
          <a:prstGeom prst="rect">
            <a:avLst/>
          </a:prstGeom>
          <a:solidFill>
            <a:schemeClr val="tx2"/>
          </a:solidFill>
          <a:ln w="12700">
            <a:solidFill>
              <a:schemeClr val="tx2"/>
            </a:solidFill>
            <a:prstDash val="solid"/>
          </a:ln>
        </p:spPr>
      </p:sp>
      <p:sp>
        <p:nvSpPr>
          <p:cNvPr id="24" name="card-head-Enforced in "/>
          <p:cNvSpPr txBox="1"/>
          <p:nvPr/>
        </p:nvSpPr>
        <p:spPr>
          <a:xfrm>
            <a:off x="8348472" y="1737360"/>
            <a:ext cx="3175711" cy="292608"/>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Enforced in code</a:t>
            </a:r>
            <a:endParaRPr lang="en-US" sz="1350" dirty="0"/>
          </a:p>
        </p:txBody>
      </p:sp>
      <p:sp>
        <p:nvSpPr>
          <p:cNvPr id="25" name="card-body-Enforced in "/>
          <p:cNvSpPr txBox="1"/>
          <p:nvPr/>
        </p:nvSpPr>
        <p:spPr>
          <a:xfrm>
            <a:off x="8348472" y="2066544"/>
            <a:ext cx="3175711" cy="2551176"/>
          </a:xfrm>
          <a:prstGeom prst="rect">
            <a:avLst/>
          </a:prstGeom>
          <a:noFill/>
          <a:ln/>
        </p:spPr>
        <p:txBody>
          <a:bodyPr wrap="square" lIns="0" tIns="0" rIns="0" bIns="0" rtlCol="0" anchor="t"/>
          <a:lstStyle/>
          <a:p>
            <a:pPr indent="0" marL="0">
              <a:buNone/>
            </a:pPr>
            <a:r>
              <a:rPr lang="en-US" sz="1150" dirty="0">
                <a:solidFill>
                  <a:schemeClr val="tx1"/>
                </a:solidFill>
              </a:rPr>
              <a:t>The controller receives a filtered observation. A test hands it only the allowed keys; reading count, queue, spill or entry occupancy raises an error.</a:t>
            </a:r>
            <a:endParaRPr lang="en-US" sz="1150" dirty="0"/>
          </a:p>
          <a:p>
            <a:pPr indent="0" marL="0">
              <a:buNone/>
            </a:pPr>
            <a:endParaRPr lang="en-US" sz="1150" dirty="0"/>
          </a:p>
          <a:p>
            <a:pPr indent="0" marL="0">
              <a:buNone/>
            </a:pPr>
            <a:r>
              <a:rPr lang="en-US" sz="1150" dirty="0">
                <a:solidFill>
                  <a:schemeClr val="tx1"/>
                </a:solidFill>
              </a:rPr>
              <a:t>True rates are used only as forecast labels (a stand-in for a historical survey) and for scoring.</a:t>
            </a:r>
            <a:endParaRPr lang="en-US" sz="1150" dirty="0"/>
          </a:p>
        </p:txBody>
      </p:sp>
      <p:sp>
        <p:nvSpPr>
          <p:cNvPr id="26" name="Text 24"/>
          <p:cNvSpPr txBox="1"/>
          <p:nvPr/>
        </p:nvSpPr>
        <p:spPr>
          <a:xfrm>
            <a:off x="502920" y="4892040"/>
            <a:ext cx="7315200" cy="292608"/>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counts only (and not cameras)?</a:t>
            </a:r>
            <a:endParaRPr lang="en-US" sz="1350" dirty="0"/>
          </a:p>
        </p:txBody>
      </p:sp>
      <p:sp>
        <p:nvSpPr>
          <p:cNvPr id="27" name="why-counts"/>
          <p:cNvSpPr txBox="1"/>
          <p:nvPr/>
        </p:nvSpPr>
        <p:spPr>
          <a:xfrm>
            <a:off x="502920" y="5230368"/>
            <a:ext cx="11185855" cy="1143000"/>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chemeClr val="tx1"/>
                </a:solidFill>
              </a:rPr>
              <a:t>Practical: </a:t>
            </a:r>
            <a:pPr indent="0" marL="0">
              <a:buNone/>
            </a:pPr>
            <a:r>
              <a:rPr lang="en-US" sz="1150" dirty="0">
                <a:solidFill>
                  <a:schemeClr val="tx1"/>
                </a:solidFill>
              </a:rPr>
              <a:t>loop counters at the boundary are what most cities already have.</a:t>
            </a:r>
            <a:endParaRPr lang="en-US" sz="1200" dirty="0"/>
          </a:p>
          <a:p>
            <a:pPr marL="177800" indent="-177800">
              <a:spcAft>
                <a:spcPts val="300"/>
              </a:spcAft>
              <a:buSzPct val="100000"/>
              <a:buChar char="•"/>
            </a:pPr>
            <a:r>
              <a:rPr lang="en-US" sz="1150" b="1" dirty="0">
                <a:solidFill>
                  <a:schemeClr val="tx1"/>
                </a:solidFill>
              </a:rPr>
              <a:t>On theme: </a:t>
            </a:r>
            <a:pPr indent="0" marL="0">
              <a:buNone/>
            </a:pPr>
            <a:r>
              <a:rPr lang="en-US" sz="1150" dirty="0">
                <a:solidFill>
                  <a:schemeClr val="tx1"/>
                </a:solidFill>
              </a:rPr>
              <a:t>with cameras on every road, each junction could be run on observed queues and there is little to predict. Counts only makes control an estimation and prediction problem.</a:t>
            </a:r>
            <a:endParaRPr lang="en-US" sz="1200" dirty="0"/>
          </a:p>
          <a:p>
            <a:pPr marL="177800" indent="-177800">
              <a:spcAft>
                <a:spcPts val="300"/>
              </a:spcAft>
              <a:buSzPct val="100000"/>
              <a:buChar char="•"/>
            </a:pPr>
            <a:r>
              <a:rPr lang="en-US" sz="1150" b="1" dirty="0">
                <a:solidFill>
                  <a:schemeClr val="tx1"/>
                </a:solidFill>
              </a:rPr>
              <a:t>Cost checked: </a:t>
            </a:r>
            <a:pPr indent="0" marL="0">
              <a:buNone/>
            </a:pPr>
            <a:r>
              <a:rPr lang="en-US" sz="1150" dirty="0">
                <a:solidFill>
                  <a:schemeClr val="tx1"/>
                </a:solidFill>
              </a:rPr>
              <a:t>an earlier camera version read the true queues. Counts only did no worse (typical morning 22% → 30% better than tuned, storm 16% → 15%).</a:t>
            </a:r>
            <a:endParaRPr lang="en-US" sz="12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1 · SIMULATION</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Measurement: one metric, paired comparisons, untouched seeds</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accent1"/>
          </a:solidFill>
          <a:ln w="9525">
            <a:solidFill>
              <a:schemeClr val="accent1"/>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card-Metric: mean delay p"/>
          <p:cNvSpPr/>
          <p:nvPr/>
        </p:nvSpPr>
        <p:spPr>
          <a:xfrm>
            <a:off x="502920" y="1463040"/>
            <a:ext cx="5486400" cy="2011680"/>
          </a:xfrm>
          <a:prstGeom prst="roundRect">
            <a:avLst>
              <a:gd name="adj" fmla="val 3636"/>
            </a:avLst>
          </a:prstGeom>
          <a:solidFill>
            <a:schemeClr val="bg1"/>
          </a:solidFill>
          <a:ln w="9525">
            <a:solidFill>
              <a:srgbClr val="DDD8CC"/>
            </a:solidFill>
            <a:prstDash val="solid"/>
          </a:ln>
        </p:spPr>
      </p:sp>
      <p:sp>
        <p:nvSpPr>
          <p:cNvPr id="13" name="Shape 11"/>
          <p:cNvSpPr/>
          <p:nvPr/>
        </p:nvSpPr>
        <p:spPr>
          <a:xfrm>
            <a:off x="667512" y="1645920"/>
            <a:ext cx="384048" cy="45720"/>
          </a:xfrm>
          <a:prstGeom prst="rect">
            <a:avLst/>
          </a:prstGeom>
          <a:solidFill>
            <a:schemeClr val="accent1"/>
          </a:solidFill>
          <a:ln w="12700">
            <a:solidFill>
              <a:schemeClr val="accent1"/>
            </a:solidFill>
            <a:prstDash val="solid"/>
          </a:ln>
        </p:spPr>
      </p:sp>
      <p:sp>
        <p:nvSpPr>
          <p:cNvPr id="14" name="card-head-Metric: mean"/>
          <p:cNvSpPr txBox="1"/>
          <p:nvPr/>
        </p:nvSpPr>
        <p:spPr>
          <a:xfrm>
            <a:off x="667512" y="1737360"/>
            <a:ext cx="5157216"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Metric: mean delay per car</a:t>
            </a:r>
            <a:endParaRPr lang="en-US" sz="1350" dirty="0"/>
          </a:p>
        </p:txBody>
      </p:sp>
      <p:sp>
        <p:nvSpPr>
          <p:cNvPr id="15" name="card-body-Metric: mean"/>
          <p:cNvSpPr txBox="1"/>
          <p:nvPr/>
        </p:nvSpPr>
        <p:spPr>
          <a:xfrm>
            <a:off x="667512" y="2103120"/>
            <a:ext cx="5157216" cy="1280160"/>
          </a:xfrm>
          <a:prstGeom prst="rect">
            <a:avLst/>
          </a:prstGeom>
          <a:noFill/>
          <a:ln/>
        </p:spPr>
        <p:txBody>
          <a:bodyPr wrap="square" lIns="0" tIns="0" rIns="0" bIns="0" rtlCol="0" anchor="t"/>
          <a:lstStyle/>
          <a:p>
            <a:pPr indent="0" marL="0">
              <a:buNone/>
            </a:pPr>
            <a:r>
              <a:rPr lang="en-US" sz="1150" dirty="0">
                <a:solidFill>
                  <a:schemeClr val="tx1"/>
                </a:solidFill>
              </a:rPr>
              <a:t>Delay = time from the car's creation to exit − distance / free speed. It includes time waiting outside a full entry road and cars still in the network at the end; the first 300 s are discarded. Also reported: 95th percentile, worst entry, throughput, spillback.</a:t>
            </a:r>
            <a:endParaRPr lang="en-US" sz="1150" dirty="0"/>
          </a:p>
        </p:txBody>
      </p:sp>
      <p:sp>
        <p:nvSpPr>
          <p:cNvPr id="16" name="card-Baselines (deliberat"/>
          <p:cNvSpPr/>
          <p:nvPr/>
        </p:nvSpPr>
        <p:spPr>
          <a:xfrm>
            <a:off x="502920" y="3611880"/>
            <a:ext cx="5486400" cy="2697480"/>
          </a:xfrm>
          <a:prstGeom prst="roundRect">
            <a:avLst>
              <a:gd name="adj" fmla="val 2712"/>
            </a:avLst>
          </a:prstGeom>
          <a:solidFill>
            <a:schemeClr val="bg1"/>
          </a:solidFill>
          <a:ln w="9525">
            <a:solidFill>
              <a:srgbClr val="DDD8CC"/>
            </a:solidFill>
            <a:prstDash val="solid"/>
          </a:ln>
        </p:spPr>
      </p:sp>
      <p:sp>
        <p:nvSpPr>
          <p:cNvPr id="17" name="Shape 15"/>
          <p:cNvSpPr/>
          <p:nvPr/>
        </p:nvSpPr>
        <p:spPr>
          <a:xfrm>
            <a:off x="667512" y="3794760"/>
            <a:ext cx="384048" cy="45720"/>
          </a:xfrm>
          <a:prstGeom prst="rect">
            <a:avLst/>
          </a:prstGeom>
          <a:solidFill>
            <a:schemeClr val="tx2"/>
          </a:solidFill>
          <a:ln w="12700">
            <a:solidFill>
              <a:schemeClr val="tx2"/>
            </a:solidFill>
            <a:prstDash val="solid"/>
          </a:ln>
        </p:spPr>
      </p:sp>
      <p:sp>
        <p:nvSpPr>
          <p:cNvPr id="18" name="card-head-Baselines (d"/>
          <p:cNvSpPr txBox="1"/>
          <p:nvPr/>
        </p:nvSpPr>
        <p:spPr>
          <a:xfrm>
            <a:off x="667512" y="3886200"/>
            <a:ext cx="5157216"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Baselines (deliberately strong)</a:t>
            </a:r>
            <a:endParaRPr lang="en-US" sz="1350" dirty="0"/>
          </a:p>
        </p:txBody>
      </p:sp>
      <p:sp>
        <p:nvSpPr>
          <p:cNvPr id="19" name="card-body-Baselines (d"/>
          <p:cNvSpPr txBox="1"/>
          <p:nvPr/>
        </p:nvSpPr>
        <p:spPr>
          <a:xfrm>
            <a:off x="667512" y="4251960"/>
            <a:ext cx="5157216" cy="1965960"/>
          </a:xfrm>
          <a:prstGeom prst="rect">
            <a:avLst/>
          </a:prstGeom>
          <a:noFill/>
          <a:ln/>
        </p:spPr>
        <p:txBody>
          <a:bodyPr wrap="square" lIns="0" tIns="0" rIns="0" bIns="0" rtlCol="0" anchor="t"/>
          <a:lstStyle/>
          <a:p>
            <a:pPr indent="0" marL="0">
              <a:buNone/>
            </a:pPr>
            <a:endParaRPr lang="en-US" sz="1150" dirty="0"/>
          </a:p>
        </p:txBody>
      </p:sp>
      <p:sp>
        <p:nvSpPr>
          <p:cNvPr id="20" name="baselines"/>
          <p:cNvSpPr txBox="1"/>
          <p:nvPr/>
        </p:nvSpPr>
        <p:spPr>
          <a:xfrm>
            <a:off x="667512" y="4261104"/>
            <a:ext cx="5166360" cy="1984248"/>
          </a:xfrm>
          <a:prstGeom prst="rect">
            <a:avLst/>
          </a:prstGeom>
          <a:noFill/>
          <a:ln/>
        </p:spPr>
        <p:txBody>
          <a:bodyPr wrap="square" lIns="0" tIns="0" rIns="0" bIns="0" rtlCol="0" anchor="t"/>
          <a:lstStyle/>
          <a:p>
            <a:pPr marL="177800" indent="-177800">
              <a:spcAft>
                <a:spcPts val="400"/>
              </a:spcAft>
              <a:buSzPct val="100000"/>
              <a:buChar char="•"/>
            </a:pPr>
            <a:r>
              <a:rPr lang="en-US" sz="1150" b="1" dirty="0">
                <a:solidFill>
                  <a:schemeClr val="tx1"/>
                </a:solidFill>
              </a:rPr>
              <a:t>Untuned fixed: </a:t>
            </a:r>
            <a:pPr indent="0" marL="0">
              <a:buNone/>
            </a:pPr>
            <a:r>
              <a:rPr lang="en-US" sz="1150" dirty="0">
                <a:solidFill>
                  <a:schemeClr val="tx1"/>
                </a:solidFill>
              </a:rPr>
              <a:t>60 s cycle, equal splits, green-wave offsets. What “fixed timing” usually means.</a:t>
            </a:r>
            <a:endParaRPr lang="en-US" sz="1200" dirty="0"/>
          </a:p>
          <a:p>
            <a:pPr marL="177800" indent="-177800">
              <a:spcAft>
                <a:spcPts val="400"/>
              </a:spcAft>
              <a:buSzPct val="100000"/>
              <a:buChar char="•"/>
            </a:pPr>
            <a:r>
              <a:rPr lang="en-US" sz="1150" b="1" dirty="0">
                <a:solidFill>
                  <a:schemeClr val="tx1"/>
                </a:solidFill>
              </a:rPr>
              <a:t>Tuned fixed green wave: </a:t>
            </a:r>
            <a:pPr indent="0" marL="0">
              <a:buNone/>
            </a:pPr>
            <a:r>
              <a:rPr lang="en-US" sz="1150" dirty="0">
                <a:solidFill>
                  <a:schemeClr val="tx1"/>
                </a:solidFill>
              </a:rPr>
              <a:t>cycle tuned on each scenario's normal day: 120 s morning, 180 s evening. Applied unchanged to busy, storm, accident and event days.</a:t>
            </a:r>
            <a:endParaRPr lang="en-US" sz="1200" dirty="0"/>
          </a:p>
          <a:p>
            <a:pPr marL="177800" indent="-177800">
              <a:spcAft>
                <a:spcPts val="400"/>
              </a:spcAft>
              <a:buSzPct val="100000"/>
              <a:buChar char="•"/>
            </a:pPr>
            <a:r>
              <a:rPr lang="en-US" sz="1150" b="1" dirty="0">
                <a:solidFill>
                  <a:schemeClr val="tx1"/>
                </a:solidFill>
              </a:rPr>
              <a:t>Max-pressure </a:t>
            </a:r>
            <a:pPr indent="0" marL="0">
              <a:buNone/>
            </a:pPr>
            <a:r>
              <a:rPr lang="en-US" sz="1150" dirty="0">
                <a:solidFill>
                  <a:schemeClr val="tx1"/>
                </a:solidFill>
              </a:rPr>
              <a:t>was tried in the camera version and lost everywhere (backup slide).</a:t>
            </a:r>
            <a:endParaRPr lang="en-US" sz="1200" dirty="0"/>
          </a:p>
        </p:txBody>
      </p:sp>
      <p:sp>
        <p:nvSpPr>
          <p:cNvPr id="21" name="Text 19"/>
          <p:cNvSpPr txBox="1"/>
          <p:nvPr/>
        </p:nvSpPr>
        <p:spPr>
          <a:xfrm>
            <a:off x="6263640" y="1463040"/>
            <a:ext cx="5486400" cy="292608"/>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Seeds and what they are used for</a:t>
            </a:r>
            <a:endParaRPr lang="en-US" sz="1350" dirty="0"/>
          </a:p>
        </p:txBody>
      </p:sp>
      <p:sp>
        <p:nvSpPr>
          <p:cNvPr id="22" name="seed-0–59 + 5000+"/>
          <p:cNvSpPr/>
          <p:nvPr/>
        </p:nvSpPr>
        <p:spPr>
          <a:xfrm>
            <a:off x="6263640" y="1874520"/>
            <a:ext cx="1417320" cy="365760"/>
          </a:xfrm>
          <a:prstGeom prst="roundRect">
            <a:avLst>
              <a:gd name="adj" fmla="val 15000"/>
            </a:avLst>
          </a:prstGeom>
          <a:solidFill>
            <a:schemeClr val="accent4"/>
          </a:solidFill>
          <a:ln w="12700">
            <a:solidFill>
              <a:schemeClr val="accent4"/>
            </a:solidFill>
            <a:prstDash val="solid"/>
          </a:ln>
        </p:spPr>
      </p:sp>
      <p:sp>
        <p:nvSpPr>
          <p:cNvPr id="23" name="Text 21"/>
          <p:cNvSpPr txBox="1"/>
          <p:nvPr/>
        </p:nvSpPr>
        <p:spPr>
          <a:xfrm>
            <a:off x="6263640" y="1874520"/>
            <a:ext cx="1417320" cy="365760"/>
          </a:xfrm>
          <a:prstGeom prst="rect">
            <a:avLst/>
          </a:prstGeom>
          <a:noFill/>
          <a:ln/>
        </p:spPr>
        <p:txBody>
          <a:bodyPr wrap="square" lIns="0" tIns="0" rIns="0" bIns="0" rtlCol="0" anchor="ctr"/>
          <a:lstStyle/>
          <a:p>
            <a:pPr algn="ctr" indent="0" marL="0">
              <a:buNone/>
            </a:pPr>
            <a:r>
              <a:rPr lang="en-US" sz="1100" b="1" dirty="0">
                <a:solidFill>
                  <a:schemeClr val="bg1"/>
                </a:solidFill>
              </a:rPr>
              <a:t>0–59 + 5000+</a:t>
            </a:r>
            <a:endParaRPr lang="en-US" sz="1100" dirty="0"/>
          </a:p>
        </p:txBody>
      </p:sp>
      <p:sp>
        <p:nvSpPr>
          <p:cNvPr id="24" name="Text 22"/>
          <p:cNvSpPr txBox="1"/>
          <p:nvPr/>
        </p:nvSpPr>
        <p:spPr>
          <a:xfrm>
            <a:off x="7818120" y="1874520"/>
            <a:ext cx="3840480" cy="365760"/>
          </a:xfrm>
          <a:prstGeom prst="rect">
            <a:avLst/>
          </a:prstGeom>
          <a:noFill/>
          <a:ln/>
        </p:spPr>
        <p:txBody>
          <a:bodyPr wrap="square" lIns="0" tIns="0" rIns="0" bIns="0" rtlCol="0" anchor="ctr"/>
          <a:lstStyle/>
          <a:p>
            <a:pPr indent="0" marL="0">
              <a:buNone/>
            </a:pPr>
            <a:r>
              <a:rPr lang="en-US" sz="1100" dirty="0">
                <a:solidFill>
                  <a:schemeClr val="tx1"/>
                </a:solidFill>
              </a:rPr>
              <a:t>forecaster history and fresh days</a:t>
            </a:r>
            <a:endParaRPr lang="en-US" sz="1100" dirty="0"/>
          </a:p>
        </p:txBody>
      </p:sp>
      <p:sp>
        <p:nvSpPr>
          <p:cNvPr id="25" name="seed-100–109"/>
          <p:cNvSpPr/>
          <p:nvPr/>
        </p:nvSpPr>
        <p:spPr>
          <a:xfrm>
            <a:off x="6263640" y="2350008"/>
            <a:ext cx="1417320" cy="365760"/>
          </a:xfrm>
          <a:prstGeom prst="roundRect">
            <a:avLst>
              <a:gd name="adj" fmla="val 15000"/>
            </a:avLst>
          </a:prstGeom>
          <a:solidFill>
            <a:schemeClr val="accent1"/>
          </a:solidFill>
          <a:ln w="12700">
            <a:solidFill>
              <a:schemeClr val="accent1"/>
            </a:solidFill>
            <a:prstDash val="solid"/>
          </a:ln>
        </p:spPr>
      </p:sp>
      <p:sp>
        <p:nvSpPr>
          <p:cNvPr id="26" name="Text 24"/>
          <p:cNvSpPr txBox="1"/>
          <p:nvPr/>
        </p:nvSpPr>
        <p:spPr>
          <a:xfrm>
            <a:off x="6263640" y="2350008"/>
            <a:ext cx="1417320" cy="365760"/>
          </a:xfrm>
          <a:prstGeom prst="rect">
            <a:avLst/>
          </a:prstGeom>
          <a:noFill/>
          <a:ln/>
        </p:spPr>
        <p:txBody>
          <a:bodyPr wrap="square" lIns="0" tIns="0" rIns="0" bIns="0" rtlCol="0" anchor="ctr"/>
          <a:lstStyle/>
          <a:p>
            <a:pPr algn="ctr" indent="0" marL="0">
              <a:buNone/>
            </a:pPr>
            <a:r>
              <a:rPr lang="en-US" sz="1100" b="1" dirty="0">
                <a:solidFill>
                  <a:schemeClr val="bg1"/>
                </a:solidFill>
              </a:rPr>
              <a:t>100–109</a:t>
            </a:r>
            <a:endParaRPr lang="en-US" sz="1100" dirty="0"/>
          </a:p>
        </p:txBody>
      </p:sp>
      <p:sp>
        <p:nvSpPr>
          <p:cNvPr id="27" name="Text 25"/>
          <p:cNvSpPr txBox="1"/>
          <p:nvPr/>
        </p:nvSpPr>
        <p:spPr>
          <a:xfrm>
            <a:off x="7818120" y="2350008"/>
            <a:ext cx="3840480" cy="365760"/>
          </a:xfrm>
          <a:prstGeom prst="rect">
            <a:avLst/>
          </a:prstGeom>
          <a:noFill/>
          <a:ln/>
        </p:spPr>
        <p:txBody>
          <a:bodyPr wrap="square" lIns="0" tIns="0" rIns="0" bIns="0" rtlCol="0" anchor="ctr"/>
          <a:lstStyle/>
          <a:p>
            <a:pPr indent="0" marL="0">
              <a:buNone/>
            </a:pPr>
            <a:r>
              <a:rPr lang="en-US" sz="1100" dirty="0">
                <a:solidFill>
                  <a:schemeClr val="tx1"/>
                </a:solidFill>
              </a:rPr>
              <a:t>tuning: baselines, optimiser settings, fallback</a:t>
            </a:r>
            <a:endParaRPr lang="en-US" sz="1100" dirty="0"/>
          </a:p>
        </p:txBody>
      </p:sp>
      <p:sp>
        <p:nvSpPr>
          <p:cNvPr id="28" name="seed-200–209"/>
          <p:cNvSpPr/>
          <p:nvPr/>
        </p:nvSpPr>
        <p:spPr>
          <a:xfrm>
            <a:off x="6263640" y="2825496"/>
            <a:ext cx="1417320" cy="365760"/>
          </a:xfrm>
          <a:prstGeom prst="roundRect">
            <a:avLst>
              <a:gd name="adj" fmla="val 15000"/>
            </a:avLst>
          </a:prstGeom>
          <a:solidFill>
            <a:schemeClr val="accent2"/>
          </a:solidFill>
          <a:ln w="12700">
            <a:solidFill>
              <a:schemeClr val="accent2"/>
            </a:solidFill>
            <a:prstDash val="solid"/>
          </a:ln>
        </p:spPr>
      </p:sp>
      <p:sp>
        <p:nvSpPr>
          <p:cNvPr id="29" name="Text 27"/>
          <p:cNvSpPr txBox="1"/>
          <p:nvPr/>
        </p:nvSpPr>
        <p:spPr>
          <a:xfrm>
            <a:off x="6263640" y="2825496"/>
            <a:ext cx="1417320" cy="365760"/>
          </a:xfrm>
          <a:prstGeom prst="rect">
            <a:avLst/>
          </a:prstGeom>
          <a:noFill/>
          <a:ln/>
        </p:spPr>
        <p:txBody>
          <a:bodyPr wrap="square" lIns="0" tIns="0" rIns="0" bIns="0" rtlCol="0" anchor="ctr"/>
          <a:lstStyle/>
          <a:p>
            <a:pPr algn="ctr" indent="0" marL="0">
              <a:buNone/>
            </a:pPr>
            <a:r>
              <a:rPr lang="en-US" sz="1100" b="1" dirty="0">
                <a:solidFill>
                  <a:schemeClr val="bg1"/>
                </a:solidFill>
              </a:rPr>
              <a:t>200–209</a:t>
            </a:r>
            <a:endParaRPr lang="en-US" sz="1100" dirty="0"/>
          </a:p>
        </p:txBody>
      </p:sp>
      <p:sp>
        <p:nvSpPr>
          <p:cNvPr id="30" name="Text 28"/>
          <p:cNvSpPr txBox="1"/>
          <p:nvPr/>
        </p:nvSpPr>
        <p:spPr>
          <a:xfrm>
            <a:off x="7818120" y="2825496"/>
            <a:ext cx="3840480" cy="365760"/>
          </a:xfrm>
          <a:prstGeom prst="rect">
            <a:avLst/>
          </a:prstGeom>
          <a:noFill/>
          <a:ln/>
        </p:spPr>
        <p:txBody>
          <a:bodyPr wrap="square" lIns="0" tIns="0" rIns="0" bIns="0" rtlCol="0" anchor="ctr"/>
          <a:lstStyle/>
          <a:p>
            <a:pPr indent="0" marL="0">
              <a:buNone/>
            </a:pPr>
            <a:r>
              <a:rPr lang="en-US" sz="1100" dirty="0">
                <a:solidFill>
                  <a:schemeClr val="tx1"/>
                </a:solidFill>
              </a:rPr>
              <a:t>held-out evaluation (never tuned on)</a:t>
            </a:r>
            <a:endParaRPr lang="en-US" sz="1100" dirty="0"/>
          </a:p>
        </p:txBody>
      </p:sp>
      <p:sp>
        <p:nvSpPr>
          <p:cNvPr id="31" name="seed-300"/>
          <p:cNvSpPr/>
          <p:nvPr/>
        </p:nvSpPr>
        <p:spPr>
          <a:xfrm>
            <a:off x="6263640" y="3300984"/>
            <a:ext cx="1417320" cy="365760"/>
          </a:xfrm>
          <a:prstGeom prst="roundRect">
            <a:avLst>
              <a:gd name="adj" fmla="val 15000"/>
            </a:avLst>
          </a:prstGeom>
          <a:solidFill>
            <a:schemeClr val="tx2"/>
          </a:solidFill>
          <a:ln w="12700">
            <a:solidFill>
              <a:schemeClr val="tx2"/>
            </a:solidFill>
            <a:prstDash val="solid"/>
          </a:ln>
        </p:spPr>
      </p:sp>
      <p:sp>
        <p:nvSpPr>
          <p:cNvPr id="32" name="Text 30"/>
          <p:cNvSpPr txBox="1"/>
          <p:nvPr/>
        </p:nvSpPr>
        <p:spPr>
          <a:xfrm>
            <a:off x="6263640" y="3300984"/>
            <a:ext cx="1417320" cy="365760"/>
          </a:xfrm>
          <a:prstGeom prst="rect">
            <a:avLst/>
          </a:prstGeom>
          <a:noFill/>
          <a:ln/>
        </p:spPr>
        <p:txBody>
          <a:bodyPr wrap="square" lIns="0" tIns="0" rIns="0" bIns="0" rtlCol="0" anchor="ctr"/>
          <a:lstStyle/>
          <a:p>
            <a:pPr algn="ctr" indent="0" marL="0">
              <a:buNone/>
            </a:pPr>
            <a:r>
              <a:rPr lang="en-US" sz="1100" b="1" dirty="0">
                <a:solidFill>
                  <a:schemeClr val="bg1"/>
                </a:solidFill>
              </a:rPr>
              <a:t>300</a:t>
            </a:r>
            <a:endParaRPr lang="en-US" sz="1100" dirty="0"/>
          </a:p>
        </p:txBody>
      </p:sp>
      <p:sp>
        <p:nvSpPr>
          <p:cNvPr id="33" name="Text 31"/>
          <p:cNvSpPr txBox="1"/>
          <p:nvPr/>
        </p:nvSpPr>
        <p:spPr>
          <a:xfrm>
            <a:off x="7818120" y="3300984"/>
            <a:ext cx="3840480" cy="365760"/>
          </a:xfrm>
          <a:prstGeom prst="rect">
            <a:avLst/>
          </a:prstGeom>
          <a:noFill/>
          <a:ln/>
        </p:spPr>
        <p:txBody>
          <a:bodyPr wrap="square" lIns="0" tIns="0" rIns="0" bIns="0" rtlCol="0" anchor="ctr"/>
          <a:lstStyle/>
          <a:p>
            <a:pPr indent="0" marL="0">
              <a:buNone/>
            </a:pPr>
            <a:r>
              <a:rPr lang="en-US" sz="1100" dirty="0">
                <a:solidFill>
                  <a:schemeClr val="tx1"/>
                </a:solidFill>
              </a:rPr>
              <a:t>demo clips</a:t>
            </a:r>
            <a:endParaRPr lang="en-US" sz="1100" dirty="0"/>
          </a:p>
        </p:txBody>
      </p:sp>
      <p:sp>
        <p:nvSpPr>
          <p:cNvPr id="34" name="card-Common random number"/>
          <p:cNvSpPr/>
          <p:nvPr/>
        </p:nvSpPr>
        <p:spPr>
          <a:xfrm>
            <a:off x="6263640" y="3886200"/>
            <a:ext cx="5425135" cy="2423160"/>
          </a:xfrm>
          <a:prstGeom prst="roundRect">
            <a:avLst>
              <a:gd name="adj" fmla="val 3019"/>
            </a:avLst>
          </a:prstGeom>
          <a:solidFill>
            <a:schemeClr val="bg1"/>
          </a:solidFill>
          <a:ln w="9525">
            <a:solidFill>
              <a:srgbClr val="DDD8CC"/>
            </a:solidFill>
            <a:prstDash val="solid"/>
          </a:ln>
        </p:spPr>
      </p:sp>
      <p:sp>
        <p:nvSpPr>
          <p:cNvPr id="35" name="Shape 33"/>
          <p:cNvSpPr/>
          <p:nvPr/>
        </p:nvSpPr>
        <p:spPr>
          <a:xfrm>
            <a:off x="6428232" y="4069080"/>
            <a:ext cx="384048" cy="45720"/>
          </a:xfrm>
          <a:prstGeom prst="rect">
            <a:avLst/>
          </a:prstGeom>
          <a:solidFill>
            <a:schemeClr val="accent2"/>
          </a:solidFill>
          <a:ln w="12700">
            <a:solidFill>
              <a:schemeClr val="accent2"/>
            </a:solidFill>
            <a:prstDash val="solid"/>
          </a:ln>
        </p:spPr>
      </p:sp>
      <p:sp>
        <p:nvSpPr>
          <p:cNvPr id="36" name="card-head-Common rando"/>
          <p:cNvSpPr txBox="1"/>
          <p:nvPr/>
        </p:nvSpPr>
        <p:spPr>
          <a:xfrm>
            <a:off x="6428232" y="4160520"/>
            <a:ext cx="5095951"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Common random numbers</a:t>
            </a:r>
            <a:endParaRPr lang="en-US" sz="1350" dirty="0"/>
          </a:p>
        </p:txBody>
      </p:sp>
      <p:sp>
        <p:nvSpPr>
          <p:cNvPr id="37" name="card-body-Common rando"/>
          <p:cNvSpPr txBox="1"/>
          <p:nvPr/>
        </p:nvSpPr>
        <p:spPr>
          <a:xfrm>
            <a:off x="6428232" y="4526280"/>
            <a:ext cx="5095951" cy="1691640"/>
          </a:xfrm>
          <a:prstGeom prst="rect">
            <a:avLst/>
          </a:prstGeom>
          <a:noFill/>
          <a:ln/>
        </p:spPr>
        <p:txBody>
          <a:bodyPr wrap="square" lIns="0" tIns="0" rIns="0" bIns="0" rtlCol="0" anchor="t"/>
          <a:lstStyle/>
          <a:p>
            <a:pPr indent="0" marL="0">
              <a:buNone/>
            </a:pPr>
            <a:r>
              <a:rPr lang="en-US" sz="1150" dirty="0">
                <a:solidFill>
                  <a:schemeClr val="tx1"/>
                </a:solidFill>
              </a:rPr>
              <a:t>Each car's arrival time and turns are drawn at creation from per-purpose seeded streams, so for a given scenario and seed every controller faces exactly the same cars. Comparisons are paired by seed; intervals are 95% t-intervals on the per-seed saving (10 seeds; 3 for busy and storm). The stadium event was added after every setting was frozen.</a:t>
            </a:r>
            <a:endParaRPr lang="en-US" sz="115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2 · FORECASTER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Forecast arrivals at each entrance, 5 to 15 minutes ahead</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accent1"/>
          </a:solidFill>
          <a:ln w="9525">
            <a:solidFill>
              <a:schemeClr val="accent1"/>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card-Target and labels"/>
          <p:cNvSpPr/>
          <p:nvPr/>
        </p:nvSpPr>
        <p:spPr>
          <a:xfrm>
            <a:off x="502920" y="1463040"/>
            <a:ext cx="3657600" cy="2331720"/>
          </a:xfrm>
          <a:prstGeom prst="roundRect">
            <a:avLst>
              <a:gd name="adj" fmla="val 3137"/>
            </a:avLst>
          </a:prstGeom>
          <a:solidFill>
            <a:schemeClr val="bg1"/>
          </a:solidFill>
          <a:ln w="9525">
            <a:solidFill>
              <a:srgbClr val="DDD8CC"/>
            </a:solidFill>
            <a:prstDash val="solid"/>
          </a:ln>
        </p:spPr>
      </p:sp>
      <p:sp>
        <p:nvSpPr>
          <p:cNvPr id="13" name="Shape 11"/>
          <p:cNvSpPr/>
          <p:nvPr/>
        </p:nvSpPr>
        <p:spPr>
          <a:xfrm>
            <a:off x="667512" y="1645920"/>
            <a:ext cx="384048" cy="45720"/>
          </a:xfrm>
          <a:prstGeom prst="rect">
            <a:avLst/>
          </a:prstGeom>
          <a:solidFill>
            <a:schemeClr val="accent4"/>
          </a:solidFill>
          <a:ln w="12700">
            <a:solidFill>
              <a:schemeClr val="accent4"/>
            </a:solidFill>
            <a:prstDash val="solid"/>
          </a:ln>
        </p:spPr>
      </p:sp>
      <p:sp>
        <p:nvSpPr>
          <p:cNvPr id="14" name="card-head-Target and l"/>
          <p:cNvSpPr txBox="1"/>
          <p:nvPr/>
        </p:nvSpPr>
        <p:spPr>
          <a:xfrm>
            <a:off x="667512" y="1737360"/>
            <a:ext cx="3328416"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Target and labels</a:t>
            </a:r>
            <a:endParaRPr lang="en-US" sz="1350" dirty="0"/>
          </a:p>
        </p:txBody>
      </p:sp>
      <p:sp>
        <p:nvSpPr>
          <p:cNvPr id="15" name="card-body-Target and l"/>
          <p:cNvSpPr txBox="1"/>
          <p:nvPr/>
        </p:nvSpPr>
        <p:spPr>
          <a:xfrm>
            <a:off x="667512" y="2103120"/>
            <a:ext cx="3328416" cy="1600200"/>
          </a:xfrm>
          <a:prstGeom prst="rect">
            <a:avLst/>
          </a:prstGeom>
          <a:noFill/>
          <a:ln/>
        </p:spPr>
        <p:txBody>
          <a:bodyPr wrap="square" lIns="0" tIns="0" rIns="0" bIns="0" rtlCol="0" anchor="t"/>
          <a:lstStyle/>
          <a:p>
            <a:pPr indent="0" marL="0">
              <a:buNone/>
            </a:pPr>
            <a:r>
              <a:rPr lang="en-US" sz="1150" dirty="0">
                <a:solidFill>
                  <a:schemeClr val="tx1"/>
                </a:solidFill>
              </a:rPr>
              <a:t>The true arrival rate at each of the 8 entrances in the 5-min windows +5, +10 and +15 min ahead, issued every 5 minutes. One global model, horizon as a feature.</a:t>
            </a:r>
            <a:endParaRPr lang="en-US" sz="1150" dirty="0"/>
          </a:p>
          <a:p>
            <a:pPr indent="0" marL="0">
              <a:buNone/>
            </a:pPr>
            <a:endParaRPr lang="en-US" sz="1150" dirty="0"/>
          </a:p>
          <a:p>
            <a:pPr indent="0" marL="0">
              <a:buNone/>
            </a:pPr>
            <a:r>
              <a:rPr lang="en-US" sz="1150" dirty="0">
                <a:solidFill>
                  <a:schemeClr val="tx1"/>
                </a:solidFill>
              </a:rPr>
              <a:t>Labels are true rates (stand-in for a historical survey); inputs are only what is visible at time t.</a:t>
            </a:r>
            <a:endParaRPr lang="en-US" sz="1150" dirty="0"/>
          </a:p>
        </p:txBody>
      </p:sp>
      <p:sp>
        <p:nvSpPr>
          <p:cNvPr id="16" name="card-Data and validation"/>
          <p:cNvSpPr/>
          <p:nvPr/>
        </p:nvSpPr>
        <p:spPr>
          <a:xfrm>
            <a:off x="502920" y="3931920"/>
            <a:ext cx="3657600" cy="2377440"/>
          </a:xfrm>
          <a:prstGeom prst="roundRect">
            <a:avLst>
              <a:gd name="adj" fmla="val 3077"/>
            </a:avLst>
          </a:prstGeom>
          <a:solidFill>
            <a:schemeClr val="bg1"/>
          </a:solidFill>
          <a:ln w="9525">
            <a:solidFill>
              <a:srgbClr val="DDD8CC"/>
            </a:solidFill>
            <a:prstDash val="solid"/>
          </a:ln>
        </p:spPr>
      </p:sp>
      <p:sp>
        <p:nvSpPr>
          <p:cNvPr id="17" name="Shape 15"/>
          <p:cNvSpPr/>
          <p:nvPr/>
        </p:nvSpPr>
        <p:spPr>
          <a:xfrm>
            <a:off x="667512" y="4114800"/>
            <a:ext cx="384048" cy="45720"/>
          </a:xfrm>
          <a:prstGeom prst="rect">
            <a:avLst/>
          </a:prstGeom>
          <a:solidFill>
            <a:schemeClr val="tx2"/>
          </a:solidFill>
          <a:ln w="12700">
            <a:solidFill>
              <a:schemeClr val="tx2"/>
            </a:solidFill>
            <a:prstDash val="solid"/>
          </a:ln>
        </p:spPr>
      </p:sp>
      <p:sp>
        <p:nvSpPr>
          <p:cNvPr id="18" name="card-head-Data and val"/>
          <p:cNvSpPr txBox="1"/>
          <p:nvPr/>
        </p:nvSpPr>
        <p:spPr>
          <a:xfrm>
            <a:off x="667512" y="4206240"/>
            <a:ext cx="3328416"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Data and validation</a:t>
            </a:r>
            <a:endParaRPr lang="en-US" sz="1350" dirty="0"/>
          </a:p>
        </p:txBody>
      </p:sp>
      <p:sp>
        <p:nvSpPr>
          <p:cNvPr id="19" name="card-body-Data and val"/>
          <p:cNvSpPr txBox="1"/>
          <p:nvPr/>
        </p:nvSpPr>
        <p:spPr>
          <a:xfrm>
            <a:off x="667512" y="4572000"/>
            <a:ext cx="3328416" cy="1645920"/>
          </a:xfrm>
          <a:prstGeom prst="rect">
            <a:avLst/>
          </a:prstGeom>
          <a:noFill/>
          <a:ln/>
        </p:spPr>
        <p:txBody>
          <a:bodyPr wrap="square" lIns="0" tIns="0" rIns="0" bIns="0" rtlCol="0" anchor="t"/>
          <a:lstStyle/>
          <a:p>
            <a:pPr indent="0" marL="0">
              <a:buNone/>
            </a:pPr>
            <a:r>
              <a:rPr lang="en-US" sz="1150" dirty="0">
                <a:solidFill>
                  <a:schemeClr val="tx1"/>
                </a:solidFill>
              </a:rPr>
              <a:t>60 simulated days (05:00–21:00) under the 60 s plan. Split by whole days in time order: 40 train / 10 validation / 10 test, plus 10 fresh days never used for any decision. 33 events in all (10 / 8 / 7 / 8).</a:t>
            </a:r>
            <a:endParaRPr lang="en-US" sz="1150" dirty="0"/>
          </a:p>
          <a:p>
            <a:pPr indent="0" marL="0">
              <a:buNone/>
            </a:pPr>
            <a:endParaRPr lang="en-US" sz="1150" dirty="0"/>
          </a:p>
          <a:p>
            <a:pPr indent="0" marL="0">
              <a:buNone/>
            </a:pPr>
            <a:r>
              <a:rPr lang="en-US" sz="1150" dirty="0">
                <a:solidFill>
                  <a:schemeClr val="tx1"/>
                </a:solidFill>
              </a:rPr>
              <a:t>Whole days, not random rows: neighbouring windows are autocorrelated, so random splits leak.</a:t>
            </a:r>
            <a:endParaRPr lang="en-US" sz="1150" dirty="0"/>
          </a:p>
        </p:txBody>
      </p:sp>
      <p:sp>
        <p:nvSpPr>
          <p:cNvPr id="20" name="Text 18"/>
          <p:cNvSpPr txBox="1"/>
          <p:nvPr/>
        </p:nvSpPr>
        <p:spPr>
          <a:xfrm>
            <a:off x="4434840" y="1463040"/>
            <a:ext cx="7315200" cy="292608"/>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Features (all available at time t; tested to use the past only)</a:t>
            </a:r>
            <a:endParaRPr lang="en-US" sz="135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4434840" y="1828800"/>
          <a:ext cx="7253935" cy="914400"/>
        </p:xfrm>
        <a:graphic>
          <a:graphicData uri="http://schemas.openxmlformats.org/drawingml/2006/table">
            <a:tbl>
              <a:tblPr/>
              <a:tblGrid>
                <a:gridCol w="1325880"/>
                <a:gridCol w="3657600"/>
                <a:gridCol w="2267712"/>
              </a:tblGrid>
              <a:tr h="256032">
                <a:tc>
                  <a:txBody>
                    <a:bodyPr/>
                    <a:lstStyle/>
                    <a:p>
                      <a:pPr algn="l" indent="0" marL="0">
                        <a:buNone/>
                      </a:pPr>
                      <a:r>
                        <a:rPr lang="en-US" sz="1000" b="1" dirty="0">
                          <a:solidFill>
                            <a:schemeClr val="bg1"/>
                          </a:solidFill>
                        </a:rPr>
                        <a:t>Group</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Features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Captures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b="1" dirty="0">
                          <a:solidFill>
                            <a:schemeClr val="tx1"/>
                          </a:solidFill>
                        </a:rPr>
                        <a:t>Clock</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sin / cos harmonics of the hour being forecast, × entry; weekday / weekend; horizon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The daily profile and tide, per entrance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Live counts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Last six 5-min counts, their 30-min mean, network total</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Today's level and timing shift (nowcast)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Weather</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Rain now; noisy rain forecast for the window</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Rain's +10% demand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Event calendar</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log(1 + announced extra demand) now and in the target window; recent calendar values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Scheduled surges, before the cars arrive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Excluded (tested)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True rate now, road occupancy, queues, the real crowd size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Would be leakage or unavailable sensors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bl>
          </a:graphicData>
        </a:graphic>
      </p:graphicFrame>
      <p:sp>
        <p:nvSpPr>
          <p:cNvPr id="22" name="card-Censoring guard"/>
          <p:cNvSpPr/>
          <p:nvPr/>
        </p:nvSpPr>
        <p:spPr>
          <a:xfrm>
            <a:off x="4434840" y="4892040"/>
            <a:ext cx="7253935" cy="1417320"/>
          </a:xfrm>
          <a:prstGeom prst="roundRect">
            <a:avLst>
              <a:gd name="adj" fmla="val 5161"/>
            </a:avLst>
          </a:prstGeom>
          <a:solidFill>
            <a:schemeClr val="bg1"/>
          </a:solidFill>
          <a:ln w="9525">
            <a:solidFill>
              <a:srgbClr val="DDD8CC"/>
            </a:solidFill>
            <a:prstDash val="solid"/>
          </a:ln>
        </p:spPr>
      </p:sp>
      <p:sp>
        <p:nvSpPr>
          <p:cNvPr id="23" name="Shape 20"/>
          <p:cNvSpPr/>
          <p:nvPr/>
        </p:nvSpPr>
        <p:spPr>
          <a:xfrm>
            <a:off x="4599432" y="5074920"/>
            <a:ext cx="384048" cy="45720"/>
          </a:xfrm>
          <a:prstGeom prst="rect">
            <a:avLst/>
          </a:prstGeom>
          <a:solidFill>
            <a:schemeClr val="accent3"/>
          </a:solidFill>
          <a:ln w="12700">
            <a:solidFill>
              <a:schemeClr val="accent3"/>
            </a:solidFill>
            <a:prstDash val="solid"/>
          </a:ln>
        </p:spPr>
      </p:sp>
      <p:sp>
        <p:nvSpPr>
          <p:cNvPr id="24" name="card-head-Censoring gu"/>
          <p:cNvSpPr txBox="1"/>
          <p:nvPr/>
        </p:nvSpPr>
        <p:spPr>
          <a:xfrm>
            <a:off x="4599432" y="5166360"/>
            <a:ext cx="6924751" cy="274320"/>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Censoring guard</a:t>
            </a:r>
            <a:endParaRPr lang="en-US" sz="1350" dirty="0"/>
          </a:p>
        </p:txBody>
      </p:sp>
      <p:sp>
        <p:nvSpPr>
          <p:cNvPr id="25" name="card-body-Censoring gu"/>
          <p:cNvSpPr txBox="1"/>
          <p:nvPr/>
        </p:nvSpPr>
        <p:spPr>
          <a:xfrm>
            <a:off x="4599432" y="5477256"/>
            <a:ext cx="6924751" cy="740664"/>
          </a:xfrm>
          <a:prstGeom prst="rect">
            <a:avLst/>
          </a:prstGeom>
          <a:noFill/>
          <a:ln/>
        </p:spPr>
        <p:txBody>
          <a:bodyPr wrap="square" lIns="0" tIns="0" rIns="0" bIns="0" rtlCol="0" anchor="t"/>
          <a:lstStyle/>
          <a:p>
            <a:pPr indent="0" marL="0">
              <a:buNone/>
            </a:pPr>
            <a:r>
              <a:rPr lang="en-US" sz="1150" dirty="0">
                <a:solidFill>
                  <a:schemeClr val="tx1"/>
                </a:solidFill>
              </a:rPr>
              <a:t>When an entry road is estimated full (≥ 55 of ~61 cars) in the last 15 minutes, its counter is measuring the blockage, not the demand. The forecast then falls back to profile × a level multiplier built from clean data × the calendar.</a:t>
            </a:r>
            <a:endParaRPr lang="en-US" sz="115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2 · FORECASTER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Why a Poisson GLM: it matches how the data is generated</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accent1"/>
          </a:solidFill>
          <a:ln w="9525">
            <a:solidFill>
              <a:schemeClr val="accent1"/>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7315200" cy="914400"/>
        </p:xfrm>
        <a:graphic>
          <a:graphicData uri="http://schemas.openxmlformats.org/drawingml/2006/table">
            <a:tbl>
              <a:tblPr/>
              <a:tblGrid>
                <a:gridCol w="2148840"/>
                <a:gridCol w="1874520"/>
                <a:gridCol w="822960"/>
                <a:gridCol w="868680"/>
                <a:gridCol w="1600200"/>
              </a:tblGrid>
              <a:tr h="256032">
                <a:tc>
                  <a:txBody>
                    <a:bodyPr/>
                    <a:lstStyle/>
                    <a:p>
                      <a:pPr algn="l" indent="0" marL="0">
                        <a:buNone/>
                      </a:pPr>
                      <a:r>
                        <a:rPr lang="en-US" sz="1000" b="1" dirty="0">
                          <a:solidFill>
                            <a:schemeClr val="bg1"/>
                          </a:solidFill>
                        </a:rPr>
                        <a:t>Model</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Why consider it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Error (all)</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Error (events)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Verdict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dirty="0">
                          <a:solidFill>
                            <a:schemeClr val="tx1"/>
                          </a:solidFill>
                        </a:rPr>
                        <a:t>Raw count carried forward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Naive benchmark</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24.0%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A 5-min count is mostly Poisson noise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Hour-of-day profile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The typical day</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10.4%</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40.4%</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Misses today's level, shift and events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dirty="0">
                          <a:solidFill>
                            <a:schemeClr val="tx1"/>
                          </a:solidFill>
                        </a:rPr>
                        <a:t>Profile × rain × event calendar</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Patterns only, no live counts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9.7%</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18.4%</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Calendar alone halves event error</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Poisson GLM + live counts + guard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l" indent="0" marL="0">
                        <a:buNone/>
                      </a:pPr>
                      <a:r>
                        <a:rPr lang="en-US" sz="1050" b="1" dirty="0">
                          <a:solidFill>
                            <a:schemeClr val="tx1"/>
                          </a:solidFill>
                        </a:rPr>
                        <a:t>Counts; log link = multiplicative effects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7.1%</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13.3%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l" indent="0" marL="0">
                        <a:buNone/>
                      </a:pPr>
                      <a:r>
                        <a:rPr lang="en-US" sz="1050" b="1" dirty="0">
                          <a:solidFill>
                            <a:schemeClr val="tx1"/>
                          </a:solidFill>
                        </a:rPr>
                        <a:t>Chosen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r>
              <a:tr h="256032">
                <a:tc>
                  <a:txBody>
                    <a:bodyPr/>
                    <a:lstStyle/>
                    <a:p>
                      <a:pPr algn="l" indent="0" marL="0">
                        <a:buNone/>
                      </a:pPr>
                      <a:r>
                        <a:rPr lang="en-US" sz="1050" dirty="0">
                          <a:solidFill>
                            <a:schemeClr val="tx1"/>
                          </a:solidFill>
                        </a:rPr>
                        <a:t>Gradient boosting (Poisson loss) + counts + guard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Flexible check for missed interactions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7.3%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20.6%</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Level overall, worse on rare events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Deep sequence models (LSTM, transformers)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Popular for traffic</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not fitted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60 days × 8 entries; structure known; boosting found nothing more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13" name="Text 10"/>
          <p:cNvSpPr txBox="1"/>
          <p:nvPr/>
        </p:nvSpPr>
        <p:spPr>
          <a:xfrm>
            <a:off x="502920" y="5120640"/>
            <a:ext cx="7315200" cy="457200"/>
          </a:xfrm>
          <a:prstGeom prst="rect">
            <a:avLst/>
          </a:prstGeom>
          <a:noFill/>
          <a:ln/>
        </p:spPr>
        <p:txBody>
          <a:bodyPr wrap="square" lIns="0" tIns="0" rIns="0" bIns="0" rtlCol="0" anchor="t"/>
          <a:lstStyle/>
          <a:p>
            <a:pPr indent="0" marL="0">
              <a:buNone/>
            </a:pPr>
            <a:r>
              <a:rPr lang="en-US" sz="950" i="1" dirty="0">
                <a:solidFill>
                  <a:schemeClr val="accent5"/>
                </a:solidFill>
              </a:rPr>
              <a:t>Error = mean absolute error as % of the mean true rate, 20 held-out days (test + fresh), averaged over +5/+10/+15 min. Events: 5 min ahead, event windows only.</a:t>
            </a:r>
            <a:endParaRPr lang="en-US" sz="950" dirty="0"/>
          </a:p>
        </p:txBody>
      </p:sp>
      <p:sp>
        <p:nvSpPr>
          <p:cNvPr id="14" name="card-Why a GLM"/>
          <p:cNvSpPr/>
          <p:nvPr/>
        </p:nvSpPr>
        <p:spPr>
          <a:xfrm>
            <a:off x="8092440" y="1463040"/>
            <a:ext cx="3596335" cy="2697480"/>
          </a:xfrm>
          <a:prstGeom prst="roundRect">
            <a:avLst>
              <a:gd name="adj" fmla="val 2712"/>
            </a:avLst>
          </a:prstGeom>
          <a:solidFill>
            <a:schemeClr val="bg1"/>
          </a:solidFill>
          <a:ln w="9525">
            <a:solidFill>
              <a:srgbClr val="DDD8CC"/>
            </a:solidFill>
            <a:prstDash val="solid"/>
          </a:ln>
        </p:spPr>
      </p:sp>
      <p:sp>
        <p:nvSpPr>
          <p:cNvPr id="15" name="Shape 12"/>
          <p:cNvSpPr/>
          <p:nvPr/>
        </p:nvSpPr>
        <p:spPr>
          <a:xfrm>
            <a:off x="8257032" y="1645920"/>
            <a:ext cx="384048" cy="45720"/>
          </a:xfrm>
          <a:prstGeom prst="rect">
            <a:avLst/>
          </a:prstGeom>
          <a:solidFill>
            <a:schemeClr val="accent4"/>
          </a:solidFill>
          <a:ln w="12700">
            <a:solidFill>
              <a:schemeClr val="accent4"/>
            </a:solidFill>
            <a:prstDash val="solid"/>
          </a:ln>
        </p:spPr>
      </p:sp>
      <p:sp>
        <p:nvSpPr>
          <p:cNvPr id="16" name="card-head-Why a GLM"/>
          <p:cNvSpPr txBox="1"/>
          <p:nvPr/>
        </p:nvSpPr>
        <p:spPr>
          <a:xfrm>
            <a:off x="8257032" y="1737360"/>
            <a:ext cx="3267151"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a GLM</a:t>
            </a:r>
            <a:endParaRPr lang="en-US" sz="1350" dirty="0"/>
          </a:p>
        </p:txBody>
      </p:sp>
      <p:sp>
        <p:nvSpPr>
          <p:cNvPr id="17" name="card-body-Why a GLM"/>
          <p:cNvSpPr txBox="1"/>
          <p:nvPr/>
        </p:nvSpPr>
        <p:spPr>
          <a:xfrm>
            <a:off x="8257032" y="2103120"/>
            <a:ext cx="3267151" cy="1965960"/>
          </a:xfrm>
          <a:prstGeom prst="rect">
            <a:avLst/>
          </a:prstGeom>
          <a:noFill/>
          <a:ln/>
        </p:spPr>
        <p:txBody>
          <a:bodyPr wrap="square" lIns="0" tIns="0" rIns="0" bIns="0" rtlCol="0" anchor="t"/>
          <a:lstStyle/>
          <a:p>
            <a:pPr indent="0" marL="0">
              <a:buNone/>
            </a:pPr>
            <a:r>
              <a:rPr lang="en-US" sz="1150" dirty="0">
                <a:solidFill>
                  <a:schemeClr val="tx1"/>
                </a:solidFill>
              </a:rPr>
              <a:t>Counts → Poisson likelihood. Demand is a product of effects → log link makes them additive. With the calendar entered as log(1 + announced), a coefficient of 1 reproduces the event multiplier exactly, so the model can carry over to an event it has never seen.</a:t>
            </a:r>
            <a:endParaRPr lang="en-US" sz="1150" dirty="0"/>
          </a:p>
        </p:txBody>
      </p:sp>
      <p:sp>
        <p:nvSpPr>
          <p:cNvPr id="18" name="card-Why not boosting"/>
          <p:cNvSpPr/>
          <p:nvPr/>
        </p:nvSpPr>
        <p:spPr>
          <a:xfrm>
            <a:off x="8092440" y="4297680"/>
            <a:ext cx="3596335" cy="2011680"/>
          </a:xfrm>
          <a:prstGeom prst="roundRect">
            <a:avLst>
              <a:gd name="adj" fmla="val 3636"/>
            </a:avLst>
          </a:prstGeom>
          <a:solidFill>
            <a:schemeClr val="bg1"/>
          </a:solidFill>
          <a:ln w="9525">
            <a:solidFill>
              <a:srgbClr val="DDD8CC"/>
            </a:solidFill>
            <a:prstDash val="solid"/>
          </a:ln>
        </p:spPr>
      </p:sp>
      <p:sp>
        <p:nvSpPr>
          <p:cNvPr id="19" name="Shape 16"/>
          <p:cNvSpPr/>
          <p:nvPr/>
        </p:nvSpPr>
        <p:spPr>
          <a:xfrm>
            <a:off x="8257032" y="4480560"/>
            <a:ext cx="384048" cy="45720"/>
          </a:xfrm>
          <a:prstGeom prst="rect">
            <a:avLst/>
          </a:prstGeom>
          <a:solidFill>
            <a:schemeClr val="accent5"/>
          </a:solidFill>
          <a:ln w="12700">
            <a:solidFill>
              <a:schemeClr val="accent5"/>
            </a:solidFill>
            <a:prstDash val="solid"/>
          </a:ln>
        </p:spPr>
      </p:sp>
      <p:sp>
        <p:nvSpPr>
          <p:cNvPr id="20" name="card-head-Why not boos"/>
          <p:cNvSpPr txBox="1"/>
          <p:nvPr/>
        </p:nvSpPr>
        <p:spPr>
          <a:xfrm>
            <a:off x="8257032" y="4572000"/>
            <a:ext cx="3267151"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not boosting</a:t>
            </a:r>
            <a:endParaRPr lang="en-US" sz="1350" dirty="0"/>
          </a:p>
        </p:txBody>
      </p:sp>
      <p:sp>
        <p:nvSpPr>
          <p:cNvPr id="21" name="card-body-Why not boos"/>
          <p:cNvSpPr txBox="1"/>
          <p:nvPr/>
        </p:nvSpPr>
        <p:spPr>
          <a:xfrm>
            <a:off x="8257032" y="4937760"/>
            <a:ext cx="3267151" cy="1280160"/>
          </a:xfrm>
          <a:prstGeom prst="rect">
            <a:avLst/>
          </a:prstGeom>
          <a:noFill/>
          <a:ln/>
        </p:spPr>
        <p:txBody>
          <a:bodyPr wrap="square" lIns="0" tIns="0" rIns="0" bIns="0" rtlCol="0" anchor="t"/>
          <a:lstStyle/>
          <a:p>
            <a:pPr indent="0" marL="0">
              <a:buNone/>
            </a:pPr>
            <a:r>
              <a:rPr lang="en-US" sz="1150" dirty="0">
                <a:solidFill>
                  <a:schemeClr val="tx1"/>
                </a:solidFill>
              </a:rPr>
              <a:t>Same accuracy on normal days. On events it is clearly worse: with only 18 events in train + validation, trees with 200-row minimum leaves cannot learn a rare situation; a multiplicative term can.</a:t>
            </a:r>
            <a:endParaRPr lang="en-US" sz="1150" dirty="0"/>
          </a:p>
        </p:txBody>
      </p:sp>
      <p:sp>
        <p:nvSpPr>
          <p:cNvPr id="22" name="Text 19"/>
          <p:cNvSpPr txBox="1"/>
          <p:nvPr/>
        </p:nvSpPr>
        <p:spPr>
          <a:xfrm>
            <a:off x="502920" y="5669280"/>
            <a:ext cx="7315200" cy="548640"/>
          </a:xfrm>
          <a:prstGeom prst="rect">
            <a:avLst/>
          </a:prstGeom>
          <a:noFill/>
          <a:ln/>
        </p:spPr>
        <p:txBody>
          <a:bodyPr wrap="square" lIns="0" tIns="0" rIns="0" bIns="0" rtlCol="0" anchor="t"/>
          <a:lstStyle/>
          <a:p>
            <a:pPr indent="0" marL="0">
              <a:buNone/>
            </a:pPr>
            <a:r>
              <a:rPr lang="en-US" sz="1100" dirty="0">
                <a:solidFill>
                  <a:schemeClr val="tx2"/>
                </a:solidFill>
              </a:rPr>
              <a:t>Selection was light: GLM regularisation from 3 values, 4 boosting settings, picked on validation days.</a:t>
            </a:r>
            <a:endParaRPr lang="en-US" sz="11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2 · FORECASTER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A good nowcast, and the calendar predicts event surges</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accent1"/>
          </a:solidFill>
          <a:ln w="9525">
            <a:solidFill>
              <a:schemeClr val="accent1"/>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Text 10"/>
          <p:cNvSpPr txBox="1"/>
          <p:nvPr/>
        </p:nvSpPr>
        <p:spPr>
          <a:xfrm>
            <a:off x="502920" y="1417320"/>
            <a:ext cx="5760720" cy="292608"/>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Error by horizon, % of mean true rate (20 held-out days)</a:t>
            </a:r>
            <a:endParaRPr lang="en-US" sz="13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02920" y="1783080"/>
          <a:ext cx="5760720" cy="914400"/>
        </p:xfrm>
        <a:graphic>
          <a:graphicData uri="http://schemas.openxmlformats.org/drawingml/2006/table">
            <a:tbl>
              <a:tblPr/>
              <a:tblGrid>
                <a:gridCol w="2834640"/>
                <a:gridCol w="731520"/>
                <a:gridCol w="731520"/>
                <a:gridCol w="731520"/>
                <a:gridCol w="731520"/>
              </a:tblGrid>
              <a:tr h="256032">
                <a:tc>
                  <a:txBody>
                    <a:bodyPr/>
                    <a:lstStyle/>
                    <a:p>
                      <a:pPr algn="l" indent="0" marL="0">
                        <a:buNone/>
                      </a:pPr>
                      <a:r>
                        <a:rPr lang="en-US" sz="1050" b="1" dirty="0">
                          <a:solidFill>
                            <a:schemeClr val="bg1"/>
                          </a:solidFill>
                        </a:rPr>
                        <a:t>Model</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+5 min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+10 min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+15 min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All</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100" dirty="0">
                          <a:solidFill>
                            <a:schemeClr val="tx1"/>
                          </a:solidFill>
                        </a:rPr>
                        <a:t>Raw count carried forward</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23.0</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23.9</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25.1</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24.0</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dirty="0">
                          <a:solidFill>
                            <a:schemeClr val="tx1"/>
                          </a:solidFill>
                        </a:rPr>
                        <a:t>Hour-of-day profile</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10.5</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10.4</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10.2</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10.4</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100" dirty="0">
                          <a:solidFill>
                            <a:schemeClr val="tx1"/>
                          </a:solidFill>
                        </a:rPr>
                        <a:t>+ weather and event calendar</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9.9</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9.7</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9.6</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9.7</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b="1" dirty="0">
                          <a:solidFill>
                            <a:schemeClr val="tx1"/>
                          </a:solidFill>
                        </a:rPr>
                        <a:t>Poisson GLM + live counts + guard</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00" b="1" dirty="0">
                          <a:solidFill>
                            <a:schemeClr val="tx1"/>
                          </a:solidFill>
                        </a:rPr>
                        <a:t>6.7</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00" b="1" dirty="0">
                          <a:solidFill>
                            <a:schemeClr val="tx1"/>
                          </a:solidFill>
                        </a:rPr>
                        <a:t>7.0</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00" b="1" dirty="0">
                          <a:solidFill>
                            <a:schemeClr val="tx1"/>
                          </a:solidFill>
                        </a:rPr>
                        <a:t>7.6</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00" b="1" dirty="0">
                          <a:solidFill>
                            <a:schemeClr val="tx1"/>
                          </a:solidFill>
                        </a:rPr>
                        <a:t>7.1</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r>
              <a:tr h="256032">
                <a:tc>
                  <a:txBody>
                    <a:bodyPr/>
                    <a:lstStyle/>
                    <a:p>
                      <a:pPr algn="l" indent="0" marL="0">
                        <a:buNone/>
                      </a:pPr>
                      <a:r>
                        <a:rPr lang="en-US" sz="1100" dirty="0">
                          <a:solidFill>
                            <a:schemeClr val="tx1"/>
                          </a:solidFill>
                        </a:rPr>
                        <a:t>Gradient boosting + live counts + guard</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6.8</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7.3</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7.7</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7.3</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dirty="0">
                          <a:solidFill>
                            <a:schemeClr val="tx1"/>
                          </a:solidFill>
                        </a:rPr>
                        <a:t>Oracle: true rate now, held flat</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4.7</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7.7</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10.2</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7.6</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14" name="ladder-read"/>
          <p:cNvSpPr txBox="1"/>
          <p:nvPr/>
        </p:nvSpPr>
        <p:spPr>
          <a:xfrm>
            <a:off x="502920" y="4297680"/>
            <a:ext cx="5760720" cy="201168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chemeClr val="tx1"/>
                </a:solidFill>
              </a:rPr>
              <a:t>Nowcast: </a:t>
            </a:r>
            <a:pPr indent="0" marL="0">
              <a:buNone/>
            </a:pPr>
            <a:r>
              <a:rPr lang="en-US" sz="1150" dirty="0">
                <a:solidFill>
                  <a:schemeClr val="tx1"/>
                </a:solidFill>
              </a:rPr>
              <a:t>live counts cut the profile's error by a third: they reveal today's level and shift.</a:t>
            </a:r>
            <a:endParaRPr lang="en-US" sz="1200" dirty="0"/>
          </a:p>
          <a:p>
            <a:pPr marL="177800" indent="-177800">
              <a:spcAft>
                <a:spcPts val="500"/>
              </a:spcAft>
              <a:buSzPct val="100000"/>
              <a:buChar char="•"/>
            </a:pPr>
            <a:r>
              <a:rPr lang="en-US" sz="1150" b="1" dirty="0">
                <a:solidFill>
                  <a:schemeClr val="tx1"/>
                </a:solidFill>
              </a:rPr>
              <a:t>Shape: </a:t>
            </a:r>
            <a:pPr indent="0" marL="0">
              <a:buNone/>
            </a:pPr>
            <a:r>
              <a:rPr lang="en-US" sz="1150" dirty="0">
                <a:solidFill>
                  <a:schemeClr val="tx1"/>
                </a:solidFill>
              </a:rPr>
              <a:t>the oracle knows today's rate exactly but holds it flat; it wins only at +5 min. From +10 min the model's knowledge of the daily shape and calendar wins.</a:t>
            </a:r>
            <a:endParaRPr lang="en-US" sz="1200" dirty="0"/>
          </a:p>
          <a:p>
            <a:pPr marL="177800" indent="-177800">
              <a:spcAft>
                <a:spcPts val="500"/>
              </a:spcAft>
              <a:buSzPct val="100000"/>
              <a:buChar char="•"/>
            </a:pPr>
            <a:r>
              <a:rPr lang="en-US" sz="1150" b="1" dirty="0">
                <a:solidFill>
                  <a:schemeClr val="tx1"/>
                </a:solidFill>
              </a:rPr>
              <a:t>What's left </a:t>
            </a:r>
            <a:pPr indent="0" marL="0">
              <a:buNone/>
            </a:pPr>
            <a:r>
              <a:rPr lang="en-US" sz="1150" dirty="0">
                <a:solidFill>
                  <a:schemeClr val="tx1"/>
                </a:solidFill>
              </a:rPr>
              <a:t>is today's random variation and the gap between announced and actual crowds (sd 25%): nothing in the inputs predicts it.</a:t>
            </a:r>
            <a:endParaRPr lang="en-US" sz="1200" dirty="0"/>
          </a:p>
        </p:txBody>
      </p:sp>
      <p:graphicFrame>
        <p:nvGraphicFramePr>
          <p:cNvPr id="15" name="chart-regimes" descr=""/>
          <p:cNvGraphicFramePr/>
          <p:nvPr/>
        </p:nvGraphicFramePr>
        <p:xfrm>
          <a:off x="6537960" y="1371600"/>
          <a:ext cx="5150815" cy="4937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2 · FORECASTER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Mistakes found in validation, and what changed</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accent1"/>
          </a:solidFill>
          <a:ln w="9525">
            <a:solidFill>
              <a:schemeClr val="accent1"/>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card-1 · Labels vs inputs"/>
          <p:cNvSpPr/>
          <p:nvPr/>
        </p:nvSpPr>
        <p:spPr>
          <a:xfrm>
            <a:off x="502920" y="1463040"/>
            <a:ext cx="5455768" cy="2331720"/>
          </a:xfrm>
          <a:prstGeom prst="roundRect">
            <a:avLst>
              <a:gd name="adj" fmla="val 3137"/>
            </a:avLst>
          </a:prstGeom>
          <a:solidFill>
            <a:schemeClr val="bg1"/>
          </a:solidFill>
          <a:ln w="9525">
            <a:solidFill>
              <a:srgbClr val="DDD8CC"/>
            </a:solidFill>
            <a:prstDash val="solid"/>
          </a:ln>
        </p:spPr>
      </p:sp>
      <p:sp>
        <p:nvSpPr>
          <p:cNvPr id="13" name="Shape 11"/>
          <p:cNvSpPr/>
          <p:nvPr/>
        </p:nvSpPr>
        <p:spPr>
          <a:xfrm>
            <a:off x="667512" y="1645920"/>
            <a:ext cx="384048" cy="45720"/>
          </a:xfrm>
          <a:prstGeom prst="rect">
            <a:avLst/>
          </a:prstGeom>
          <a:solidFill>
            <a:schemeClr val="accent3"/>
          </a:solidFill>
          <a:ln w="12700">
            <a:solidFill>
              <a:schemeClr val="accent3"/>
            </a:solidFill>
            <a:prstDash val="solid"/>
          </a:ln>
        </p:spPr>
      </p:sp>
      <p:sp>
        <p:nvSpPr>
          <p:cNvPr id="14" name="card-head-1 · Labels v"/>
          <p:cNvSpPr txBox="1"/>
          <p:nvPr/>
        </p:nvSpPr>
        <p:spPr>
          <a:xfrm>
            <a:off x="667512" y="1737360"/>
            <a:ext cx="512658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1 · Labels vs inputs mixed up</a:t>
            </a:r>
            <a:endParaRPr lang="en-US" sz="1500" dirty="0"/>
          </a:p>
        </p:txBody>
      </p:sp>
      <p:sp>
        <p:nvSpPr>
          <p:cNvPr id="15" name="card-body-1 · Labels v"/>
          <p:cNvSpPr txBox="1"/>
          <p:nvPr/>
        </p:nvSpPr>
        <p:spPr>
          <a:xfrm>
            <a:off x="667512" y="2103120"/>
            <a:ext cx="5126584" cy="1600200"/>
          </a:xfrm>
          <a:prstGeom prst="rect">
            <a:avLst/>
          </a:prstGeom>
          <a:noFill/>
          <a:ln/>
        </p:spPr>
        <p:txBody>
          <a:bodyPr wrap="square" lIns="0" tIns="0" rIns="0" bIns="0" rtlCol="0" anchor="t"/>
          <a:lstStyle/>
          <a:p>
            <a:pPr indent="0" marL="0">
              <a:buNone/>
            </a:pPr>
            <a:r>
              <a:rPr lang="en-US" sz="1400" dirty="0">
                <a:solidFill>
                  <a:schemeClr val="tx1"/>
                </a:solidFill>
              </a:rPr>
              <a:t>The first design blurred “trained on the true rate” and “trained on observed counts”. Now explicit: labels = true rate (a survey stand-in, only possible in a simulator), inputs = what a deployed system sees. Tests forbid oracle columns as features.</a:t>
            </a:r>
            <a:endParaRPr lang="en-US" sz="1400" dirty="0"/>
          </a:p>
        </p:txBody>
      </p:sp>
      <p:sp>
        <p:nvSpPr>
          <p:cNvPr id="16" name="card-2 · Censoring broke "/>
          <p:cNvSpPr/>
          <p:nvPr/>
        </p:nvSpPr>
        <p:spPr>
          <a:xfrm>
            <a:off x="6233008" y="1463040"/>
            <a:ext cx="5455768" cy="2331720"/>
          </a:xfrm>
          <a:prstGeom prst="roundRect">
            <a:avLst>
              <a:gd name="adj" fmla="val 3137"/>
            </a:avLst>
          </a:prstGeom>
          <a:solidFill>
            <a:schemeClr val="bg1"/>
          </a:solidFill>
          <a:ln w="9525">
            <a:solidFill>
              <a:srgbClr val="DDD8CC"/>
            </a:solidFill>
            <a:prstDash val="solid"/>
          </a:ln>
        </p:spPr>
      </p:sp>
      <p:sp>
        <p:nvSpPr>
          <p:cNvPr id="17" name="Shape 15"/>
          <p:cNvSpPr/>
          <p:nvPr/>
        </p:nvSpPr>
        <p:spPr>
          <a:xfrm>
            <a:off x="6397600" y="1645920"/>
            <a:ext cx="384048" cy="45720"/>
          </a:xfrm>
          <a:prstGeom prst="rect">
            <a:avLst/>
          </a:prstGeom>
          <a:solidFill>
            <a:schemeClr val="accent3"/>
          </a:solidFill>
          <a:ln w="12700">
            <a:solidFill>
              <a:schemeClr val="accent3"/>
            </a:solidFill>
            <a:prstDash val="solid"/>
          </a:ln>
        </p:spPr>
      </p:sp>
      <p:sp>
        <p:nvSpPr>
          <p:cNvPr id="18" name="card-head-2 · Censorin"/>
          <p:cNvSpPr txBox="1"/>
          <p:nvPr/>
        </p:nvSpPr>
        <p:spPr>
          <a:xfrm>
            <a:off x="6397600" y="1737360"/>
            <a:ext cx="512658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2 · Censoring broke every model</a:t>
            </a:r>
            <a:endParaRPr lang="en-US" sz="1500" dirty="0"/>
          </a:p>
        </p:txBody>
      </p:sp>
      <p:sp>
        <p:nvSpPr>
          <p:cNvPr id="19" name="card-body-2 · Censorin"/>
          <p:cNvSpPr txBox="1"/>
          <p:nvPr/>
        </p:nvSpPr>
        <p:spPr>
          <a:xfrm>
            <a:off x="6397600" y="2103120"/>
            <a:ext cx="5126584" cy="1600200"/>
          </a:xfrm>
          <a:prstGeom prst="rect">
            <a:avLst/>
          </a:prstGeom>
          <a:noFill/>
          <a:ln/>
        </p:spPr>
        <p:txBody>
          <a:bodyPr wrap="square" lIns="0" tIns="0" rIns="0" bIns="0" rtlCol="0" anchor="t"/>
          <a:lstStyle/>
          <a:p>
            <a:pPr indent="0" marL="0">
              <a:buNone/>
            </a:pPr>
            <a:r>
              <a:rPr lang="en-US" sz="1400" dirty="0">
                <a:solidFill>
                  <a:schemeClr val="tx1"/>
                </a:solidFill>
              </a:rPr>
              <a:t>On one test day the grid gridlocked; entry counters reported the blockage and every learned model collapsed. Fix: the censoring guard (threshold from the road's capacity), confirmed on fresh days: 7.1% vs 8.7% unguarded (fresh), 7.0% vs 10.6% (test).</a:t>
            </a:r>
            <a:endParaRPr lang="en-US" sz="1400" dirty="0"/>
          </a:p>
        </p:txBody>
      </p:sp>
      <p:sp>
        <p:nvSpPr>
          <p:cNvPr id="20" name="card-3 · Fewer sensors, s"/>
          <p:cNvSpPr/>
          <p:nvPr/>
        </p:nvSpPr>
        <p:spPr>
          <a:xfrm>
            <a:off x="502920" y="4023360"/>
            <a:ext cx="5455768" cy="2331720"/>
          </a:xfrm>
          <a:prstGeom prst="roundRect">
            <a:avLst>
              <a:gd name="adj" fmla="val 3137"/>
            </a:avLst>
          </a:prstGeom>
          <a:solidFill>
            <a:schemeClr val="bg1"/>
          </a:solidFill>
          <a:ln w="9525">
            <a:solidFill>
              <a:srgbClr val="DDD8CC"/>
            </a:solidFill>
            <a:prstDash val="solid"/>
          </a:ln>
        </p:spPr>
      </p:sp>
      <p:sp>
        <p:nvSpPr>
          <p:cNvPr id="21" name="Shape 19"/>
          <p:cNvSpPr/>
          <p:nvPr/>
        </p:nvSpPr>
        <p:spPr>
          <a:xfrm>
            <a:off x="667512" y="4206240"/>
            <a:ext cx="384048" cy="45720"/>
          </a:xfrm>
          <a:prstGeom prst="rect">
            <a:avLst/>
          </a:prstGeom>
          <a:solidFill>
            <a:schemeClr val="accent2"/>
          </a:solidFill>
          <a:ln w="12700">
            <a:solidFill>
              <a:schemeClr val="accent2"/>
            </a:solidFill>
            <a:prstDash val="solid"/>
          </a:ln>
        </p:spPr>
      </p:sp>
      <p:sp>
        <p:nvSpPr>
          <p:cNvPr id="22" name="card-head-3 · Fewer se"/>
          <p:cNvSpPr txBox="1"/>
          <p:nvPr/>
        </p:nvSpPr>
        <p:spPr>
          <a:xfrm>
            <a:off x="667512" y="4297680"/>
            <a:ext cx="512658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3 · Fewer sensors, same accuracy</a:t>
            </a:r>
            <a:endParaRPr lang="en-US" sz="1500" dirty="0"/>
          </a:p>
        </p:txBody>
      </p:sp>
      <p:sp>
        <p:nvSpPr>
          <p:cNvPr id="23" name="card-body-3 · Fewer se"/>
          <p:cNvSpPr txBox="1"/>
          <p:nvPr/>
        </p:nvSpPr>
        <p:spPr>
          <a:xfrm>
            <a:off x="667512" y="4663440"/>
            <a:ext cx="5126584" cy="1600200"/>
          </a:xfrm>
          <a:prstGeom prst="rect">
            <a:avLst/>
          </a:prstGeom>
          <a:noFill/>
          <a:ln/>
        </p:spPr>
        <p:txBody>
          <a:bodyPr wrap="square" lIns="0" tIns="0" rIns="0" bIns="0" rtlCol="0" anchor="t"/>
          <a:lstStyle/>
          <a:p>
            <a:pPr indent="0" marL="0">
              <a:buNone/>
            </a:pPr>
            <a:r>
              <a:rPr lang="en-US" sz="1400" dirty="0">
                <a:solidFill>
                  <a:schemeClr val="tx1"/>
                </a:solidFill>
              </a:rPr>
              <a:t>An earlier version also read whole-road occupancy. Removing it changed nothing (6.82% before and after, measured before events were added), so the forecaster uses entrance counts only, consistent with the controller.</a:t>
            </a:r>
            <a:endParaRPr lang="en-US" sz="1400" dirty="0"/>
          </a:p>
        </p:txBody>
      </p:sp>
      <p:sp>
        <p:nvSpPr>
          <p:cNvPr id="24" name="card-4 · Scoring against "/>
          <p:cNvSpPr/>
          <p:nvPr/>
        </p:nvSpPr>
        <p:spPr>
          <a:xfrm>
            <a:off x="6233008" y="4023360"/>
            <a:ext cx="5455768" cy="2331720"/>
          </a:xfrm>
          <a:prstGeom prst="roundRect">
            <a:avLst>
              <a:gd name="adj" fmla="val 3137"/>
            </a:avLst>
          </a:prstGeom>
          <a:solidFill>
            <a:schemeClr val="bg1"/>
          </a:solidFill>
          <a:ln w="9525">
            <a:solidFill>
              <a:srgbClr val="DDD8CC"/>
            </a:solidFill>
            <a:prstDash val="solid"/>
          </a:ln>
        </p:spPr>
      </p:sp>
      <p:sp>
        <p:nvSpPr>
          <p:cNvPr id="25" name="Shape 23"/>
          <p:cNvSpPr/>
          <p:nvPr/>
        </p:nvSpPr>
        <p:spPr>
          <a:xfrm>
            <a:off x="6397600" y="4206240"/>
            <a:ext cx="384048" cy="45720"/>
          </a:xfrm>
          <a:prstGeom prst="rect">
            <a:avLst/>
          </a:prstGeom>
          <a:solidFill>
            <a:schemeClr val="accent4"/>
          </a:solidFill>
          <a:ln w="12700">
            <a:solidFill>
              <a:schemeClr val="accent4"/>
            </a:solidFill>
            <a:prstDash val="solid"/>
          </a:ln>
        </p:spPr>
      </p:sp>
      <p:sp>
        <p:nvSpPr>
          <p:cNvPr id="26" name="card-head-4 · Scoring "/>
          <p:cNvSpPr txBox="1"/>
          <p:nvPr/>
        </p:nvSpPr>
        <p:spPr>
          <a:xfrm>
            <a:off x="6397600" y="4297680"/>
            <a:ext cx="5126584" cy="329184"/>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4 · Scoring against sensors hides skill</a:t>
            </a:r>
            <a:endParaRPr lang="en-US" sz="1500" dirty="0"/>
          </a:p>
        </p:txBody>
      </p:sp>
      <p:sp>
        <p:nvSpPr>
          <p:cNvPr id="27" name="card-body-4 · Scoring "/>
          <p:cNvSpPr txBox="1"/>
          <p:nvPr/>
        </p:nvSpPr>
        <p:spPr>
          <a:xfrm>
            <a:off x="6397600" y="4663440"/>
            <a:ext cx="5126584" cy="1600200"/>
          </a:xfrm>
          <a:prstGeom prst="rect">
            <a:avLst/>
          </a:prstGeom>
          <a:noFill/>
          <a:ln/>
        </p:spPr>
        <p:txBody>
          <a:bodyPr wrap="square" lIns="0" tIns="0" rIns="0" bIns="0" rtlCol="0" anchor="t"/>
          <a:lstStyle/>
          <a:p>
            <a:pPr indent="0" marL="0">
              <a:buNone/>
            </a:pPr>
            <a:r>
              <a:rPr lang="en-US" sz="1400" dirty="0">
                <a:solidFill>
                  <a:schemeClr val="tx1"/>
                </a:solidFill>
              </a:rPr>
              <a:t>Scored against noisy counts, every model lands within ~1.3 points of the others: Poisson noise dominates. Against the true rate they separate clearly. Both are reported; decisions use the true rate.</a:t>
            </a:r>
            <a:endParaRPr lang="en-US" sz="14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3 · OPTIMISER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Control on four timescales</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accent1"/>
          </a:solidFill>
          <a:ln w="9525">
            <a:solidFill>
              <a:schemeClr val="accent1"/>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731520"/>
                <a:gridCol w="1188720"/>
                <a:gridCol w="6126480"/>
                <a:gridCol w="3127248"/>
              </a:tblGrid>
              <a:tr h="384048">
                <a:tc>
                  <a:txBody>
                    <a:bodyPr/>
                    <a:lstStyle/>
                    <a:p>
                      <a:pPr algn="l" indent="0" marL="0">
                        <a:buNone/>
                      </a:pPr>
                      <a:r>
                        <a:rPr lang="en-US" sz="1150" b="1" dirty="0">
                          <a:solidFill>
                            <a:schemeClr val="bg1"/>
                          </a:solidFill>
                        </a:rPr>
                        <a:t>Every</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Layer</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150" b="1" dirty="0">
                          <a:solidFill>
                            <a:schemeClr val="bg1"/>
                          </a:solidFill>
                        </a:rPr>
                        <a:t>Does</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150" b="1" dirty="0">
                          <a:solidFill>
                            <a:schemeClr val="bg1"/>
                          </a:solidFill>
                        </a:rPr>
                        <a:t>Uses</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384048">
                <a:tc>
                  <a:txBody>
                    <a:bodyPr/>
                    <a:lstStyle/>
                    <a:p>
                      <a:pPr algn="l" indent="0" marL="0">
                        <a:buNone/>
                      </a:pPr>
                      <a:r>
                        <a:rPr lang="en-US" sz="1200" b="1" dirty="0">
                          <a:solidFill>
                            <a:schemeClr val="tx1"/>
                          </a:solidFill>
                        </a:rPr>
                        <a:t>1 s</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Estimate</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Advance the queue model on the entrance counts and own signals</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Counts, own signal state</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384048">
                <a:tc>
                  <a:txBody>
                    <a:bodyPr/>
                    <a:lstStyle/>
                    <a:p>
                      <a:pPr algn="l" indent="0" marL="0">
                        <a:buNone/>
                      </a:pPr>
                      <a:r>
                        <a:rPr lang="en-US" sz="1200" b="1" dirty="0">
                          <a:solidFill>
                            <a:schemeClr val="tx1"/>
                          </a:solidFill>
                        </a:rPr>
                        <a:t>1 s</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200" dirty="0">
                          <a:solidFill>
                            <a:schemeClr val="tx1"/>
                          </a:solidFill>
                        </a:rPr>
                        <a:t>Execute</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200" dirty="0">
                          <a:solidFill>
                            <a:schemeClr val="tx1"/>
                          </a:solidFill>
                        </a:rPr>
                        <a:t>Switch when the planned green has run out; gap-out when the model says the approach is empty</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200" dirty="0">
                          <a:solidFill>
                            <a:schemeClr val="tx1"/>
                          </a:solidFill>
                        </a:rPr>
                        <a:t>The estimate</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384048">
                <a:tc>
                  <a:txBody>
                    <a:bodyPr/>
                    <a:lstStyle/>
                    <a:p>
                      <a:pPr algn="l" indent="0" marL="0">
                        <a:buNone/>
                      </a:pPr>
                      <a:r>
                        <a:rPr lang="en-US" sz="1200" b="1" dirty="0">
                          <a:solidFill>
                            <a:schemeClr val="tx1"/>
                          </a:solidFill>
                        </a:rPr>
                        <a:t>60 s</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Plan</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Webster cycle; convex QP for the green splits over the next 15 min; apply the first minute</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Forecast + estimate</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384048">
                <a:tc>
                  <a:txBody>
                    <a:bodyPr/>
                    <a:lstStyle/>
                    <a:p>
                      <a:pPr algn="l" indent="0" marL="0">
                        <a:buNone/>
                      </a:pPr>
                      <a:r>
                        <a:rPr lang="en-US" sz="1200" b="1" dirty="0">
                          <a:solidFill>
                            <a:schemeClr val="tx1"/>
                          </a:solidFill>
                        </a:rPr>
                        <a:t>Day</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200" dirty="0">
                          <a:solidFill>
                            <a:schemeClr val="tx1"/>
                          </a:solidFill>
                        </a:rPr>
                        <a:t>Learn</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200" dirty="0">
                          <a:solidFill>
                            <a:schemeClr val="tx1"/>
                          </a:solidFill>
                        </a:rPr>
                        <a:t>Refit the forecaster on history</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200" dirty="0">
                          <a:solidFill>
                            <a:schemeClr val="tx1"/>
                          </a:solidFill>
                        </a:rPr>
                        <a:t>History</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13" name="card-Why re-plan every 60"/>
          <p:cNvSpPr/>
          <p:nvPr/>
        </p:nvSpPr>
        <p:spPr>
          <a:xfrm>
            <a:off x="502920" y="4023360"/>
            <a:ext cx="3606698" cy="2286000"/>
          </a:xfrm>
          <a:prstGeom prst="roundRect">
            <a:avLst>
              <a:gd name="adj" fmla="val 3200"/>
            </a:avLst>
          </a:prstGeom>
          <a:solidFill>
            <a:schemeClr val="bg1"/>
          </a:solidFill>
          <a:ln w="9525">
            <a:solidFill>
              <a:srgbClr val="DDD8CC"/>
            </a:solidFill>
            <a:prstDash val="solid"/>
          </a:ln>
        </p:spPr>
      </p:sp>
      <p:sp>
        <p:nvSpPr>
          <p:cNvPr id="14" name="Shape 11"/>
          <p:cNvSpPr/>
          <p:nvPr/>
        </p:nvSpPr>
        <p:spPr>
          <a:xfrm>
            <a:off x="667512" y="4206240"/>
            <a:ext cx="384048" cy="45720"/>
          </a:xfrm>
          <a:prstGeom prst="rect">
            <a:avLst/>
          </a:prstGeom>
          <a:solidFill>
            <a:schemeClr val="accent1"/>
          </a:solidFill>
          <a:ln w="12700">
            <a:solidFill>
              <a:schemeClr val="accent1"/>
            </a:solidFill>
            <a:prstDash val="solid"/>
          </a:ln>
        </p:spPr>
      </p:sp>
      <p:sp>
        <p:nvSpPr>
          <p:cNvPr id="15" name="card-head-Why re-plan "/>
          <p:cNvSpPr txBox="1"/>
          <p:nvPr/>
        </p:nvSpPr>
        <p:spPr>
          <a:xfrm>
            <a:off x="667512" y="429768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re-plan every 60 s?</a:t>
            </a:r>
            <a:endParaRPr lang="en-US" sz="1350" dirty="0"/>
          </a:p>
        </p:txBody>
      </p:sp>
      <p:sp>
        <p:nvSpPr>
          <p:cNvPr id="16" name="card-body-Why re-plan "/>
          <p:cNvSpPr txBox="1"/>
          <p:nvPr/>
        </p:nvSpPr>
        <p:spPr>
          <a:xfrm>
            <a:off x="667512" y="4663440"/>
            <a:ext cx="3277514" cy="1554480"/>
          </a:xfrm>
          <a:prstGeom prst="rect">
            <a:avLst/>
          </a:prstGeom>
          <a:noFill/>
          <a:ln/>
        </p:spPr>
        <p:txBody>
          <a:bodyPr wrap="square" lIns="0" tIns="0" rIns="0" bIns="0" rtlCol="0" anchor="t"/>
          <a:lstStyle/>
          <a:p>
            <a:pPr indent="0" marL="0">
              <a:buNone/>
            </a:pPr>
            <a:r>
              <a:rPr lang="en-US" sz="1300" dirty="0">
                <a:solidFill>
                  <a:schemeClr val="tx1"/>
                </a:solidFill>
              </a:rPr>
              <a:t>Decisions are cycle-scale (cycles 40–120 s). Faster re-planning chases Poisson noise in the counts; the 1 s layer already reacts to individual cars. Slower re-planning misses ramps and incidents.</a:t>
            </a:r>
            <a:endParaRPr lang="en-US" sz="1300" dirty="0"/>
          </a:p>
        </p:txBody>
      </p:sp>
      <p:sp>
        <p:nvSpPr>
          <p:cNvPr id="17" name="card-Why a 15-minute hori"/>
          <p:cNvSpPr/>
          <p:nvPr/>
        </p:nvSpPr>
        <p:spPr>
          <a:xfrm>
            <a:off x="4292498" y="4023360"/>
            <a:ext cx="3606698" cy="2286000"/>
          </a:xfrm>
          <a:prstGeom prst="roundRect">
            <a:avLst>
              <a:gd name="adj" fmla="val 3200"/>
            </a:avLst>
          </a:prstGeom>
          <a:solidFill>
            <a:schemeClr val="bg1"/>
          </a:solidFill>
          <a:ln w="9525">
            <a:solidFill>
              <a:srgbClr val="DDD8CC"/>
            </a:solidFill>
            <a:prstDash val="solid"/>
          </a:ln>
        </p:spPr>
      </p:sp>
      <p:sp>
        <p:nvSpPr>
          <p:cNvPr id="18" name="Shape 15"/>
          <p:cNvSpPr/>
          <p:nvPr/>
        </p:nvSpPr>
        <p:spPr>
          <a:xfrm>
            <a:off x="4457090" y="4206240"/>
            <a:ext cx="384048" cy="45720"/>
          </a:xfrm>
          <a:prstGeom prst="rect">
            <a:avLst/>
          </a:prstGeom>
          <a:solidFill>
            <a:schemeClr val="accent1"/>
          </a:solidFill>
          <a:ln w="12700">
            <a:solidFill>
              <a:schemeClr val="accent1"/>
            </a:solidFill>
            <a:prstDash val="solid"/>
          </a:ln>
        </p:spPr>
      </p:sp>
      <p:sp>
        <p:nvSpPr>
          <p:cNvPr id="19" name="card-head-Why a 15-min"/>
          <p:cNvSpPr txBox="1"/>
          <p:nvPr/>
        </p:nvSpPr>
        <p:spPr>
          <a:xfrm>
            <a:off x="4457090" y="429768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a 15-minute horizon?</a:t>
            </a:r>
            <a:endParaRPr lang="en-US" sz="1350" dirty="0"/>
          </a:p>
        </p:txBody>
      </p:sp>
      <p:sp>
        <p:nvSpPr>
          <p:cNvPr id="20" name="card-body-Why a 15-min"/>
          <p:cNvSpPr txBox="1"/>
          <p:nvPr/>
        </p:nvSpPr>
        <p:spPr>
          <a:xfrm>
            <a:off x="4457090" y="4663440"/>
            <a:ext cx="3277514" cy="1554480"/>
          </a:xfrm>
          <a:prstGeom prst="rect">
            <a:avLst/>
          </a:prstGeom>
          <a:noFill/>
          <a:ln/>
        </p:spPr>
        <p:txBody>
          <a:bodyPr wrap="square" lIns="0" tIns="0" rIns="0" bIns="0" rtlCol="0" anchor="t"/>
          <a:lstStyle/>
          <a:p>
            <a:pPr indent="0" marL="0">
              <a:buNone/>
            </a:pPr>
            <a:r>
              <a:rPr lang="en-US" sz="1300" dirty="0">
                <a:solidFill>
                  <a:schemeClr val="tx1"/>
                </a:solidFill>
              </a:rPr>
              <a:t>Long enough for queues to propagate across the grid (a car crosses it in under 2 min, a queue builds over 5–10), and it matches the forecaster's horizon. The terminal cost covers what lies beyond.</a:t>
            </a:r>
            <a:endParaRPr lang="en-US" sz="1300" dirty="0"/>
          </a:p>
        </p:txBody>
      </p:sp>
      <p:sp>
        <p:nvSpPr>
          <p:cNvPr id="21" name="card-Receding horizon"/>
          <p:cNvSpPr/>
          <p:nvPr/>
        </p:nvSpPr>
        <p:spPr>
          <a:xfrm>
            <a:off x="8082077" y="4023360"/>
            <a:ext cx="3606698" cy="2286000"/>
          </a:xfrm>
          <a:prstGeom prst="roundRect">
            <a:avLst>
              <a:gd name="adj" fmla="val 3200"/>
            </a:avLst>
          </a:prstGeom>
          <a:solidFill>
            <a:schemeClr val="bg1"/>
          </a:solidFill>
          <a:ln w="9525">
            <a:solidFill>
              <a:srgbClr val="DDD8CC"/>
            </a:solidFill>
            <a:prstDash val="solid"/>
          </a:ln>
        </p:spPr>
      </p:sp>
      <p:sp>
        <p:nvSpPr>
          <p:cNvPr id="22" name="Shape 19"/>
          <p:cNvSpPr/>
          <p:nvPr/>
        </p:nvSpPr>
        <p:spPr>
          <a:xfrm>
            <a:off x="8246669" y="4206240"/>
            <a:ext cx="384048" cy="45720"/>
          </a:xfrm>
          <a:prstGeom prst="rect">
            <a:avLst/>
          </a:prstGeom>
          <a:solidFill>
            <a:schemeClr val="accent4"/>
          </a:solidFill>
          <a:ln w="12700">
            <a:solidFill>
              <a:schemeClr val="accent4"/>
            </a:solidFill>
            <a:prstDash val="solid"/>
          </a:ln>
        </p:spPr>
      </p:sp>
      <p:sp>
        <p:nvSpPr>
          <p:cNvPr id="23" name="card-head-Receding hor"/>
          <p:cNvSpPr txBox="1"/>
          <p:nvPr/>
        </p:nvSpPr>
        <p:spPr>
          <a:xfrm>
            <a:off x="8246669" y="429768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Receding horizon</a:t>
            </a:r>
            <a:endParaRPr lang="en-US" sz="1350" dirty="0"/>
          </a:p>
        </p:txBody>
      </p:sp>
      <p:sp>
        <p:nvSpPr>
          <p:cNvPr id="24" name="card-body-Receding hor"/>
          <p:cNvSpPr txBox="1"/>
          <p:nvPr/>
        </p:nvSpPr>
        <p:spPr>
          <a:xfrm>
            <a:off x="8246669" y="4663440"/>
            <a:ext cx="3277514" cy="1554480"/>
          </a:xfrm>
          <a:prstGeom prst="rect">
            <a:avLst/>
          </a:prstGeom>
          <a:noFill/>
          <a:ln/>
        </p:spPr>
        <p:txBody>
          <a:bodyPr wrap="square" lIns="0" tIns="0" rIns="0" bIns="0" rtlCol="0" anchor="t"/>
          <a:lstStyle/>
          <a:p>
            <a:pPr indent="0" marL="0">
              <a:buNone/>
            </a:pPr>
            <a:r>
              <a:rPr lang="en-US" sz="1300" dirty="0">
                <a:solidFill>
                  <a:schemeClr val="tx1"/>
                </a:solidFill>
              </a:rPr>
              <a:t>Plan 15 minutes, apply 1, re-plan from the new estimate and forecast. Model error and forecast error are corrected every minute: the plan never runs open-loop for long.</a:t>
            </a:r>
            <a:endParaRPr lang="en-US" sz="13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3 · OPTIMISER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Queue estimator: the controller's picture of the network</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accent1"/>
          </a:solidFill>
          <a:ln w="9525">
            <a:solidFill>
              <a:schemeClr val="accent1"/>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estimator-how"/>
          <p:cNvSpPr txBox="1"/>
          <p:nvPr/>
        </p:nvSpPr>
        <p:spPr>
          <a:xfrm>
            <a:off x="502920" y="1463040"/>
            <a:ext cx="6035040" cy="2697480"/>
          </a:xfrm>
          <a:prstGeom prst="rect">
            <a:avLst/>
          </a:prstGeom>
          <a:noFill/>
          <a:ln/>
        </p:spPr>
        <p:txBody>
          <a:bodyPr wrap="square" lIns="0" tIns="0" rIns="0" bIns="0" rtlCol="0" anchor="t"/>
          <a:lstStyle/>
          <a:p>
            <a:pPr marL="177800" indent="-177800">
              <a:spcAft>
                <a:spcPts val="600"/>
              </a:spcAft>
              <a:buSzPct val="100000"/>
              <a:buChar char="•"/>
            </a:pPr>
            <a:r>
              <a:rPr lang="en-US" sz="1200" b="1" dirty="0">
                <a:solidFill>
                  <a:schemeClr val="tx1"/>
                </a:solidFill>
              </a:rPr>
              <a:t>Store-and-forward model, </a:t>
            </a:r>
            <a:pPr indent="0" marL="0">
              <a:buNone/>
            </a:pPr>
            <a:r>
              <a:rPr lang="en-US" sz="1200" dirty="0">
                <a:solidFill>
                  <a:schemeClr val="tx1"/>
                </a:solidFill>
              </a:rPr>
              <a:t>the same one the optimiser plans with, stepped every second.</a:t>
            </a:r>
            <a:endParaRPr lang="en-US" sz="1200" dirty="0"/>
          </a:p>
          <a:p>
            <a:pPr marL="177800" indent="-177800">
              <a:spcAft>
                <a:spcPts val="600"/>
              </a:spcAft>
              <a:buSzPct val="100000"/>
              <a:buChar char="•"/>
            </a:pPr>
            <a:r>
              <a:rPr lang="en-US" sz="1200" b="1" dirty="0">
                <a:solidFill>
                  <a:schemeClr val="tx1"/>
                </a:solidFill>
              </a:rPr>
              <a:t>Each road: </a:t>
            </a:r>
            <a:pPr indent="0" marL="0">
              <a:buNone/>
            </a:pPr>
            <a:r>
              <a:rPr lang="en-US" sz="1200" dirty="0">
                <a:solidFill>
                  <a:schemeClr val="tx1"/>
                </a:solidFill>
              </a:rPr>
              <a:t>a travel-time delay line (cars driving to the stop line at free speed) and a stop-line queue.</a:t>
            </a:r>
            <a:endParaRPr lang="en-US" sz="1200" dirty="0"/>
          </a:p>
          <a:p>
            <a:pPr marL="177800" indent="-177800">
              <a:spcAft>
                <a:spcPts val="600"/>
              </a:spcAft>
              <a:buSzPct val="100000"/>
              <a:buChar char="•"/>
            </a:pPr>
            <a:r>
              <a:rPr lang="en-US" sz="1200" b="1" dirty="0">
                <a:solidFill>
                  <a:schemeClr val="tx1"/>
                </a:solidFill>
              </a:rPr>
              <a:t>Entry roads </a:t>
            </a:r>
            <a:pPr indent="0" marL="0">
              <a:buNone/>
            </a:pPr>
            <a:r>
              <a:rPr lang="en-US" sz="1200" dirty="0">
                <a:solidFill>
                  <a:schemeClr val="tx1"/>
                </a:solidFill>
              </a:rPr>
              <a:t>gain the counter increments. A green, unblocked road discharges min(queue, saturation flow × 1 s), split downstream by the average turn shares. Queues above a road's storage are handed back to its feeders (spillback).</a:t>
            </a:r>
            <a:endParaRPr lang="en-US" sz="1200" dirty="0"/>
          </a:p>
          <a:p>
            <a:pPr marL="177800" indent="-177800">
              <a:spcAft>
                <a:spcPts val="600"/>
              </a:spcAft>
              <a:buSzPct val="100000"/>
              <a:buChar char="•"/>
            </a:pPr>
            <a:r>
              <a:rPr lang="en-US" sz="1200" b="1" dirty="0">
                <a:solidFill>
                  <a:schemeClr val="tx1"/>
                </a:solidFill>
              </a:rPr>
              <a:t>Calibrated, not tuned: </a:t>
            </a:r>
            <a:pPr indent="0" marL="0">
              <a:buNone/>
            </a:pPr>
            <a:r>
              <a:rPr lang="en-US" sz="1200" dirty="0">
                <a:solidFill>
                  <a:schemeClr val="tx1"/>
                </a:solidFill>
              </a:rPr>
              <a:t>discharge rate 0.95 × nominal (rain-adjusted) and a 1 s start-up delay were fitted by replaying tuning-seed runs against the simulator's truth, not chosen to lower delay.</a:t>
            </a:r>
            <a:endParaRPr lang="en-US" sz="1200" dirty="0"/>
          </a:p>
        </p:txBody>
      </p:sp>
      <p:sp>
        <p:nvSpPr>
          <p:cNvPr id="13" name="Text 11"/>
          <p:cNvSpPr txBox="1"/>
          <p:nvPr/>
        </p:nvSpPr>
        <p:spPr>
          <a:xfrm>
            <a:off x="502920" y="4206240"/>
            <a:ext cx="6035040" cy="292608"/>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Accuracy against the simulator's truth (tuning seeds)</a:t>
            </a:r>
            <a:endParaRPr lang="en-US" sz="13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02920" y="4553712"/>
          <a:ext cx="6035040" cy="914400"/>
        </p:xfrm>
        <a:graphic>
          <a:graphicData uri="http://schemas.openxmlformats.org/drawingml/2006/table">
            <a:tbl>
              <a:tblPr/>
              <a:tblGrid>
                <a:gridCol w="1417320"/>
                <a:gridCol w="3520440"/>
                <a:gridCol w="1097280"/>
              </a:tblGrid>
              <a:tr h="256032">
                <a:tc>
                  <a:txBody>
                    <a:bodyPr/>
                    <a:lstStyle/>
                    <a:p>
                      <a:pPr algn="l" indent="0" marL="0">
                        <a:buNone/>
                      </a:pPr>
                      <a:r>
                        <a:rPr lang="en-US" sz="1000" b="1" dirty="0">
                          <a:solidFill>
                            <a:schemeClr val="bg1"/>
                          </a:solidFill>
                        </a:rPr>
                        <a:t>Day</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Estimate error</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Verdict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b="1" dirty="0">
                          <a:solidFill>
                            <a:schemeClr val="tx1"/>
                          </a:solidFill>
                        </a:rPr>
                        <a:t>Typical morning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Entry 0.3–0.4 cars, internal 1.2 (true ~6, ~4)</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Good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Storm</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Total 2–8 cars high on average, peaks 70–80 (of ~140)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Drifts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After an accident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Assumes the backlog drains at full rate: up to 280 low</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Wrong → fallback</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Event surge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Assumes full entry roads keep draining; counters go quiet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Wrong on bad days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pic>
        <p:nvPicPr>
          <p:cNvPr id="15" name="img-estimator_drift.png" descr="Controller's estimate of cars per road against the simulator's truth on a typical morning and an accident morning">    </p:cNvPr>
          <p:cNvPicPr>
            <a:picLocks noChangeAspect="1"/>
          </p:cNvPicPr>
          <p:nvPr/>
        </p:nvPicPr>
        <p:blipFill>
          <a:blip r:embed="rId1"/>
          <a:stretch>
            <a:fillRect/>
          </a:stretch>
        </p:blipFill>
        <p:spPr>
          <a:xfrm>
            <a:off x="6812280" y="1371600"/>
            <a:ext cx="4873752" cy="4937760"/>
          </a:xfrm>
          <a:prstGeom prst="rect">
            <a:avLst/>
          </a:prstGeom>
        </p:spPr>
      </p:pic>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3 · OPTIMISER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The optimisation: a convex quadratic program, solved every minute</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accent1"/>
          </a:solidFill>
          <a:ln w="9525">
            <a:solidFill>
              <a:schemeClr val="accent1"/>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qp-box"/>
          <p:cNvSpPr/>
          <p:nvPr/>
        </p:nvSpPr>
        <p:spPr>
          <a:xfrm>
            <a:off x="502920" y="1417320"/>
            <a:ext cx="6903720" cy="3794760"/>
          </a:xfrm>
          <a:prstGeom prst="roundRect">
            <a:avLst>
              <a:gd name="adj" fmla="val 1928"/>
            </a:avLst>
          </a:prstGeom>
          <a:solidFill>
            <a:schemeClr val="tx1"/>
          </a:solidFill>
          <a:ln w="12700">
            <a:solidFill>
              <a:schemeClr val="tx1"/>
            </a:solidFill>
            <a:prstDash val="solid"/>
          </a:ln>
        </p:spPr>
      </p:sp>
      <p:sp>
        <p:nvSpPr>
          <p:cNvPr id="13" name="qp-text"/>
          <p:cNvSpPr txBox="1"/>
          <p:nvPr/>
        </p:nvSpPr>
        <p:spPr>
          <a:xfrm>
            <a:off x="704088" y="1536192"/>
            <a:ext cx="6537960" cy="3611880"/>
          </a:xfrm>
          <a:prstGeom prst="rect">
            <a:avLst/>
          </a:prstGeom>
          <a:noFill/>
          <a:ln/>
        </p:spPr>
        <p:txBody>
          <a:bodyPr wrap="square" lIns="0" tIns="0" rIns="0" bIns="0" rtlCol="0" anchor="t"/>
          <a:lstStyle/>
          <a:p>
            <a:pPr indent="0" marL="0">
              <a:buNone/>
            </a:pPr>
            <a:r>
              <a:rPr lang="en-US" sz="1250" dirty="0">
                <a:solidFill>
                  <a:srgbClr val="F2C46D"/>
                </a:solidFill>
                <a:latin typeface="Consolas" pitchFamily="34" charset="0"/>
                <a:ea typeface="Consolas" pitchFamily="34" charset="-122"/>
                <a:cs typeface="Consolas" pitchFamily="34" charset="-120"/>
              </a:rPr>
              <a:t>decide   x[i,k]   NS green share at junction i, minute k</a:t>
            </a:r>
            <a:endParaRPr lang="en-US" sz="1250" dirty="0"/>
          </a:p>
          <a:p>
            <a:pPr indent="0" marL="0">
              <a:buNone/>
            </a:pPr>
            <a:r>
              <a:rPr lang="en-US" sz="1250" dirty="0">
                <a:solidFill>
                  <a:srgbClr val="F2C46D"/>
                </a:solidFill>
                <a:latin typeface="Consolas" pitchFamily="34" charset="0"/>
                <a:ea typeface="Consolas" pitchFamily="34" charset="-122"/>
                <a:cs typeface="Consolas" pitchFamily="34" charset="-120"/>
              </a:rPr>
              <a:t>         (EW share = 1 − x),  k = 1..15</a:t>
            </a:r>
            <a:endParaRPr lang="en-US" sz="1250" dirty="0"/>
          </a:p>
          <a:p>
            <a:pPr indent="0" marL="0">
              <a:buNone/>
            </a:pPr>
            <a:r>
              <a:rPr lang="en-US" sz="1250" dirty="0">
                <a:solidFill>
                  <a:schemeClr val="bg1"/>
                </a:solidFill>
                <a:latin typeface="Consolas" pitchFamily="34" charset="0"/>
                <a:ea typeface="Consolas" pitchFamily="34" charset="-122"/>
                <a:cs typeface="Consolas" pitchFamily="34" charset="-120"/>
              </a:rPr>
              <a:t>state    q[l,k+1] = q[l,k] + a[l,k] − u[l,k]</a:t>
            </a:r>
            <a:endParaRPr lang="en-US" sz="1250" dirty="0"/>
          </a:p>
          <a:p>
            <a:pPr indent="0" marL="0">
              <a:buNone/>
            </a:pPr>
            <a:r>
              <a:rPr lang="en-US" sz="1250" dirty="0">
                <a:solidFill>
                  <a:schemeClr val="bg1"/>
                </a:solidFill>
                <a:latin typeface="Consolas" pitchFamily="34" charset="0"/>
                <a:ea typeface="Consolas" pitchFamily="34" charset="-122"/>
                <a:cs typeface="Consolas" pitchFamily="34" charset="-120"/>
              </a:rPr>
              <a:t>         q[l,0]   = the estimator's cars now</a:t>
            </a:r>
            <a:endParaRPr lang="en-US" sz="1250" dirty="0"/>
          </a:p>
          <a:p>
            <a:pPr indent="0" marL="0">
              <a:buNone/>
            </a:pPr>
            <a:r>
              <a:rPr lang="en-US" sz="1250" dirty="0">
                <a:solidFill>
                  <a:schemeClr val="bg1"/>
                </a:solidFill>
                <a:latin typeface="Consolas" pitchFamily="34" charset="0"/>
                <a:ea typeface="Consolas" pitchFamily="34" charset="-122"/>
                <a:cs typeface="Consolas" pitchFamily="34" charset="-120"/>
              </a:rPr>
              <a:t>arrive   a[l,k]   = forecast λₑ·60 on entry roads</a:t>
            </a:r>
            <a:endParaRPr lang="en-US" sz="1250" dirty="0"/>
          </a:p>
          <a:p>
            <a:pPr indent="0" marL="0">
              <a:buNone/>
            </a:pPr>
            <a:r>
              <a:rPr lang="en-US" sz="1250" dirty="0">
                <a:solidFill>
                  <a:schemeClr val="bg1"/>
                </a:solidFill>
                <a:latin typeface="Consolas" pitchFamily="34" charset="0"/>
                <a:ea typeface="Consolas" pitchFamily="34" charset="-122"/>
                <a:cs typeface="Consolas" pitchFamily="34" charset="-120"/>
              </a:rPr>
              <a:t>                  = T · u[k−1] on internal roads (turn shares)</a:t>
            </a:r>
            <a:endParaRPr lang="en-US" sz="1250" dirty="0"/>
          </a:p>
          <a:p>
            <a:pPr indent="0" marL="0">
              <a:buNone/>
            </a:pPr>
            <a:r>
              <a:rPr lang="en-US" sz="1250" dirty="0">
                <a:solidFill>
                  <a:schemeClr val="bg1"/>
                </a:solidFill>
                <a:latin typeface="Consolas" pitchFamily="34" charset="0"/>
                <a:ea typeface="Consolas" pitchFamily="34" charset="-122"/>
                <a:cs typeface="Consolas" pitchFamily="34" charset="-120"/>
              </a:rPr>
              <a:t>serve    u[l,k] ≤ s · 60 · g_l(x[i,k])      g = x − L/C or 1 − x − L/C</a:t>
            </a:r>
            <a:endParaRPr lang="en-US" sz="1250" dirty="0"/>
          </a:p>
          <a:p>
            <a:pPr indent="0" marL="0">
              <a:buNone/>
            </a:pPr>
            <a:r>
              <a:rPr lang="en-US" sz="1250" dirty="0">
                <a:solidFill>
                  <a:schemeClr val="bg1"/>
                </a:solidFill>
                <a:latin typeface="Consolas" pitchFamily="34" charset="0"/>
                <a:ea typeface="Consolas" pitchFamily="34" charset="-122"/>
                <a:cs typeface="Consolas" pitchFamily="34" charset="-120"/>
              </a:rPr>
              <a:t>         u[l,k] ≤ q[l,k] + a[l,k];   u = 0 on a blocked road</a:t>
            </a:r>
            <a:endParaRPr lang="en-US" sz="1250" dirty="0"/>
          </a:p>
          <a:p>
            <a:pPr indent="0" marL="0">
              <a:buNone/>
            </a:pPr>
            <a:r>
              <a:rPr lang="en-US" sz="1250" dirty="0">
                <a:solidFill>
                  <a:schemeClr val="bg1"/>
                </a:solidFill>
                <a:latin typeface="Consolas" pitchFamily="34" charset="0"/>
                <a:ea typeface="Consolas" pitchFamily="34" charset="-122"/>
                <a:cs typeface="Consolas" pitchFamily="34" charset="-120"/>
              </a:rPr>
              <a:t>bounds   x_lo ≤ x ≤ x_hi   (green 8–60 s, 4 s lost, at cycle C)</a:t>
            </a:r>
            <a:endParaRPr lang="en-US" sz="1250" dirty="0"/>
          </a:p>
          <a:p>
            <a:pPr indent="0" marL="0">
              <a:buNone/>
            </a:pPr>
            <a:r>
              <a:rPr lang="en-US" sz="1250" dirty="0">
                <a:solidFill>
                  <a:schemeClr val="bg1"/>
                </a:solidFill>
                <a:latin typeface="Consolas" pitchFamily="34" charset="0"/>
                <a:ea typeface="Consolas" pitchFamily="34" charset="-122"/>
                <a:cs typeface="Consolas" pitchFamily="34" charset="-120"/>
              </a:rPr>
              <a:t>store    q[l,k] ≤ storage_l + slack[l,k]</a:t>
            </a:r>
            <a:endParaRPr lang="en-US" sz="1250" dirty="0"/>
          </a:p>
          <a:p>
            <a:pPr indent="0" marL="0">
              <a:buNone/>
            </a:pPr>
            <a:r>
              <a:rPr lang="en-US" sz="1250" dirty="0">
                <a:solidFill>
                  <a:schemeClr val="bg1"/>
                </a:solidFill>
                <a:latin typeface="Consolas" pitchFamily="34" charset="0"/>
                <a:ea typeface="Consolas" pitchFamily="34" charset="-122"/>
                <a:cs typeface="Consolas" pitchFamily="34" charset="-120"/>
              </a:rPr>
              <a:t> </a:t>
            </a:r>
            <a:endParaRPr lang="en-US" sz="1250" dirty="0"/>
          </a:p>
          <a:p>
            <a:pPr indent="0" marL="0">
              <a:buNone/>
            </a:pPr>
            <a:r>
              <a:rPr lang="en-US" sz="1250" b="1" dirty="0">
                <a:solidFill>
                  <a:srgbClr val="8FD3A8"/>
                </a:solidFill>
                <a:latin typeface="Consolas" pitchFamily="34" charset="0"/>
                <a:ea typeface="Consolas" pitchFamily="34" charset="-122"/>
                <a:cs typeface="Consolas" pitchFamily="34" charset="-120"/>
              </a:rPr>
              <a:t>min  Σq + 0.3·Σq² + 3·Σq_end + 5·Σslack + 2·Σ|Δx|</a:t>
            </a:r>
            <a:endParaRPr lang="en-US" sz="125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7589520" y="1417320"/>
          <a:ext cx="4099255" cy="914400"/>
        </p:xfrm>
        <a:graphic>
          <a:graphicData uri="http://schemas.openxmlformats.org/drawingml/2006/table">
            <a:tbl>
              <a:tblPr/>
              <a:tblGrid>
                <a:gridCol w="1234440"/>
                <a:gridCol w="2880360"/>
              </a:tblGrid>
              <a:tr h="256032">
                <a:tc>
                  <a:txBody>
                    <a:bodyPr/>
                    <a:lstStyle/>
                    <a:p>
                      <a:pPr algn="l" indent="0" marL="0">
                        <a:buNone/>
                      </a:pPr>
                      <a:r>
                        <a:rPr lang="en-US" sz="1000" b="1" dirty="0">
                          <a:solidFill>
                            <a:schemeClr val="bg1"/>
                          </a:solidFill>
                        </a:rPr>
                        <a:t>Objective term</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Role</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dirty="0">
                          <a:solidFill>
                            <a:schemeClr val="tx1"/>
                          </a:solidFill>
                        </a:rPr>
                        <a:t>Σq</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Cars waiting × minutes = total delay (Little's law)</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0.3 Σq²</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Fairness: spreads queues, stops starving light approaches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dirty="0">
                          <a:solidFill>
                            <a:schemeClr val="tx1"/>
                          </a:solidFill>
                        </a:rPr>
                        <a:t>3 Σq_end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Terminal cost: no dumping work past the horizon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5 Σslack</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Soft storage limit: prices spillback, keeps it feasible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dirty="0">
                          <a:solidFill>
                            <a:schemeClr val="tx1"/>
                          </a:solidFill>
                        </a:rPr>
                        <a:t>2 Σ|Δx|</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Smoothness: plans don't flap minute to minute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bl>
          </a:graphicData>
        </a:graphic>
      </p:graphicFrame>
      <p:sp>
        <p:nvSpPr>
          <p:cNvPr id="15" name="card-Size and speed (2x2)"/>
          <p:cNvSpPr/>
          <p:nvPr/>
        </p:nvSpPr>
        <p:spPr>
          <a:xfrm>
            <a:off x="7589520" y="3931920"/>
            <a:ext cx="4099255" cy="1280160"/>
          </a:xfrm>
          <a:prstGeom prst="roundRect">
            <a:avLst>
              <a:gd name="adj" fmla="val 5714"/>
            </a:avLst>
          </a:prstGeom>
          <a:solidFill>
            <a:schemeClr val="bg1"/>
          </a:solidFill>
          <a:ln w="9525">
            <a:solidFill>
              <a:srgbClr val="DDD8CC"/>
            </a:solidFill>
            <a:prstDash val="solid"/>
          </a:ln>
        </p:spPr>
      </p:sp>
      <p:sp>
        <p:nvSpPr>
          <p:cNvPr id="16" name="Shape 13"/>
          <p:cNvSpPr/>
          <p:nvPr/>
        </p:nvSpPr>
        <p:spPr>
          <a:xfrm>
            <a:off x="7754112" y="4114800"/>
            <a:ext cx="384048" cy="45720"/>
          </a:xfrm>
          <a:prstGeom prst="rect">
            <a:avLst/>
          </a:prstGeom>
          <a:solidFill>
            <a:schemeClr val="accent2"/>
          </a:solidFill>
          <a:ln w="12700">
            <a:solidFill>
              <a:schemeClr val="accent2"/>
            </a:solidFill>
            <a:prstDash val="solid"/>
          </a:ln>
        </p:spPr>
      </p:sp>
      <p:sp>
        <p:nvSpPr>
          <p:cNvPr id="17" name="card-head-Size and spe"/>
          <p:cNvSpPr txBox="1"/>
          <p:nvPr/>
        </p:nvSpPr>
        <p:spPr>
          <a:xfrm>
            <a:off x="7754112" y="4206240"/>
            <a:ext cx="3770071" cy="274320"/>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Size and speed (2x2)</a:t>
            </a:r>
            <a:endParaRPr lang="en-US" sz="1350" dirty="0"/>
          </a:p>
        </p:txBody>
      </p:sp>
      <p:sp>
        <p:nvSpPr>
          <p:cNvPr id="18" name="card-body-Size and spe"/>
          <p:cNvSpPr txBox="1"/>
          <p:nvPr/>
        </p:nvSpPr>
        <p:spPr>
          <a:xfrm>
            <a:off x="7754112" y="4517136"/>
            <a:ext cx="3770071" cy="603504"/>
          </a:xfrm>
          <a:prstGeom prst="rect">
            <a:avLst/>
          </a:prstGeom>
          <a:noFill/>
          <a:ln/>
        </p:spPr>
        <p:txBody>
          <a:bodyPr wrap="square" lIns="0" tIns="0" rIns="0" bIns="0" rtlCol="0" anchor="t"/>
          <a:lstStyle/>
          <a:p>
            <a:pPr indent="0" marL="0">
              <a:buNone/>
            </a:pPr>
            <a:r>
              <a:rPr lang="en-US" sz="1100" dirty="0">
                <a:solidFill>
                  <a:schemeClr val="tx1"/>
                </a:solidFill>
              </a:rPr>
              <a:t>4 × 15 split variables, ~740 flow, queue and slack variables. Clarabel interior point via CVXPY: 38 ms mean, 42 ms max.</a:t>
            </a:r>
            <a:endParaRPr lang="en-US" sz="1100" dirty="0"/>
          </a:p>
        </p:txBody>
      </p:sp>
      <p:sp>
        <p:nvSpPr>
          <p:cNvPr id="19" name="card-Cycle length C sits "/>
          <p:cNvSpPr/>
          <p:nvPr/>
        </p:nvSpPr>
        <p:spPr>
          <a:xfrm>
            <a:off x="502920" y="5349240"/>
            <a:ext cx="11185855" cy="960120"/>
          </a:xfrm>
          <a:prstGeom prst="roundRect">
            <a:avLst>
              <a:gd name="adj" fmla="val 7619"/>
            </a:avLst>
          </a:prstGeom>
          <a:solidFill>
            <a:schemeClr val="bg1"/>
          </a:solidFill>
          <a:ln w="9525">
            <a:solidFill>
              <a:srgbClr val="DDD8CC"/>
            </a:solidFill>
            <a:prstDash val="solid"/>
          </a:ln>
        </p:spPr>
      </p:sp>
      <p:sp>
        <p:nvSpPr>
          <p:cNvPr id="20" name="card-head-Cycle length"/>
          <p:cNvSpPr txBox="1"/>
          <p:nvPr/>
        </p:nvSpPr>
        <p:spPr>
          <a:xfrm>
            <a:off x="667512" y="5477256"/>
            <a:ext cx="10856671" cy="256032"/>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Cycle length C sits outside the program</a:t>
            </a:r>
            <a:endParaRPr lang="en-US" sz="1250" dirty="0"/>
          </a:p>
        </p:txBody>
      </p:sp>
      <p:sp>
        <p:nvSpPr>
          <p:cNvPr id="21" name="card-body-Cycle length"/>
          <p:cNvSpPr txBox="1"/>
          <p:nvPr/>
        </p:nvSpPr>
        <p:spPr>
          <a:xfrm>
            <a:off x="667512" y="5769864"/>
            <a:ext cx="10856671" cy="448056"/>
          </a:xfrm>
          <a:prstGeom prst="rect">
            <a:avLst/>
          </a:prstGeom>
          <a:noFill/>
          <a:ln/>
        </p:spPr>
        <p:txBody>
          <a:bodyPr wrap="square" lIns="0" tIns="0" rIns="0" bIns="0" rtlCol="0" anchor="t"/>
          <a:lstStyle/>
          <a:p>
            <a:pPr indent="0" marL="0">
              <a:buNone/>
            </a:pPr>
            <a:r>
              <a:rPr lang="en-US" sz="1100" dirty="0">
                <a:solidFill>
                  <a:schemeClr val="tx1"/>
                </a:solidFill>
              </a:rPr>
              <a:t>Webster: C = (1.5·L + 5) / (1 − Y), L = 12 s, Y = busiest junction's critical flow ratio from the forecast. Smoothed 40% per decision toward its target, rounded to 5 s, clamped 40–120 s. Inside the QP, green = x·C would be bilinear (non-convex).</a:t>
            </a:r>
            <a:endParaRPr lang="en-US" sz="11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3 · OPTIMISER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Why this formulation, and not the alternatives</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accent1"/>
          </a:solidFill>
          <a:ln w="9525">
            <a:solidFill>
              <a:schemeClr val="accent1"/>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02920" y="1417320"/>
          <a:ext cx="8001000" cy="914400"/>
        </p:xfrm>
        <a:graphic>
          <a:graphicData uri="http://schemas.openxmlformats.org/drawingml/2006/table">
            <a:tbl>
              <a:tblPr/>
              <a:tblGrid>
                <a:gridCol w="2148840"/>
                <a:gridCol w="1874520"/>
                <a:gridCol w="3977640"/>
              </a:tblGrid>
              <a:tr h="256032">
                <a:tc>
                  <a:txBody>
                    <a:bodyPr/>
                    <a:lstStyle/>
                    <a:p>
                      <a:pPr algn="l" indent="0" marL="0">
                        <a:buNone/>
                      </a:pPr>
                      <a:r>
                        <a:rPr lang="en-US" sz="1000" b="1" dirty="0">
                          <a:solidFill>
                            <a:schemeClr val="bg1"/>
                          </a:solidFill>
                        </a:rPr>
                        <a:t>Alternative</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What it would buy</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l" indent="0" marL="0">
                        <a:buNone/>
                      </a:pPr>
                      <a:r>
                        <a:rPr lang="en-US" sz="1000" b="1" dirty="0">
                          <a:solidFill>
                            <a:schemeClr val="bg1"/>
                          </a:solidFill>
                        </a:rPr>
                        <a:t>Why not here</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dirty="0">
                          <a:solidFill>
                            <a:schemeClr val="tx1"/>
                          </a:solidFill>
                        </a:rPr>
                        <a:t>Linear program (drop q²)</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Slightly faster; still exact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Corner solutions: all spare green to one approach, starving the light side. Speed isn't binding: 38 ms vs a 60 s budget.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Mixed-integer phase sequencing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Phase order, skipping, offsets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Two-phase junctions have no order to choose; splits are continuous. Exponential cost for no gain.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dirty="0">
                          <a:solidFill>
                            <a:schemeClr val="tx1"/>
                          </a:solidFill>
                        </a:rPr>
                        <a:t>Cycle length as a decision variable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Joint optimum of C and splits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Green = x·C is bilinear → non-convex, local optima. Webster outside + smoothing is the standard decomposition.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Nonlinear / simulation-based optimisation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Uses the real dynamics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Slow, no optimality certificate, and it would optimise inside the evaluator.</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dirty="0">
                          <a:solidFill>
                            <a:schemeClr val="tx1"/>
                          </a:solidFill>
                        </a:rPr>
                        <a:t>Max-pressure (Varaiya 2013)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Simple, stable, no forecast needed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Myopic; maximises throughput not delay. With true queues (camera version) it lost to the optimiser everywhere and to the tuned plan in 4 of 5 scenarios.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Reinforcement learning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No model needed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l" indent="0" marL="0">
                        <a:buNone/>
                      </a:pPr>
                      <a:r>
                        <a:rPr lang="en-US" sz="1050" dirty="0">
                          <a:solidFill>
                            <a:schemeClr val="tx1"/>
                          </a:solidFill>
                        </a:rPr>
                        <a:t>Needs thousands of simulated days, opaque, no guarantee; we already know the structure.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dirty="0">
                          <a:solidFill>
                            <a:schemeClr val="tx1"/>
                          </a:solidFill>
                        </a:rPr>
                        <a:t>Webster / fixed-time only</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Robust, no state needed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l" indent="0" marL="0">
                        <a:buNone/>
                      </a:pPr>
                      <a:r>
                        <a:rPr lang="en-US" sz="1050" dirty="0">
                          <a:solidFill>
                            <a:schemeClr val="tx1"/>
                          </a:solidFill>
                        </a:rPr>
                        <a:t>That is the tuned baseline, which the optimiser beats in 6 of 6 scenarios.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bl>
          </a:graphicData>
        </a:graphic>
      </p:graphicFrame>
      <p:sp>
        <p:nvSpPr>
          <p:cNvPr id="13" name="card-Convex: local optimu"/>
          <p:cNvSpPr/>
          <p:nvPr/>
        </p:nvSpPr>
        <p:spPr>
          <a:xfrm>
            <a:off x="8732520" y="1417320"/>
            <a:ext cx="2956255" cy="2331720"/>
          </a:xfrm>
          <a:prstGeom prst="roundRect">
            <a:avLst>
              <a:gd name="adj" fmla="val 3137"/>
            </a:avLst>
          </a:prstGeom>
          <a:solidFill>
            <a:schemeClr val="bg1"/>
          </a:solidFill>
          <a:ln w="9525">
            <a:solidFill>
              <a:srgbClr val="DDD8CC"/>
            </a:solidFill>
            <a:prstDash val="solid"/>
          </a:ln>
        </p:spPr>
      </p:sp>
      <p:sp>
        <p:nvSpPr>
          <p:cNvPr id="14" name="Shape 11"/>
          <p:cNvSpPr/>
          <p:nvPr/>
        </p:nvSpPr>
        <p:spPr>
          <a:xfrm>
            <a:off x="8897112" y="1600200"/>
            <a:ext cx="384048" cy="45720"/>
          </a:xfrm>
          <a:prstGeom prst="rect">
            <a:avLst/>
          </a:prstGeom>
          <a:solidFill>
            <a:schemeClr val="accent2"/>
          </a:solidFill>
          <a:ln w="12700">
            <a:solidFill>
              <a:schemeClr val="accent2"/>
            </a:solidFill>
            <a:prstDash val="solid"/>
          </a:ln>
        </p:spPr>
      </p:sp>
      <p:sp>
        <p:nvSpPr>
          <p:cNvPr id="15" name="card-head-Convex: loca"/>
          <p:cNvSpPr txBox="1"/>
          <p:nvPr/>
        </p:nvSpPr>
        <p:spPr>
          <a:xfrm>
            <a:off x="8897112" y="1691640"/>
            <a:ext cx="2627071"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Convex: local optimum = global</a:t>
            </a:r>
            <a:endParaRPr lang="en-US" sz="1350" dirty="0"/>
          </a:p>
        </p:txBody>
      </p:sp>
      <p:sp>
        <p:nvSpPr>
          <p:cNvPr id="16" name="card-body-Convex: loca"/>
          <p:cNvSpPr txBox="1"/>
          <p:nvPr/>
        </p:nvSpPr>
        <p:spPr>
          <a:xfrm>
            <a:off x="8897112" y="2057400"/>
            <a:ext cx="2627071" cy="1600200"/>
          </a:xfrm>
          <a:prstGeom prst="rect">
            <a:avLst/>
          </a:prstGeom>
          <a:noFill/>
          <a:ln/>
        </p:spPr>
        <p:txBody>
          <a:bodyPr wrap="square" lIns="0" tIns="0" rIns="0" bIns="0" rtlCol="0" anchor="t"/>
          <a:lstStyle/>
          <a:p>
            <a:pPr indent="0" marL="0">
              <a:buNone/>
            </a:pPr>
            <a:r>
              <a:rPr lang="en-US" sz="1150" dirty="0">
                <a:solidFill>
                  <a:schemeClr val="tx1"/>
                </a:solidFill>
              </a:rPr>
              <a:t>Every solve returns the optimum of its model, with a certificate. Remaining error is in the model's inputs (forecast, estimate), not in the search.</a:t>
            </a:r>
            <a:endParaRPr lang="en-US" sz="1150" dirty="0"/>
          </a:p>
        </p:txBody>
      </p:sp>
      <p:sp>
        <p:nvSpPr>
          <p:cNvPr id="17" name="card-Is a simpler method "/>
          <p:cNvSpPr/>
          <p:nvPr/>
        </p:nvSpPr>
        <p:spPr>
          <a:xfrm>
            <a:off x="8732520" y="3886200"/>
            <a:ext cx="2956255" cy="2423160"/>
          </a:xfrm>
          <a:prstGeom prst="roundRect">
            <a:avLst>
              <a:gd name="adj" fmla="val 3019"/>
            </a:avLst>
          </a:prstGeom>
          <a:solidFill>
            <a:schemeClr val="bg1"/>
          </a:solidFill>
          <a:ln w="9525">
            <a:solidFill>
              <a:srgbClr val="DDD8CC"/>
            </a:solidFill>
            <a:prstDash val="solid"/>
          </a:ln>
        </p:spPr>
      </p:sp>
      <p:sp>
        <p:nvSpPr>
          <p:cNvPr id="18" name="Shape 15"/>
          <p:cNvSpPr/>
          <p:nvPr/>
        </p:nvSpPr>
        <p:spPr>
          <a:xfrm>
            <a:off x="8897112" y="4069080"/>
            <a:ext cx="384048" cy="45720"/>
          </a:xfrm>
          <a:prstGeom prst="rect">
            <a:avLst/>
          </a:prstGeom>
          <a:solidFill>
            <a:schemeClr val="accent1"/>
          </a:solidFill>
          <a:ln w="12700">
            <a:solidFill>
              <a:schemeClr val="accent1"/>
            </a:solidFill>
            <a:prstDash val="solid"/>
          </a:ln>
        </p:spPr>
      </p:sp>
      <p:sp>
        <p:nvSpPr>
          <p:cNvPr id="19" name="card-head-Is a simpler"/>
          <p:cNvSpPr txBox="1"/>
          <p:nvPr/>
        </p:nvSpPr>
        <p:spPr>
          <a:xfrm>
            <a:off x="8897112" y="4160520"/>
            <a:ext cx="2627071"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Is a simpler method faster?</a:t>
            </a:r>
            <a:endParaRPr lang="en-US" sz="1350" dirty="0"/>
          </a:p>
        </p:txBody>
      </p:sp>
      <p:sp>
        <p:nvSpPr>
          <p:cNvPr id="20" name="card-body-Is a simpler"/>
          <p:cNvSpPr txBox="1"/>
          <p:nvPr/>
        </p:nvSpPr>
        <p:spPr>
          <a:xfrm>
            <a:off x="8897112" y="4526280"/>
            <a:ext cx="2627071" cy="1691640"/>
          </a:xfrm>
          <a:prstGeom prst="rect">
            <a:avLst/>
          </a:prstGeom>
          <a:noFill/>
          <a:ln/>
        </p:spPr>
        <p:txBody>
          <a:bodyPr wrap="square" lIns="0" tIns="0" rIns="0" bIns="0" rtlCol="0" anchor="t"/>
          <a:lstStyle/>
          <a:p>
            <a:pPr indent="0" marL="0">
              <a:buNone/>
            </a:pPr>
            <a:r>
              <a:rPr lang="en-US" sz="1150" dirty="0">
                <a:solidFill>
                  <a:schemeClr val="tx1"/>
                </a:solidFill>
              </a:rPr>
              <a:t>Yes, but speed is not the constraint: 38 ms per decision on 2x2, 1.9 s on 10x10, against 60 s. Convexity is what matters: it keeps the solve exact and explainable.</a:t>
            </a:r>
            <a:endParaRPr lang="en-US" sz="115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3 · OPTIMISER</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Gap-out, the incident fallback, and a bug found late</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accent1"/>
          </a:solidFill>
          <a:ln w="9525">
            <a:solidFill>
              <a:schemeClr val="accent1"/>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bg1"/>
          </a:solidFill>
          <a:ln w="9525">
            <a:solidFill>
              <a:srgbClr val="D9D5CB"/>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RESULTS</a:t>
            </a:r>
            <a:endParaRPr lang="en-US" sz="800" dirty="0"/>
          </a:p>
        </p:txBody>
      </p:sp>
      <p:sp>
        <p:nvSpPr>
          <p:cNvPr id="12" name="card-Gap-out (every secon"/>
          <p:cNvSpPr/>
          <p:nvPr/>
        </p:nvSpPr>
        <p:spPr>
          <a:xfrm>
            <a:off x="502920" y="1463040"/>
            <a:ext cx="3606698" cy="4846320"/>
          </a:xfrm>
          <a:prstGeom prst="roundRect">
            <a:avLst>
              <a:gd name="adj" fmla="val 2028"/>
            </a:avLst>
          </a:prstGeom>
          <a:solidFill>
            <a:schemeClr val="bg1"/>
          </a:solidFill>
          <a:ln w="9525">
            <a:solidFill>
              <a:srgbClr val="DDD8CC"/>
            </a:solidFill>
            <a:prstDash val="solid"/>
          </a:ln>
        </p:spPr>
      </p:sp>
      <p:sp>
        <p:nvSpPr>
          <p:cNvPr id="13" name="Shape 11"/>
          <p:cNvSpPr/>
          <p:nvPr/>
        </p:nvSpPr>
        <p:spPr>
          <a:xfrm>
            <a:off x="667512" y="1645920"/>
            <a:ext cx="384048" cy="45720"/>
          </a:xfrm>
          <a:prstGeom prst="rect">
            <a:avLst/>
          </a:prstGeom>
          <a:solidFill>
            <a:schemeClr val="accent2"/>
          </a:solidFill>
          <a:ln w="12700">
            <a:solidFill>
              <a:schemeClr val="accent2"/>
            </a:solidFill>
            <a:prstDash val="solid"/>
          </a:ln>
        </p:spPr>
      </p:sp>
      <p:sp>
        <p:nvSpPr>
          <p:cNvPr id="14" name="card-head-Gap-out (eve"/>
          <p:cNvSpPr txBox="1"/>
          <p:nvPr/>
        </p:nvSpPr>
        <p:spPr>
          <a:xfrm>
            <a:off x="667512" y="173736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Gap-out (every second)</a:t>
            </a:r>
            <a:endParaRPr lang="en-US" sz="1350" dirty="0"/>
          </a:p>
        </p:txBody>
      </p:sp>
      <p:sp>
        <p:nvSpPr>
          <p:cNvPr id="15" name="card-body-Gap-out (eve"/>
          <p:cNvSpPr txBox="1"/>
          <p:nvPr/>
        </p:nvSpPr>
        <p:spPr>
          <a:xfrm>
            <a:off x="667512" y="2103120"/>
            <a:ext cx="3277514" cy="4114800"/>
          </a:xfrm>
          <a:prstGeom prst="rect">
            <a:avLst/>
          </a:prstGeom>
          <a:noFill/>
          <a:ln/>
        </p:spPr>
        <p:txBody>
          <a:bodyPr wrap="square" lIns="0" tIns="0" rIns="0" bIns="0" rtlCol="0" anchor="t"/>
          <a:lstStyle/>
          <a:p>
            <a:pPr indent="0" marL="0">
              <a:buNone/>
            </a:pPr>
            <a:endParaRPr lang="en-US" sz="1150" dirty="0"/>
          </a:p>
        </p:txBody>
      </p:sp>
      <p:sp>
        <p:nvSpPr>
          <p:cNvPr id="16" name="gapout"/>
          <p:cNvSpPr txBox="1"/>
          <p:nvPr/>
        </p:nvSpPr>
        <p:spPr>
          <a:xfrm>
            <a:off x="667512" y="2103120"/>
            <a:ext cx="3277514" cy="4114800"/>
          </a:xfrm>
          <a:prstGeom prst="rect">
            <a:avLst/>
          </a:prstGeom>
          <a:noFill/>
          <a:ln/>
        </p:spPr>
        <p:txBody>
          <a:bodyPr wrap="square" lIns="0" tIns="0" rIns="0" bIns="0" rtlCol="0" anchor="t"/>
          <a:lstStyle/>
          <a:p>
            <a:pPr indent="0" marL="0">
              <a:buNone/>
            </a:pPr>
            <a:r>
              <a:rPr lang="en-US" sz="1300" dirty="0">
                <a:solidFill>
                  <a:schemeClr val="tx1"/>
                </a:solidFill>
              </a:rPr>
              <a:t>End a green early when the estimate says fewer than 0.5 cars are due at its stop lines within 4 s, and the cross street has at least one.</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Typical morning, seeds 200–202:</a:t>
            </a:r>
            <a:endParaRPr lang="en-US" sz="1300" dirty="0"/>
          </a:p>
          <a:p>
            <a:pPr indent="0" marL="0">
              <a:buNone/>
            </a:pPr>
            <a:r>
              <a:rPr lang="en-US" sz="1100" dirty="0">
                <a:solidFill>
                  <a:schemeClr val="tx1"/>
                </a:solidFill>
                <a:latin typeface="Consolas" pitchFamily="34" charset="0"/>
                <a:ea typeface="Consolas" pitchFamily="34" charset="-122"/>
                <a:cs typeface="Consolas" pitchFamily="34" charset="-120"/>
              </a:rPr>
              <a:t>Tuned fixed      59.9 s</a:t>
            </a:r>
            <a:endParaRPr lang="en-US" sz="1300" dirty="0"/>
          </a:p>
          <a:p>
            <a:pPr indent="0" marL="0">
              <a:buNone/>
            </a:pPr>
            <a:r>
              <a:rPr lang="en-US" sz="1100" dirty="0">
                <a:solidFill>
                  <a:schemeClr val="tx1"/>
                </a:solidFill>
                <a:latin typeface="Consolas" pitchFamily="34" charset="0"/>
                <a:ea typeface="Consolas" pitchFamily="34" charset="-122"/>
                <a:cs typeface="Consolas" pitchFamily="34" charset="-120"/>
              </a:rPr>
              <a:t>QP alone         52.8 s  (−12%)</a:t>
            </a:r>
            <a:endParaRPr lang="en-US" sz="1300" dirty="0"/>
          </a:p>
          <a:p>
            <a:pPr indent="0" marL="0">
              <a:buNone/>
            </a:pPr>
            <a:r>
              <a:rPr lang="en-US" sz="1100" b="1" dirty="0">
                <a:solidFill>
                  <a:schemeClr val="tx1"/>
                </a:solidFill>
                <a:latin typeface="Consolas" pitchFamily="34" charset="0"/>
                <a:ea typeface="Consolas" pitchFamily="34" charset="-122"/>
                <a:cs typeface="Consolas" pitchFamily="34" charset="-120"/>
              </a:rPr>
              <a:t>QP + gap-out     42.0 s  (−30%)</a:t>
            </a:r>
            <a:endParaRPr lang="en-US" sz="1300" dirty="0"/>
          </a:p>
          <a:p>
            <a:pPr indent="0" marL="0">
              <a:buNone/>
            </a:pPr>
            <a:r>
              <a:rPr lang="en-US" sz="600" dirty="0">
                <a:solidFill>
                  <a:schemeClr val="tx1"/>
                </a:solidFill>
              </a:rPr>
              <a:t> </a:t>
            </a:r>
            <a:endParaRPr lang="en-US" sz="1300" dirty="0"/>
          </a:p>
          <a:p>
            <a:pPr indent="0" marL="0">
              <a:buNone/>
            </a:pPr>
            <a:r>
              <a:rPr lang="en-US" sz="1300" dirty="0">
                <a:solidFill>
                  <a:schemeClr val="tx1"/>
                </a:solidFill>
              </a:rPr>
              <a:t>In light traffic most of the gain is this reactive layer acting on the queue model; at the busy peak the QP does most of the work.</a:t>
            </a:r>
            <a:endParaRPr lang="en-US" sz="1300" dirty="0"/>
          </a:p>
        </p:txBody>
      </p:sp>
      <p:sp>
        <p:nvSpPr>
          <p:cNvPr id="17" name="card-Incident fallback"/>
          <p:cNvSpPr/>
          <p:nvPr/>
        </p:nvSpPr>
        <p:spPr>
          <a:xfrm>
            <a:off x="4292498" y="1463040"/>
            <a:ext cx="3606698" cy="4846320"/>
          </a:xfrm>
          <a:prstGeom prst="roundRect">
            <a:avLst>
              <a:gd name="adj" fmla="val 2028"/>
            </a:avLst>
          </a:prstGeom>
          <a:solidFill>
            <a:schemeClr val="bg1"/>
          </a:solidFill>
          <a:ln w="9525">
            <a:solidFill>
              <a:srgbClr val="DDD8CC"/>
            </a:solidFill>
            <a:prstDash val="solid"/>
          </a:ln>
        </p:spPr>
      </p:sp>
      <p:sp>
        <p:nvSpPr>
          <p:cNvPr id="18" name="Shape 16"/>
          <p:cNvSpPr/>
          <p:nvPr/>
        </p:nvSpPr>
        <p:spPr>
          <a:xfrm>
            <a:off x="4457090" y="1645920"/>
            <a:ext cx="384048" cy="45720"/>
          </a:xfrm>
          <a:prstGeom prst="rect">
            <a:avLst/>
          </a:prstGeom>
          <a:solidFill>
            <a:schemeClr val="accent3"/>
          </a:solidFill>
          <a:ln w="12700">
            <a:solidFill>
              <a:schemeClr val="accent3"/>
            </a:solidFill>
            <a:prstDash val="solid"/>
          </a:ln>
        </p:spPr>
      </p:sp>
      <p:sp>
        <p:nvSpPr>
          <p:cNvPr id="19" name="card-head-Incident fal"/>
          <p:cNvSpPr txBox="1"/>
          <p:nvPr/>
        </p:nvSpPr>
        <p:spPr>
          <a:xfrm>
            <a:off x="4457090" y="173736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Incident fallback</a:t>
            </a:r>
            <a:endParaRPr lang="en-US" sz="1350" dirty="0"/>
          </a:p>
        </p:txBody>
      </p:sp>
      <p:sp>
        <p:nvSpPr>
          <p:cNvPr id="20" name="card-body-Incident fal"/>
          <p:cNvSpPr txBox="1"/>
          <p:nvPr/>
        </p:nvSpPr>
        <p:spPr>
          <a:xfrm>
            <a:off x="4457090" y="2103120"/>
            <a:ext cx="3277514" cy="4114800"/>
          </a:xfrm>
          <a:prstGeom prst="rect">
            <a:avLst/>
          </a:prstGeom>
          <a:noFill/>
          <a:ln/>
        </p:spPr>
        <p:txBody>
          <a:bodyPr wrap="square" lIns="0" tIns="0" rIns="0" bIns="0" rtlCol="0" anchor="t"/>
          <a:lstStyle/>
          <a:p>
            <a:pPr indent="0" marL="0">
              <a:buNone/>
            </a:pPr>
            <a:endParaRPr lang="en-US" sz="1150" dirty="0"/>
          </a:p>
        </p:txBody>
      </p:sp>
      <p:sp>
        <p:nvSpPr>
          <p:cNvPr id="21" name="fallback"/>
          <p:cNvSpPr txBox="1"/>
          <p:nvPr/>
        </p:nvSpPr>
        <p:spPr>
          <a:xfrm>
            <a:off x="4457090" y="2103120"/>
            <a:ext cx="3277514" cy="4114800"/>
          </a:xfrm>
          <a:prstGeom prst="rect">
            <a:avLst/>
          </a:prstGeom>
          <a:noFill/>
          <a:ln/>
        </p:spPr>
        <p:txBody>
          <a:bodyPr wrap="square" lIns="0" tIns="0" rIns="0" bIns="0" rtlCol="0" anchor="t"/>
          <a:lstStyle/>
          <a:p>
            <a:pPr indent="0" marL="0">
              <a:buNone/>
            </a:pPr>
            <a:r>
              <a:rPr lang="en-US" sz="1300" dirty="0">
                <a:solidFill>
                  <a:schemeClr val="tx1"/>
                </a:solidFill>
              </a:rPr>
              <a:t>From the incident report until 60 min after clearance, run the tuned 120 s green wave. After a blockage the estimate is known to be wrong, so a robust plan beats optimising on a wrong state.</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Accident, 10 held-out seeds:</a:t>
            </a:r>
            <a:endParaRPr lang="en-US" sz="1300" dirty="0"/>
          </a:p>
          <a:p>
            <a:pPr indent="0" marL="0">
              <a:buNone/>
            </a:pPr>
            <a:r>
              <a:rPr lang="en-US" sz="1100" b="1" dirty="0">
                <a:solidFill>
                  <a:schemeClr val="tx1"/>
                </a:solidFill>
                <a:latin typeface="Consolas" pitchFamily="34" charset="0"/>
                <a:ea typeface="Consolas" pitchFamily="34" charset="-122"/>
                <a:cs typeface="Consolas" pitchFamily="34" charset="-120"/>
              </a:rPr>
              <a:t>With fallback      225 s, 0 gridlocks</a:t>
            </a:r>
            <a:endParaRPr lang="en-US" sz="1300" dirty="0"/>
          </a:p>
          <a:p>
            <a:pPr indent="0" marL="0">
              <a:buNone/>
            </a:pPr>
            <a:r>
              <a:rPr lang="en-US" sz="1100" dirty="0">
                <a:solidFill>
                  <a:schemeClr val="tx1"/>
                </a:solidFill>
                <a:latin typeface="Consolas" pitchFamily="34" charset="0"/>
                <a:ea typeface="Consolas" pitchFamily="34" charset="-122"/>
                <a:cs typeface="Consolas" pitchFamily="34" charset="-120"/>
              </a:rPr>
              <a:t>No incident feed   457 s, 2 gridlocks</a:t>
            </a:r>
            <a:endParaRPr lang="en-US" sz="1300" dirty="0"/>
          </a:p>
          <a:p>
            <a:pPr indent="0" marL="0">
              <a:buNone/>
            </a:pPr>
            <a:r>
              <a:rPr lang="en-US" sz="600" dirty="0">
                <a:solidFill>
                  <a:schemeClr val="tx1"/>
                </a:solidFill>
              </a:rPr>
              <a:t> </a:t>
            </a:r>
            <a:endParaRPr lang="en-US" sz="1300" dirty="0"/>
          </a:p>
          <a:p>
            <a:pPr indent="0" marL="0">
              <a:buNone/>
            </a:pPr>
            <a:r>
              <a:rPr lang="en-US" sz="1300" dirty="0">
                <a:solidFill>
                  <a:schemeClr val="tx1"/>
                </a:solidFill>
              </a:rPr>
              <a:t>Window chosen on accident tuning seeds 100–109: fallback only while blocked was worse; 15/30/45/60 min after clearance improved in that order.</a:t>
            </a:r>
            <a:endParaRPr lang="en-US" sz="1300" dirty="0"/>
          </a:p>
        </p:txBody>
      </p:sp>
      <p:sp>
        <p:nvSpPr>
          <p:cNvPr id="22" name="card-Bug: the cycle never"/>
          <p:cNvSpPr/>
          <p:nvPr/>
        </p:nvSpPr>
        <p:spPr>
          <a:xfrm>
            <a:off x="8082077" y="1463040"/>
            <a:ext cx="3606698" cy="4846320"/>
          </a:xfrm>
          <a:prstGeom prst="roundRect">
            <a:avLst>
              <a:gd name="adj" fmla="val 2028"/>
            </a:avLst>
          </a:prstGeom>
          <a:solidFill>
            <a:schemeClr val="bg1"/>
          </a:solidFill>
          <a:ln w="9525">
            <a:solidFill>
              <a:srgbClr val="DDD8CC"/>
            </a:solidFill>
            <a:prstDash val="solid"/>
          </a:ln>
        </p:spPr>
      </p:sp>
      <p:sp>
        <p:nvSpPr>
          <p:cNvPr id="23" name="Shape 21"/>
          <p:cNvSpPr/>
          <p:nvPr/>
        </p:nvSpPr>
        <p:spPr>
          <a:xfrm>
            <a:off x="8246669" y="1645920"/>
            <a:ext cx="384048" cy="45720"/>
          </a:xfrm>
          <a:prstGeom prst="rect">
            <a:avLst/>
          </a:prstGeom>
          <a:solidFill>
            <a:schemeClr val="accent1"/>
          </a:solidFill>
          <a:ln w="12700">
            <a:solidFill>
              <a:schemeClr val="accent1"/>
            </a:solidFill>
            <a:prstDash val="solid"/>
          </a:ln>
        </p:spPr>
      </p:sp>
      <p:sp>
        <p:nvSpPr>
          <p:cNvPr id="24" name="card-head-Bug: the cyc"/>
          <p:cNvSpPr txBox="1"/>
          <p:nvPr/>
        </p:nvSpPr>
        <p:spPr>
          <a:xfrm>
            <a:off x="8246669" y="173736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Bug: the cycle never moved</a:t>
            </a:r>
            <a:endParaRPr lang="en-US" sz="1350" dirty="0"/>
          </a:p>
        </p:txBody>
      </p:sp>
      <p:sp>
        <p:nvSpPr>
          <p:cNvPr id="25" name="card-body-Bug: the cyc"/>
          <p:cNvSpPr txBox="1"/>
          <p:nvPr/>
        </p:nvSpPr>
        <p:spPr>
          <a:xfrm>
            <a:off x="8246669" y="2103120"/>
            <a:ext cx="3277514" cy="4114800"/>
          </a:xfrm>
          <a:prstGeom prst="rect">
            <a:avLst/>
          </a:prstGeom>
          <a:noFill/>
          <a:ln/>
        </p:spPr>
        <p:txBody>
          <a:bodyPr wrap="square" lIns="0" tIns="0" rIns="0" bIns="0" rtlCol="0" anchor="t"/>
          <a:lstStyle/>
          <a:p>
            <a:pPr indent="0" marL="0">
              <a:buNone/>
            </a:pPr>
            <a:endParaRPr lang="en-US" sz="1150" dirty="0"/>
          </a:p>
        </p:txBody>
      </p:sp>
      <p:sp>
        <p:nvSpPr>
          <p:cNvPr id="26" name="cyclebug"/>
          <p:cNvSpPr txBox="1"/>
          <p:nvPr/>
        </p:nvSpPr>
        <p:spPr>
          <a:xfrm>
            <a:off x="8246669" y="2103120"/>
            <a:ext cx="3277514" cy="4114800"/>
          </a:xfrm>
          <a:prstGeom prst="rect">
            <a:avLst/>
          </a:prstGeom>
          <a:noFill/>
          <a:ln/>
        </p:spPr>
        <p:txBody>
          <a:bodyPr wrap="square" lIns="0" tIns="0" rIns="0" bIns="0" rtlCol="0" anchor="t"/>
          <a:lstStyle/>
          <a:p>
            <a:pPr indent="0" marL="0">
              <a:buNone/>
            </a:pPr>
            <a:r>
              <a:rPr lang="en-US" sz="1300" dirty="0">
                <a:solidFill>
                  <a:schemeClr val="tx1"/>
                </a:solidFill>
              </a:rPr>
              <a:t>Reviewing the demo, the cycle barely ever changed.</a:t>
            </a:r>
            <a:endParaRPr lang="en-US" sz="1300" dirty="0"/>
          </a:p>
          <a:p>
            <a:pPr indent="0" marL="0">
              <a:buNone/>
            </a:pPr>
            <a:r>
              <a:rPr lang="en-US" sz="600" dirty="0">
                <a:solidFill>
                  <a:schemeClr val="tx1"/>
                </a:solidFill>
              </a:rPr>
              <a:t> </a:t>
            </a:r>
            <a:endParaRPr lang="en-US" sz="1300" dirty="0"/>
          </a:p>
          <a:p>
            <a:pPr indent="0" marL="0">
              <a:buNone/>
            </a:pPr>
            <a:r>
              <a:rPr lang="en-US" sz="1100" dirty="0">
                <a:solidFill>
                  <a:schemeClr val="tx1"/>
                </a:solidFill>
                <a:latin typeface="Consolas" pitchFamily="34" charset="0"/>
                <a:ea typeface="Consolas" pitchFamily="34" charset="-122"/>
                <a:cs typeface="Consolas" pitchFamily="34" charset="-120"/>
              </a:rPr>
              <a:t>C ← round((0.6 C + 0.4 C*) / 5) · 5</a:t>
            </a:r>
            <a:endParaRPr lang="en-US" sz="1300" dirty="0"/>
          </a:p>
          <a:p>
            <a:pPr indent="0" marL="0">
              <a:buNone/>
            </a:pPr>
            <a:r>
              <a:rPr lang="en-US" sz="600" dirty="0">
                <a:solidFill>
                  <a:schemeClr val="tx1"/>
                </a:solidFill>
              </a:rPr>
              <a:t> </a:t>
            </a:r>
            <a:endParaRPr lang="en-US" sz="1300" dirty="0"/>
          </a:p>
          <a:p>
            <a:pPr indent="0" marL="0">
              <a:buNone/>
            </a:pPr>
            <a:r>
              <a:rPr lang="en-US" sz="1300" dirty="0">
                <a:solidFill>
                  <a:schemeClr val="tx1"/>
                </a:solidFill>
              </a:rPr>
              <a:t>Rounding the smoothed state every minute stalls it one 5 s step short of its target: it could never leave 45–115 s. Fix: keep the smoothed value unrounded, round only what is executed. Test added; every result rerun.</a:t>
            </a:r>
            <a:endParaRPr lang="en-US" sz="1300" dirty="0"/>
          </a:p>
          <a:p>
            <a:pPr indent="0" marL="0">
              <a:buNone/>
            </a:pPr>
            <a:r>
              <a:rPr lang="en-US" sz="600" dirty="0">
                <a:solidFill>
                  <a:schemeClr val="tx1"/>
                </a:solidFill>
              </a:rPr>
              <a:t> </a:t>
            </a:r>
            <a:endParaRPr lang="en-US" sz="1300" dirty="0"/>
          </a:p>
          <a:p>
            <a:pPr indent="0" marL="0">
              <a:buNone/>
            </a:pPr>
            <a:r>
              <a:rPr lang="en-US" sz="1300" b="1" dirty="0">
                <a:solidFill>
                  <a:schemeClr val="tx1"/>
                </a:solidFill>
              </a:rPr>
              <a:t>Effect: storm 12% → 15%, event 5% worse → 5% better.</a:t>
            </a:r>
            <a:endParaRPr lang="en-US" sz="13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LIVE DEMO</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bg1"/>
                </a:solidFill>
              </a:rPr>
              <a:t>Same traffic, two controllers, side by side</a:t>
            </a:r>
            <a:endParaRPr lang="en-US" sz="2500" dirty="0"/>
          </a:p>
        </p:txBody>
      </p:sp>
      <p:sp>
        <p:nvSpPr>
          <p:cNvPr id="4" name="clip-0"/>
          <p:cNvSpPr/>
          <p:nvPr/>
        </p:nvSpPr>
        <p:spPr>
          <a:xfrm>
            <a:off x="502920" y="1600200"/>
            <a:ext cx="2103120" cy="1417320"/>
          </a:xfrm>
          <a:prstGeom prst="roundRect">
            <a:avLst>
              <a:gd name="adj" fmla="val 5161"/>
            </a:avLst>
          </a:prstGeom>
          <a:solidFill>
            <a:schemeClr val="tx2"/>
          </a:solidFill>
          <a:ln w="9525">
            <a:solidFill>
              <a:srgbClr val="48515C"/>
            </a:solidFill>
            <a:prstDash val="solid"/>
          </a:ln>
        </p:spPr>
      </p:sp>
      <p:sp>
        <p:nvSpPr>
          <p:cNvPr id="5" name="Text 3"/>
          <p:cNvSpPr txBox="1"/>
          <p:nvPr/>
        </p:nvSpPr>
        <p:spPr>
          <a:xfrm>
            <a:off x="640080" y="1691640"/>
            <a:ext cx="457200" cy="4114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051560" y="1737360"/>
            <a:ext cx="1463040" cy="320040"/>
          </a:xfrm>
          <a:prstGeom prst="rect">
            <a:avLst/>
          </a:prstGeom>
          <a:noFill/>
          <a:ln/>
        </p:spPr>
        <p:txBody>
          <a:bodyPr wrap="square" lIns="0" tIns="0" rIns="0" bIns="0" rtlCol="0" anchor="t"/>
          <a:lstStyle/>
          <a:p>
            <a:pPr indent="0" marL="0">
              <a:buNone/>
            </a:pPr>
            <a:r>
              <a:rPr lang="en-US" sz="1300" b="1" dirty="0">
                <a:solidFill>
                  <a:schemeClr val="bg1"/>
                </a:solidFill>
              </a:rPr>
              <a:t>Normal hour</a:t>
            </a:r>
            <a:endParaRPr lang="en-US" sz="1300" dirty="0"/>
          </a:p>
        </p:txBody>
      </p:sp>
      <p:sp>
        <p:nvSpPr>
          <p:cNvPr id="7" name="Text 5"/>
          <p:cNvSpPr txBox="1"/>
          <p:nvPr/>
        </p:nvSpPr>
        <p:spPr>
          <a:xfrm>
            <a:off x="640080" y="2194560"/>
            <a:ext cx="1828800" cy="731520"/>
          </a:xfrm>
          <a:prstGeom prst="rect">
            <a:avLst/>
          </a:prstGeom>
          <a:noFill/>
          <a:ln/>
        </p:spPr>
        <p:txBody>
          <a:bodyPr wrap="square" lIns="0" tIns="0" rIns="0" bIns="0" rtlCol="0" anchor="t"/>
          <a:lstStyle/>
          <a:p>
            <a:pPr indent="0" marL="0">
              <a:buNone/>
            </a:pPr>
            <a:r>
              <a:rPr lang="en-US" sz="1100" dirty="0">
                <a:solidFill>
                  <a:srgbClr val="C9C4B8"/>
                </a:solidFill>
              </a:rPr>
              <a:t>Gap-out keeps light approaches moving</a:t>
            </a:r>
            <a:endParaRPr lang="en-US" sz="1100" dirty="0"/>
          </a:p>
        </p:txBody>
      </p:sp>
      <p:sp>
        <p:nvSpPr>
          <p:cNvPr id="8" name="clip-1"/>
          <p:cNvSpPr/>
          <p:nvPr/>
        </p:nvSpPr>
        <p:spPr>
          <a:xfrm>
            <a:off x="2788920" y="1600200"/>
            <a:ext cx="2103120" cy="1417320"/>
          </a:xfrm>
          <a:prstGeom prst="roundRect">
            <a:avLst>
              <a:gd name="adj" fmla="val 5161"/>
            </a:avLst>
          </a:prstGeom>
          <a:solidFill>
            <a:schemeClr val="tx2"/>
          </a:solidFill>
          <a:ln w="9525">
            <a:solidFill>
              <a:srgbClr val="48515C"/>
            </a:solidFill>
            <a:prstDash val="solid"/>
          </a:ln>
        </p:spPr>
      </p:sp>
      <p:sp>
        <p:nvSpPr>
          <p:cNvPr id="9" name="Text 7"/>
          <p:cNvSpPr txBox="1"/>
          <p:nvPr/>
        </p:nvSpPr>
        <p:spPr>
          <a:xfrm>
            <a:off x="2926080" y="1691640"/>
            <a:ext cx="457200" cy="4114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3337560" y="1737360"/>
            <a:ext cx="1463040" cy="320040"/>
          </a:xfrm>
          <a:prstGeom prst="rect">
            <a:avLst/>
          </a:prstGeom>
          <a:noFill/>
          <a:ln/>
        </p:spPr>
        <p:txBody>
          <a:bodyPr wrap="square" lIns="0" tIns="0" rIns="0" bIns="0" rtlCol="0" anchor="t"/>
          <a:lstStyle/>
          <a:p>
            <a:pPr indent="0" marL="0">
              <a:buNone/>
            </a:pPr>
            <a:r>
              <a:rPr lang="en-US" sz="1300" b="1" dirty="0">
                <a:solidFill>
                  <a:schemeClr val="bg1"/>
                </a:solidFill>
              </a:rPr>
              <a:t>Morning peak</a:t>
            </a:r>
            <a:endParaRPr lang="en-US" sz="1300" dirty="0"/>
          </a:p>
        </p:txBody>
      </p:sp>
      <p:sp>
        <p:nvSpPr>
          <p:cNvPr id="11" name="Text 9"/>
          <p:cNvSpPr txBox="1"/>
          <p:nvPr/>
        </p:nvSpPr>
        <p:spPr>
          <a:xfrm>
            <a:off x="2926080" y="2194560"/>
            <a:ext cx="1828800" cy="731520"/>
          </a:xfrm>
          <a:prstGeom prst="rect">
            <a:avLst/>
          </a:prstGeom>
          <a:noFill/>
          <a:ln/>
        </p:spPr>
        <p:txBody>
          <a:bodyPr wrap="square" lIns="0" tIns="0" rIns="0" bIns="0" rtlCol="0" anchor="t"/>
          <a:lstStyle/>
          <a:p>
            <a:pPr indent="0" marL="0">
              <a:buNone/>
            </a:pPr>
            <a:r>
              <a:rPr lang="en-US" sz="1100" dirty="0">
                <a:solidFill>
                  <a:srgbClr val="C9C4B8"/>
                </a:solidFill>
              </a:rPr>
              <a:t>Splits follow the tide; cycle grows</a:t>
            </a:r>
            <a:endParaRPr lang="en-US" sz="1100" dirty="0"/>
          </a:p>
        </p:txBody>
      </p:sp>
      <p:sp>
        <p:nvSpPr>
          <p:cNvPr id="12" name="clip-2"/>
          <p:cNvSpPr/>
          <p:nvPr/>
        </p:nvSpPr>
        <p:spPr>
          <a:xfrm>
            <a:off x="5074920" y="1600200"/>
            <a:ext cx="2103120" cy="1417320"/>
          </a:xfrm>
          <a:prstGeom prst="roundRect">
            <a:avLst>
              <a:gd name="adj" fmla="val 5161"/>
            </a:avLst>
          </a:prstGeom>
          <a:solidFill>
            <a:schemeClr val="tx2"/>
          </a:solidFill>
          <a:ln w="9525">
            <a:solidFill>
              <a:srgbClr val="48515C"/>
            </a:solidFill>
            <a:prstDash val="solid"/>
          </a:ln>
        </p:spPr>
      </p:sp>
      <p:sp>
        <p:nvSpPr>
          <p:cNvPr id="13" name="Text 11"/>
          <p:cNvSpPr txBox="1"/>
          <p:nvPr/>
        </p:nvSpPr>
        <p:spPr>
          <a:xfrm>
            <a:off x="5212080" y="1691640"/>
            <a:ext cx="457200" cy="4114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3</a:t>
            </a:r>
            <a:endParaRPr lang="en-US" sz="2200" dirty="0"/>
          </a:p>
        </p:txBody>
      </p:sp>
      <p:sp>
        <p:nvSpPr>
          <p:cNvPr id="14" name="Text 12"/>
          <p:cNvSpPr txBox="1"/>
          <p:nvPr/>
        </p:nvSpPr>
        <p:spPr>
          <a:xfrm>
            <a:off x="5623560" y="1737360"/>
            <a:ext cx="1463040" cy="320040"/>
          </a:xfrm>
          <a:prstGeom prst="rect">
            <a:avLst/>
          </a:prstGeom>
          <a:noFill/>
          <a:ln/>
        </p:spPr>
        <p:txBody>
          <a:bodyPr wrap="square" lIns="0" tIns="0" rIns="0" bIns="0" rtlCol="0" anchor="t"/>
          <a:lstStyle/>
          <a:p>
            <a:pPr indent="0" marL="0">
              <a:buNone/>
            </a:pPr>
            <a:r>
              <a:rPr lang="en-US" sz="1300" b="1" dirty="0">
                <a:solidFill>
                  <a:schemeClr val="bg1"/>
                </a:solidFill>
              </a:rPr>
              <a:t>Storm</a:t>
            </a:r>
            <a:endParaRPr lang="en-US" sz="1300" dirty="0"/>
          </a:p>
        </p:txBody>
      </p:sp>
      <p:sp>
        <p:nvSpPr>
          <p:cNvPr id="15" name="Text 13"/>
          <p:cNvSpPr txBox="1"/>
          <p:nvPr/>
        </p:nvSpPr>
        <p:spPr>
          <a:xfrm>
            <a:off x="5212080" y="2194560"/>
            <a:ext cx="1828800" cy="731520"/>
          </a:xfrm>
          <a:prstGeom prst="rect">
            <a:avLst/>
          </a:prstGeom>
          <a:noFill/>
          <a:ln/>
        </p:spPr>
        <p:txBody>
          <a:bodyPr wrap="square" lIns="0" tIns="0" rIns="0" bIns="0" rtlCol="0" anchor="t"/>
          <a:lstStyle/>
          <a:p>
            <a:pPr indent="0" marL="0">
              <a:buNone/>
            </a:pPr>
            <a:r>
              <a:rPr lang="en-US" sz="1100" dirty="0">
                <a:solidFill>
                  <a:srgbClr val="C9C4B8"/>
                </a:solidFill>
              </a:rPr>
              <a:t>Saturation flow falls; estimate drifts high</a:t>
            </a:r>
            <a:endParaRPr lang="en-US" sz="1100" dirty="0"/>
          </a:p>
        </p:txBody>
      </p:sp>
      <p:sp>
        <p:nvSpPr>
          <p:cNvPr id="16" name="clip-3"/>
          <p:cNvSpPr/>
          <p:nvPr/>
        </p:nvSpPr>
        <p:spPr>
          <a:xfrm>
            <a:off x="7360920" y="1600200"/>
            <a:ext cx="2103120" cy="1417320"/>
          </a:xfrm>
          <a:prstGeom prst="roundRect">
            <a:avLst>
              <a:gd name="adj" fmla="val 5161"/>
            </a:avLst>
          </a:prstGeom>
          <a:solidFill>
            <a:schemeClr val="tx2"/>
          </a:solidFill>
          <a:ln w="9525">
            <a:solidFill>
              <a:srgbClr val="48515C"/>
            </a:solidFill>
            <a:prstDash val="solid"/>
          </a:ln>
        </p:spPr>
      </p:sp>
      <p:sp>
        <p:nvSpPr>
          <p:cNvPr id="17" name="Text 15"/>
          <p:cNvSpPr txBox="1"/>
          <p:nvPr/>
        </p:nvSpPr>
        <p:spPr>
          <a:xfrm>
            <a:off x="7498080" y="1691640"/>
            <a:ext cx="457200" cy="4114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4</a:t>
            </a:r>
            <a:endParaRPr lang="en-US" sz="2200" dirty="0"/>
          </a:p>
        </p:txBody>
      </p:sp>
      <p:sp>
        <p:nvSpPr>
          <p:cNvPr id="18" name="Text 16"/>
          <p:cNvSpPr txBox="1"/>
          <p:nvPr/>
        </p:nvSpPr>
        <p:spPr>
          <a:xfrm>
            <a:off x="7909560" y="1737360"/>
            <a:ext cx="1463040" cy="320040"/>
          </a:xfrm>
          <a:prstGeom prst="rect">
            <a:avLst/>
          </a:prstGeom>
          <a:noFill/>
          <a:ln/>
        </p:spPr>
        <p:txBody>
          <a:bodyPr wrap="square" lIns="0" tIns="0" rIns="0" bIns="0" rtlCol="0" anchor="t"/>
          <a:lstStyle/>
          <a:p>
            <a:pPr indent="0" marL="0">
              <a:buNone/>
            </a:pPr>
            <a:r>
              <a:rPr lang="en-US" sz="1300" b="1" dirty="0">
                <a:solidFill>
                  <a:schemeClr val="bg1"/>
                </a:solidFill>
              </a:rPr>
              <a:t>Accident</a:t>
            </a:r>
            <a:endParaRPr lang="en-US" sz="1300" dirty="0"/>
          </a:p>
        </p:txBody>
      </p:sp>
      <p:sp>
        <p:nvSpPr>
          <p:cNvPr id="19" name="Text 17"/>
          <p:cNvSpPr txBox="1"/>
          <p:nvPr/>
        </p:nvSpPr>
        <p:spPr>
          <a:xfrm>
            <a:off x="7498080" y="2194560"/>
            <a:ext cx="1828800" cy="731520"/>
          </a:xfrm>
          <a:prstGeom prst="rect">
            <a:avLst/>
          </a:prstGeom>
          <a:noFill/>
          <a:ln/>
        </p:spPr>
        <p:txBody>
          <a:bodyPr wrap="square" lIns="0" tIns="0" rIns="0" bIns="0" rtlCol="0" anchor="t"/>
          <a:lstStyle/>
          <a:p>
            <a:pPr indent="0" marL="0">
              <a:buNone/>
            </a:pPr>
            <a:r>
              <a:rPr lang="en-US" sz="1100" dirty="0">
                <a:solidFill>
                  <a:srgbClr val="C9C4B8"/>
                </a:solidFill>
              </a:rPr>
              <a:t>Incident feed → fallback plan</a:t>
            </a:r>
            <a:endParaRPr lang="en-US" sz="1100" dirty="0"/>
          </a:p>
        </p:txBody>
      </p:sp>
      <p:sp>
        <p:nvSpPr>
          <p:cNvPr id="20" name="clip-4"/>
          <p:cNvSpPr/>
          <p:nvPr/>
        </p:nvSpPr>
        <p:spPr>
          <a:xfrm>
            <a:off x="9646920" y="1600200"/>
            <a:ext cx="2103120" cy="1417320"/>
          </a:xfrm>
          <a:prstGeom prst="roundRect">
            <a:avLst>
              <a:gd name="adj" fmla="val 5161"/>
            </a:avLst>
          </a:prstGeom>
          <a:solidFill>
            <a:schemeClr val="tx2"/>
          </a:solidFill>
          <a:ln w="9525">
            <a:solidFill>
              <a:srgbClr val="48515C"/>
            </a:solidFill>
            <a:prstDash val="solid"/>
          </a:ln>
        </p:spPr>
      </p:sp>
      <p:sp>
        <p:nvSpPr>
          <p:cNvPr id="21" name="Text 19"/>
          <p:cNvSpPr txBox="1"/>
          <p:nvPr/>
        </p:nvSpPr>
        <p:spPr>
          <a:xfrm>
            <a:off x="9784080" y="1691640"/>
            <a:ext cx="457200" cy="4114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5</a:t>
            </a:r>
            <a:endParaRPr lang="en-US" sz="2200" dirty="0"/>
          </a:p>
        </p:txBody>
      </p:sp>
      <p:sp>
        <p:nvSpPr>
          <p:cNvPr id="22" name="Text 20"/>
          <p:cNvSpPr txBox="1"/>
          <p:nvPr/>
        </p:nvSpPr>
        <p:spPr>
          <a:xfrm>
            <a:off x="10195560" y="1737360"/>
            <a:ext cx="1463040" cy="320040"/>
          </a:xfrm>
          <a:prstGeom prst="rect">
            <a:avLst/>
          </a:prstGeom>
          <a:noFill/>
          <a:ln/>
        </p:spPr>
        <p:txBody>
          <a:bodyPr wrap="square" lIns="0" tIns="0" rIns="0" bIns="0" rtlCol="0" anchor="t"/>
          <a:lstStyle/>
          <a:p>
            <a:pPr indent="0" marL="0">
              <a:buNone/>
            </a:pPr>
            <a:r>
              <a:rPr lang="en-US" sz="1300" b="1" dirty="0">
                <a:solidFill>
                  <a:schemeClr val="bg1"/>
                </a:solidFill>
              </a:rPr>
              <a:t>Stadium event</a:t>
            </a:r>
            <a:endParaRPr lang="en-US" sz="1300" dirty="0"/>
          </a:p>
        </p:txBody>
      </p:sp>
      <p:sp>
        <p:nvSpPr>
          <p:cNvPr id="23" name="Text 21"/>
          <p:cNvSpPr txBox="1"/>
          <p:nvPr/>
        </p:nvSpPr>
        <p:spPr>
          <a:xfrm>
            <a:off x="9784080" y="2194560"/>
            <a:ext cx="1828800" cy="731520"/>
          </a:xfrm>
          <a:prstGeom prst="rect">
            <a:avLst/>
          </a:prstGeom>
          <a:noFill/>
          <a:ln/>
        </p:spPr>
        <p:txBody>
          <a:bodyPr wrap="square" lIns="0" tIns="0" rIns="0" bIns="0" rtlCol="0" anchor="t"/>
          <a:lstStyle/>
          <a:p>
            <a:pPr indent="0" marL="0">
              <a:buNone/>
            </a:pPr>
            <a:r>
              <a:rPr lang="en-US" sz="1100" dirty="0">
                <a:solidFill>
                  <a:srgbClr val="C9C4B8"/>
                </a:solidFill>
              </a:rPr>
              <a:t>Calendar sees the surge; estimate struggles</a:t>
            </a:r>
            <a:endParaRPr lang="en-US" sz="1100" dirty="0"/>
          </a:p>
        </p:txBody>
      </p:sp>
      <p:sp>
        <p:nvSpPr>
          <p:cNvPr id="24" name="Text 22"/>
          <p:cNvSpPr txBox="1"/>
          <p:nvPr/>
        </p:nvSpPr>
        <p:spPr>
          <a:xfrm>
            <a:off x="502920" y="3291840"/>
            <a:ext cx="5486400" cy="320040"/>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What to watch</a:t>
            </a:r>
            <a:endParaRPr lang="en-US" sz="1500" dirty="0"/>
          </a:p>
        </p:txBody>
      </p:sp>
      <p:sp>
        <p:nvSpPr>
          <p:cNvPr id="25" name="watch"/>
          <p:cNvSpPr txBox="1"/>
          <p:nvPr/>
        </p:nvSpPr>
        <p:spPr>
          <a:xfrm>
            <a:off x="502920" y="3703320"/>
            <a:ext cx="6766560" cy="2377440"/>
          </a:xfrm>
          <a:prstGeom prst="rect">
            <a:avLst/>
          </a:prstGeom>
          <a:noFill/>
          <a:ln/>
        </p:spPr>
        <p:txBody>
          <a:bodyPr wrap="square" lIns="0" tIns="0" rIns="0" bIns="0" rtlCol="0" anchor="t"/>
          <a:lstStyle/>
          <a:p>
            <a:pPr marL="177800" indent="-177800">
              <a:spcAft>
                <a:spcPts val="600"/>
              </a:spcAft>
              <a:buSzPct val="100000"/>
              <a:buChar char="•"/>
            </a:pPr>
            <a:r>
              <a:rPr lang="en-US" sz="1250" b="1" dirty="0">
                <a:solidFill>
                  <a:schemeClr val="accent1"/>
                </a:solidFill>
              </a:rPr>
              <a:t>Left vs right: </a:t>
            </a:r>
            <a:pPr indent="0" marL="0">
              <a:buNone/>
            </a:pPr>
            <a:r>
              <a:rPr lang="en-US" sz="1250" dirty="0">
                <a:solidFill>
                  <a:schemeClr val="bg2"/>
                </a:solidFill>
              </a:rPr>
              <a:t>tuned fixed plan vs optimiser on identical cars (same seed).</a:t>
            </a:r>
            <a:endParaRPr lang="en-US" sz="1200" dirty="0"/>
          </a:p>
          <a:p>
            <a:pPr marL="177800" indent="-177800">
              <a:spcAft>
                <a:spcPts val="600"/>
              </a:spcAft>
              <a:buSzPct val="100000"/>
              <a:buChar char="•"/>
            </a:pPr>
            <a:r>
              <a:rPr lang="en-US" sz="1250" b="1" dirty="0">
                <a:solidFill>
                  <a:schemeClr val="accent1"/>
                </a:solidFill>
              </a:rPr>
              <a:t>Estimate vs truth: </a:t>
            </a:r>
            <a:pPr indent="0" marL="0">
              <a:buNone/>
            </a:pPr>
            <a:r>
              <a:rPr lang="en-US" sz="1250" dirty="0">
                <a:solidFill>
                  <a:schemeClr val="bg2"/>
                </a:solidFill>
              </a:rPr>
              <a:t>the controller's cars per road next to the real count it never sees.</a:t>
            </a:r>
            <a:endParaRPr lang="en-US" sz="1200" dirty="0"/>
          </a:p>
          <a:p>
            <a:pPr marL="177800" indent="-177800">
              <a:spcAft>
                <a:spcPts val="600"/>
              </a:spcAft>
              <a:buSzPct val="100000"/>
              <a:buChar char="•"/>
            </a:pPr>
            <a:r>
              <a:rPr lang="en-US" sz="1250" b="1" dirty="0">
                <a:solidFill>
                  <a:schemeClr val="accent1"/>
                </a:solidFill>
              </a:rPr>
              <a:t>Plan: </a:t>
            </a:r>
            <a:pPr indent="0" marL="0">
              <a:buNone/>
            </a:pPr>
            <a:r>
              <a:rPr lang="en-US" sz="1250" dirty="0">
                <a:solidFill>
                  <a:schemeClr val="bg2"/>
                </a:solidFill>
              </a:rPr>
              <a:t>current NS share and cycle at each junction.</a:t>
            </a:r>
            <a:endParaRPr lang="en-US" sz="1200" dirty="0"/>
          </a:p>
          <a:p>
            <a:pPr marL="177800" indent="-177800">
              <a:spcAft>
                <a:spcPts val="600"/>
              </a:spcAft>
              <a:buSzPct val="100000"/>
              <a:buChar char="•"/>
            </a:pPr>
            <a:r>
              <a:rPr lang="en-US" sz="1250" b="1" dirty="0">
                <a:solidFill>
                  <a:schemeClr val="accent1"/>
                </a:solidFill>
              </a:rPr>
              <a:t>Forecast chart: </a:t>
            </a:r>
            <a:pPr indent="0" marL="0">
              <a:buNone/>
            </a:pPr>
            <a:r>
              <a:rPr lang="en-US" sz="1250" dirty="0">
                <a:solidFill>
                  <a:schemeClr val="bg2"/>
                </a:solidFill>
              </a:rPr>
              <a:t>counted arrivals, the forecast, and the true demand (hidden from the controller); event window shaded.</a:t>
            </a:r>
            <a:endParaRPr lang="en-US" sz="1200" dirty="0"/>
          </a:p>
        </p:txBody>
      </p:sp>
      <p:sp>
        <p:nvSpPr>
          <p:cNvPr id="26" name="card-Honest clip selectio"/>
          <p:cNvSpPr/>
          <p:nvPr/>
        </p:nvSpPr>
        <p:spPr>
          <a:xfrm>
            <a:off x="7680960" y="3291840"/>
            <a:ext cx="4007815" cy="2743200"/>
          </a:xfrm>
          <a:prstGeom prst="roundRect">
            <a:avLst>
              <a:gd name="adj" fmla="val 2667"/>
            </a:avLst>
          </a:prstGeom>
          <a:solidFill>
            <a:schemeClr val="tx2"/>
          </a:solidFill>
          <a:ln w="9525">
            <a:solidFill>
              <a:srgbClr val="48515C"/>
            </a:solidFill>
            <a:prstDash val="solid"/>
          </a:ln>
        </p:spPr>
      </p:sp>
      <p:sp>
        <p:nvSpPr>
          <p:cNvPr id="27" name="card-head-Honest clip "/>
          <p:cNvSpPr txBox="1"/>
          <p:nvPr/>
        </p:nvSpPr>
        <p:spPr>
          <a:xfrm>
            <a:off x="7845552" y="3419856"/>
            <a:ext cx="3678631" cy="329184"/>
          </a:xfrm>
          <a:prstGeom prst="rect">
            <a:avLst/>
          </a:prstGeom>
          <a:noFill/>
          <a:ln/>
        </p:spPr>
        <p:txBody>
          <a:bodyPr wrap="square" lIns="0" tIns="0" rIns="0" bIns="0" rtlCol="0" anchor="t"/>
          <a:lstStyle/>
          <a:p>
            <a:pPr indent="0" marL="0">
              <a:buNone/>
            </a:pPr>
            <a:r>
              <a:rPr lang="en-US" sz="1350" b="1" dirty="0">
                <a:solidFill>
                  <a:schemeClr val="bg1"/>
                </a:solidFill>
                <a:latin typeface="Cambria" pitchFamily="34" charset="0"/>
                <a:ea typeface="Cambria" pitchFamily="34" charset="-122"/>
                <a:cs typeface="Cambria" pitchFamily="34" charset="-120"/>
              </a:rPr>
              <a:t>Honest clip selection</a:t>
            </a:r>
            <a:endParaRPr lang="en-US" sz="1350" dirty="0"/>
          </a:p>
        </p:txBody>
      </p:sp>
      <p:sp>
        <p:nvSpPr>
          <p:cNvPr id="28" name="card-body-Honest clip "/>
          <p:cNvSpPr txBox="1"/>
          <p:nvPr/>
        </p:nvSpPr>
        <p:spPr>
          <a:xfrm>
            <a:off x="7845552" y="3785616"/>
            <a:ext cx="3678631" cy="2157984"/>
          </a:xfrm>
          <a:prstGeom prst="rect">
            <a:avLst/>
          </a:prstGeom>
          <a:noFill/>
          <a:ln/>
        </p:spPr>
        <p:txBody>
          <a:bodyPr wrap="square" lIns="0" tIns="0" rIns="0" bIns="0" rtlCol="0" anchor="t"/>
          <a:lstStyle/>
          <a:p>
            <a:pPr indent="0" marL="0">
              <a:buNone/>
            </a:pPr>
            <a:r>
              <a:rPr lang="en-US" sz="1150" dirty="0">
                <a:solidFill>
                  <a:srgbClr val="C9C4B8"/>
                </a:solidFill>
              </a:rPr>
              <a:t>Windows chosen by a rule: the worst quarter-hour for the fixed plan across held-out seeds (for the event, its first quarter-hour). Each clip is one random day (seed 300); the viewer shows the held-out average beside it.</a:t>
            </a:r>
            <a:endParaRPr lang="en-US" sz="1150" dirty="0"/>
          </a:p>
          <a:p>
            <a:pPr indent="0" marL="0">
              <a:buNone/>
            </a:pPr>
            <a:endParaRPr lang="en-US" sz="1150" dirty="0"/>
          </a:p>
          <a:p>
            <a:pPr indent="0" marL="0">
              <a:buNone/>
            </a:pPr>
            <a:r>
              <a:rPr lang="en-US" sz="1150" dirty="0">
                <a:solidFill>
                  <a:srgbClr val="C9C4B8"/>
                </a:solidFill>
              </a:rPr>
              <a:t>outputs/demo_viewer.html</a:t>
            </a:r>
            <a:endParaRPr lang="en-US" sz="115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4 · RESULTS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Held-out: ahead of the tuned plan in all six scenarios, by 5–32%</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accent1"/>
          </a:solidFill>
          <a:ln w="9525">
            <a:solidFill>
              <a:schemeClr val="accent1"/>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RESULTS</a:t>
            </a:r>
            <a:endParaRPr lang="en-US" sz="800" dirty="0"/>
          </a:p>
        </p:txBody>
      </p:sp>
      <p:graphicFrame>
        <p:nvGraphicFramePr>
          <p:cNvPr id="12" name="chart-results" descr=""/>
          <p:cNvGraphicFramePr/>
          <p:nvPr/>
        </p:nvGraphicFramePr>
        <p:xfrm>
          <a:off x="502920" y="1371600"/>
          <a:ext cx="694944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table"/>
          <p:cNvGraphicFramePr>
            <a:graphicFrameLocks noGrp="1"/>
          </p:cNvGraphicFramePr>
          <p:nvPr>
            <p:extLst>
              <p:ext uri="{D42A27DB-BD31-4B8C-83A1-F6EECF244321}">
                <p14:modId xmlns:p14="http://schemas.microsoft.com/office/powerpoint/2010/main" val="1579011935"/>
              </p:ext>
            </p:extLst>
          </p:nvPr>
        </p:nvGraphicFramePr>
        <p:xfrm>
          <a:off x="7635240" y="1417320"/>
          <a:ext cx="4053535" cy="914400"/>
        </p:xfrm>
        <a:graphic>
          <a:graphicData uri="http://schemas.openxmlformats.org/drawingml/2006/table">
            <a:tbl>
              <a:tblPr/>
              <a:tblGrid>
                <a:gridCol w="1463040"/>
                <a:gridCol w="731520"/>
                <a:gridCol w="1371600"/>
                <a:gridCol w="484632"/>
              </a:tblGrid>
              <a:tr h="256032">
                <a:tc>
                  <a:txBody>
                    <a:bodyPr/>
                    <a:lstStyle/>
                    <a:p>
                      <a:pPr algn="l" indent="0" marL="0">
                        <a:buNone/>
                      </a:pPr>
                      <a:r>
                        <a:rPr lang="en-US" sz="1000" b="1" dirty="0">
                          <a:solidFill>
                            <a:schemeClr val="bg1"/>
                          </a:solidFill>
                        </a:rPr>
                        <a:t>vs tuned plan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Saving</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s saved, 95% CI</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n</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b="1" dirty="0">
                          <a:solidFill>
                            <a:schemeClr val="tx1"/>
                          </a:solidFill>
                        </a:rPr>
                        <a:t>Typical morning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32%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22.8 ± 4.0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Busy morning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22%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31.4 ± 28.8</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Storm</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15%</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30.5 ± 11.2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Evening</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14%</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13.8 ± 3.7</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Accident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7%</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17.1 ± 18.3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Stadium event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5%</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6.3 ± 19.3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14" name="results-read"/>
          <p:cNvSpPr txBox="1"/>
          <p:nvPr/>
        </p:nvSpPr>
        <p:spPr>
          <a:xfrm>
            <a:off x="7635240" y="3794760"/>
            <a:ext cx="4053535" cy="2514600"/>
          </a:xfrm>
          <a:prstGeom prst="rect">
            <a:avLst/>
          </a:prstGeom>
          <a:noFill/>
          <a:ln/>
        </p:spPr>
        <p:txBody>
          <a:bodyPr wrap="square" lIns="0" tIns="0" rIns="0" bIns="0" rtlCol="0" anchor="t"/>
          <a:lstStyle/>
          <a:p>
            <a:pPr marL="177800" indent="-177800">
              <a:spcAft>
                <a:spcPts val="400"/>
              </a:spcAft>
              <a:buSzPct val="100000"/>
              <a:buChar char="•"/>
            </a:pPr>
            <a:r>
              <a:rPr lang="en-US" sz="1100" dirty="0">
                <a:solidFill>
                  <a:schemeClr val="tx1"/>
                </a:solidFill>
              </a:rPr>
              <a:t>vs the untuned 60 s plan: 43–64% better everywhere.</a:t>
            </a:r>
            <a:endParaRPr lang="en-US" sz="1200" dirty="0"/>
          </a:p>
          <a:p>
            <a:pPr marL="177800" indent="-177800">
              <a:spcAft>
                <a:spcPts val="400"/>
              </a:spcAft>
              <a:buSzPct val="100000"/>
              <a:buChar char="•"/>
            </a:pPr>
            <a:r>
              <a:rPr lang="en-US" sz="1100" dirty="0">
                <a:solidFill>
                  <a:schemeClr val="tx1"/>
                </a:solidFill>
              </a:rPr>
              <a:t>Clearly significant: typical, storm, evening; busy only just (3 seeds). Accident and event: not significant.</a:t>
            </a:r>
            <a:endParaRPr lang="en-US" sz="1200" dirty="0"/>
          </a:p>
          <a:p>
            <a:pPr marL="177800" indent="-177800">
              <a:spcAft>
                <a:spcPts val="400"/>
              </a:spcAft>
              <a:buSzPct val="100000"/>
              <a:buChar char="•"/>
            </a:pPr>
            <a:r>
              <a:rPr lang="en-US" sz="1100" dirty="0">
                <a:solidFill>
                  <a:schemeClr val="tx1"/>
                </a:solidFill>
              </a:rPr>
              <a:t>Tail (p95) better on typical (216 → 145 s), busy, storm, accident; level in the evening and event.</a:t>
            </a:r>
            <a:endParaRPr lang="en-US" sz="1200" dirty="0"/>
          </a:p>
          <a:p>
            <a:pPr marL="177800" indent="-177800">
              <a:spcAft>
                <a:spcPts val="400"/>
              </a:spcAft>
              <a:buSzPct val="100000"/>
              <a:buChar char="•"/>
            </a:pPr>
            <a:r>
              <a:rPr lang="en-US" sz="1100" dirty="0">
                <a:solidFill>
                  <a:schemeClr val="tx1"/>
                </a:solidFill>
              </a:rPr>
              <a:t>Throughput unchanged: every controller clears the same demand.</a:t>
            </a:r>
            <a:endParaRPr lang="en-US" sz="12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4 · RESULTS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Value of information: the forecast is not what drives the gain</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accent1"/>
          </a:solidFill>
          <a:ln w="9525">
            <a:solidFill>
              <a:schemeClr val="accent1"/>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RESULTS</a:t>
            </a:r>
            <a:endParaRPr lang="en-US" sz="800" dirty="0"/>
          </a:p>
        </p:txBody>
      </p:sp>
      <p:graphicFrame>
        <p:nvGraphicFramePr>
          <p:cNvPr id="22"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4023360"/>
                <a:gridCol w="1188720"/>
                <a:gridCol w="1188720"/>
                <a:gridCol w="1188720"/>
                <a:gridCol w="1188720"/>
                <a:gridCol w="1188720"/>
                <a:gridCol w="1207008"/>
              </a:tblGrid>
              <a:tr h="310896">
                <a:tc>
                  <a:txBody>
                    <a:bodyPr/>
                    <a:lstStyle/>
                    <a:p>
                      <a:pPr algn="l" indent="0" marL="0">
                        <a:buNone/>
                      </a:pPr>
                      <a:r>
                        <a:rPr lang="en-US" sz="1100" b="1" dirty="0">
                          <a:solidFill>
                            <a:schemeClr val="bg1"/>
                          </a:solidFill>
                        </a:rPr>
                        <a:t>Forecast given to the same optimiser</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Typical</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Busy</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Storm</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Evening</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Accident</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Event</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310896">
                <a:tc>
                  <a:txBody>
                    <a:bodyPr/>
                    <a:lstStyle/>
                    <a:p>
                      <a:pPr algn="l" indent="0" marL="0">
                        <a:buNone/>
                      </a:pPr>
                      <a:r>
                        <a:rPr lang="en-US" sz="1150" dirty="0">
                          <a:solidFill>
                            <a:schemeClr val="tx1"/>
                          </a:solidFill>
                        </a:rPr>
                        <a:t>Repeat the last window's count (persistence)</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49.2</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109.3</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162.8</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84.7</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226.9</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135.4</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310896">
                <a:tc>
                  <a:txBody>
                    <a:bodyPr/>
                    <a:lstStyle/>
                    <a:p>
                      <a:pPr algn="l" indent="0" marL="0">
                        <a:buNone/>
                      </a:pPr>
                      <a:r>
                        <a:rPr lang="en-US" sz="1150" dirty="0">
                          <a:solidFill>
                            <a:schemeClr val="tx1"/>
                          </a:solidFill>
                        </a:rPr>
                        <a:t>Calendar + weather only (patterns)</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49.3</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120.3</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179.1</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88.9</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230.1</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130.1</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310896">
                <a:tc>
                  <a:txBody>
                    <a:bodyPr/>
                    <a:lstStyle/>
                    <a:p>
                      <a:pPr algn="l" indent="0" marL="0">
                        <a:buNone/>
                      </a:pPr>
                      <a:r>
                        <a:rPr lang="en-US" sz="1150" b="1" dirty="0">
                          <a:solidFill>
                            <a:schemeClr val="tx1"/>
                          </a:solidFill>
                        </a:rPr>
                        <a:t>Live forecast (the model)</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50" b="1" dirty="0">
                          <a:solidFill>
                            <a:schemeClr val="tx1"/>
                          </a:solidFill>
                        </a:rPr>
                        <a:t>49.4</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50" b="1" dirty="0">
                          <a:solidFill>
                            <a:schemeClr val="tx1"/>
                          </a:solidFill>
                        </a:rPr>
                        <a:t>110.7</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50" b="1" dirty="0">
                          <a:solidFill>
                            <a:schemeClr val="tx1"/>
                          </a:solidFill>
                        </a:rPr>
                        <a:t>169.1</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50" b="1" dirty="0">
                          <a:solidFill>
                            <a:schemeClr val="tx1"/>
                          </a:solidFill>
                        </a:rPr>
                        <a:t>86.2</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50" b="1" dirty="0">
                          <a:solidFill>
                            <a:schemeClr val="tx1"/>
                          </a:solidFill>
                        </a:rPr>
                        <a:t>225.0</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50" b="1" dirty="0">
                          <a:solidFill>
                            <a:schemeClr val="tx1"/>
                          </a:solidFill>
                        </a:rPr>
                        <a:t>132.3</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r>
              <a:tr h="310896">
                <a:tc>
                  <a:txBody>
                    <a:bodyPr/>
                    <a:lstStyle/>
                    <a:p>
                      <a:pPr algn="l" indent="0" marL="0">
                        <a:buNone/>
                      </a:pPr>
                      <a:r>
                        <a:rPr lang="en-US" sz="1150" dirty="0">
                          <a:solidFill>
                            <a:schemeClr val="tx1"/>
                          </a:solidFill>
                        </a:rPr>
                        <a:t>Perfect forecast (oracle: the true rate)</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49.1</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112.2</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176.8</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87.2</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228.4</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50" dirty="0">
                          <a:solidFill>
                            <a:schemeClr val="tx1"/>
                          </a:solidFill>
                        </a:rPr>
                        <a:t>128.8</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310896">
                <a:tc>
                  <a:txBody>
                    <a:bodyPr/>
                    <a:lstStyle/>
                    <a:p>
                      <a:pPr algn="l" indent="0" marL="0">
                        <a:buNone/>
                      </a:pPr>
                      <a:r>
                        <a:rPr lang="en-US" sz="1150" dirty="0">
                          <a:solidFill>
                            <a:schemeClr val="tx1"/>
                          </a:solidFill>
                        </a:rPr>
                        <a:t>Tuned fixed plan, for reference</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72.2</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142.1</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199.6</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100.1</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242.1</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50" dirty="0">
                          <a:solidFill>
                            <a:schemeClr val="tx1"/>
                          </a:solidFill>
                        </a:rPr>
                        <a:t>138.6</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bl>
          </a:graphicData>
        </a:graphic>
      </p:graphicFrame>
      <p:sp>
        <p:nvSpPr>
          <p:cNvPr id="13" name="card-Why it doesn't matte"/>
          <p:cNvSpPr/>
          <p:nvPr/>
        </p:nvSpPr>
        <p:spPr>
          <a:xfrm>
            <a:off x="502920" y="3931920"/>
            <a:ext cx="3606698" cy="2377440"/>
          </a:xfrm>
          <a:prstGeom prst="roundRect">
            <a:avLst>
              <a:gd name="adj" fmla="val 3077"/>
            </a:avLst>
          </a:prstGeom>
          <a:solidFill>
            <a:schemeClr val="bg1"/>
          </a:solidFill>
          <a:ln w="9525">
            <a:solidFill>
              <a:srgbClr val="DDD8CC"/>
            </a:solidFill>
            <a:prstDash val="solid"/>
          </a:ln>
        </p:spPr>
      </p:sp>
      <p:sp>
        <p:nvSpPr>
          <p:cNvPr id="14" name="Shape 11"/>
          <p:cNvSpPr/>
          <p:nvPr/>
        </p:nvSpPr>
        <p:spPr>
          <a:xfrm>
            <a:off x="667512" y="4114800"/>
            <a:ext cx="384048" cy="45720"/>
          </a:xfrm>
          <a:prstGeom prst="rect">
            <a:avLst/>
          </a:prstGeom>
          <a:solidFill>
            <a:schemeClr val="accent4"/>
          </a:solidFill>
          <a:ln w="12700">
            <a:solidFill>
              <a:schemeClr val="accent4"/>
            </a:solidFill>
            <a:prstDash val="solid"/>
          </a:ln>
        </p:spPr>
      </p:sp>
      <p:sp>
        <p:nvSpPr>
          <p:cNvPr id="15" name="card-head-Why it doesn"/>
          <p:cNvSpPr txBox="1"/>
          <p:nvPr/>
        </p:nvSpPr>
        <p:spPr>
          <a:xfrm>
            <a:off x="667512" y="420624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it doesn't matter (normal days)</a:t>
            </a:r>
            <a:endParaRPr lang="en-US" sz="1350" dirty="0"/>
          </a:p>
        </p:txBody>
      </p:sp>
      <p:sp>
        <p:nvSpPr>
          <p:cNvPr id="16" name="card-body-Why it doesn"/>
          <p:cNvSpPr txBox="1"/>
          <p:nvPr/>
        </p:nvSpPr>
        <p:spPr>
          <a:xfrm>
            <a:off x="667512" y="4572000"/>
            <a:ext cx="3277514" cy="1645920"/>
          </a:xfrm>
          <a:prstGeom prst="rect">
            <a:avLst/>
          </a:prstGeom>
          <a:noFill/>
          <a:ln/>
        </p:spPr>
        <p:txBody>
          <a:bodyPr wrap="square" lIns="0" tIns="0" rIns="0" bIns="0" rtlCol="0" anchor="t"/>
          <a:lstStyle/>
          <a:p>
            <a:pPr indent="0" marL="0">
              <a:buNone/>
            </a:pPr>
            <a:r>
              <a:rPr lang="en-US" sz="1300" dirty="0">
                <a:solidFill>
                  <a:schemeClr val="tx1"/>
                </a:solidFill>
              </a:rPr>
              <a:t>At a 15-minute horizon the forecast's value is mostly “today's level now”, and the controller re-plans every minute from counts that already carry it. A perfect forecast is within noise of persistence.</a:t>
            </a:r>
            <a:endParaRPr lang="en-US" sz="1300" dirty="0"/>
          </a:p>
        </p:txBody>
      </p:sp>
      <p:sp>
        <p:nvSpPr>
          <p:cNvPr id="17" name="card-The event: where it "/>
          <p:cNvSpPr/>
          <p:nvPr/>
        </p:nvSpPr>
        <p:spPr>
          <a:xfrm>
            <a:off x="4292498" y="3931920"/>
            <a:ext cx="3606698" cy="2377440"/>
          </a:xfrm>
          <a:prstGeom prst="roundRect">
            <a:avLst>
              <a:gd name="adj" fmla="val 3077"/>
            </a:avLst>
          </a:prstGeom>
          <a:solidFill>
            <a:schemeClr val="bg1"/>
          </a:solidFill>
          <a:ln w="9525">
            <a:solidFill>
              <a:srgbClr val="DDD8CC"/>
            </a:solidFill>
            <a:prstDash val="solid"/>
          </a:ln>
        </p:spPr>
      </p:sp>
      <p:sp>
        <p:nvSpPr>
          <p:cNvPr id="18" name="Shape 15"/>
          <p:cNvSpPr/>
          <p:nvPr/>
        </p:nvSpPr>
        <p:spPr>
          <a:xfrm>
            <a:off x="4457090" y="4114800"/>
            <a:ext cx="384048" cy="45720"/>
          </a:xfrm>
          <a:prstGeom prst="rect">
            <a:avLst/>
          </a:prstGeom>
          <a:solidFill>
            <a:schemeClr val="accent1"/>
          </a:solidFill>
          <a:ln w="12700">
            <a:solidFill>
              <a:schemeClr val="accent1"/>
            </a:solidFill>
            <a:prstDash val="solid"/>
          </a:ln>
        </p:spPr>
      </p:sp>
      <p:sp>
        <p:nvSpPr>
          <p:cNvPr id="19" name="card-head-The event: w"/>
          <p:cNvSpPr txBox="1"/>
          <p:nvPr/>
        </p:nvSpPr>
        <p:spPr>
          <a:xfrm>
            <a:off x="4457090" y="420624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The event: where it should matter</a:t>
            </a:r>
            <a:endParaRPr lang="en-US" sz="1350" dirty="0"/>
          </a:p>
        </p:txBody>
      </p:sp>
      <p:sp>
        <p:nvSpPr>
          <p:cNvPr id="20" name="card-body-The event: w"/>
          <p:cNvSpPr txBox="1"/>
          <p:nvPr/>
        </p:nvSpPr>
        <p:spPr>
          <a:xfrm>
            <a:off x="4457090" y="4572000"/>
            <a:ext cx="3277514" cy="1645920"/>
          </a:xfrm>
          <a:prstGeom prst="rect">
            <a:avLst/>
          </a:prstGeom>
          <a:noFill/>
          <a:ln/>
        </p:spPr>
        <p:txBody>
          <a:bodyPr wrap="square" lIns="0" tIns="0" rIns="0" bIns="0" rtlCol="0" anchor="t"/>
          <a:lstStyle/>
          <a:p>
            <a:pPr indent="0" marL="0">
              <a:buNone/>
            </a:pPr>
            <a:r>
              <a:rPr lang="en-US" sz="1300" dirty="0">
                <a:solidFill>
                  <a:schemeClr val="tx1"/>
                </a:solidFill>
              </a:rPr>
              <a:t>The calendar tells the forecaster about the crowd before it arrives, and the forecast is right (13% vs 40% error). The perfect forecast is the best event row, by 7 s out of 130 with a ±19 s spread: not significant.</a:t>
            </a:r>
            <a:endParaRPr lang="en-US" sz="1300" dirty="0"/>
          </a:p>
        </p:txBody>
      </p:sp>
      <p:sp>
        <p:nvSpPr>
          <p:cNvPr id="21" name="card-Where the gain actua"/>
          <p:cNvSpPr/>
          <p:nvPr/>
        </p:nvSpPr>
        <p:spPr>
          <a:xfrm>
            <a:off x="8082077" y="3931920"/>
            <a:ext cx="3606698" cy="2377440"/>
          </a:xfrm>
          <a:prstGeom prst="roundRect">
            <a:avLst>
              <a:gd name="adj" fmla="val 3077"/>
            </a:avLst>
          </a:prstGeom>
          <a:solidFill>
            <a:schemeClr val="bg1"/>
          </a:solidFill>
          <a:ln w="9525">
            <a:solidFill>
              <a:srgbClr val="DDD8CC"/>
            </a:solidFill>
            <a:prstDash val="solid"/>
          </a:ln>
        </p:spPr>
      </p:sp>
      <p:sp>
        <p:nvSpPr>
          <p:cNvPr id="22" name="Shape 19"/>
          <p:cNvSpPr/>
          <p:nvPr/>
        </p:nvSpPr>
        <p:spPr>
          <a:xfrm>
            <a:off x="8246669" y="4114800"/>
            <a:ext cx="384048" cy="45720"/>
          </a:xfrm>
          <a:prstGeom prst="rect">
            <a:avLst/>
          </a:prstGeom>
          <a:solidFill>
            <a:schemeClr val="accent2"/>
          </a:solidFill>
          <a:ln w="12700">
            <a:solidFill>
              <a:schemeClr val="accent2"/>
            </a:solidFill>
            <a:prstDash val="solid"/>
          </a:ln>
        </p:spPr>
      </p:sp>
      <p:sp>
        <p:nvSpPr>
          <p:cNvPr id="23" name="card-head-Where the ga"/>
          <p:cNvSpPr txBox="1"/>
          <p:nvPr/>
        </p:nvSpPr>
        <p:spPr>
          <a:xfrm>
            <a:off x="8246669" y="4206240"/>
            <a:ext cx="327751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Where the gain actually is</a:t>
            </a:r>
            <a:endParaRPr lang="en-US" sz="1350" dirty="0"/>
          </a:p>
        </p:txBody>
      </p:sp>
      <p:sp>
        <p:nvSpPr>
          <p:cNvPr id="24" name="card-body-Where the ga"/>
          <p:cNvSpPr txBox="1"/>
          <p:nvPr/>
        </p:nvSpPr>
        <p:spPr>
          <a:xfrm>
            <a:off x="8246669" y="4572000"/>
            <a:ext cx="3277514" cy="1645920"/>
          </a:xfrm>
          <a:prstGeom prst="rect">
            <a:avLst/>
          </a:prstGeom>
          <a:noFill/>
          <a:ln/>
        </p:spPr>
        <p:txBody>
          <a:bodyPr wrap="square" lIns="0" tIns="0" rIns="0" bIns="0" rtlCol="0" anchor="t"/>
          <a:lstStyle/>
          <a:p>
            <a:pPr indent="0" marL="0">
              <a:buNone/>
            </a:pPr>
            <a:r>
              <a:rPr lang="en-US" sz="1300" dirty="0">
                <a:solidFill>
                  <a:schemeClr val="tx1"/>
                </a:solidFill>
              </a:rPr>
              <a:t>The queue model, gap-out and the optimiser. In a surge the limit is the queue estimate, not the arrivals forecast. The next improvement is a measurement of the queues, not a better model.</a:t>
            </a:r>
            <a:endParaRPr lang="en-US" sz="13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4 · RESULTS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Accident and stadium event: where counts-only runs out</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accent1"/>
          </a:solidFill>
          <a:ln w="9525">
            <a:solidFill>
              <a:schemeClr val="accent1"/>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RESULTS</a:t>
            </a:r>
            <a:endParaRPr lang="en-US" sz="800" dirty="0"/>
          </a:p>
        </p:txBody>
      </p:sp>
      <p:sp>
        <p:nvSpPr>
          <p:cNvPr id="12" name="Text 10"/>
          <p:cNvSpPr txBox="1"/>
          <p:nvPr/>
        </p:nvSpPr>
        <p:spPr>
          <a:xfrm>
            <a:off x="502920" y="1417320"/>
            <a:ext cx="5432908" cy="292608"/>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Accident: one lane blocked 15 min at the peak (10 seeds)</a:t>
            </a:r>
            <a:endParaRPr lang="en-US" sz="1300" dirty="0"/>
          </a:p>
        </p:txBody>
      </p:sp>
      <p:graphicFrame>
        <p:nvGraphicFramePr>
          <p:cNvPr id="23" name="table"/>
          <p:cNvGraphicFramePr>
            <a:graphicFrameLocks noGrp="1"/>
          </p:cNvGraphicFramePr>
          <p:nvPr>
            <p:extLst>
              <p:ext uri="{D42A27DB-BD31-4B8C-83A1-F6EECF244321}">
                <p14:modId xmlns:p14="http://schemas.microsoft.com/office/powerpoint/2010/main" val="1579011935"/>
              </p:ext>
            </p:extLst>
          </p:nvPr>
        </p:nvGraphicFramePr>
        <p:xfrm>
          <a:off x="502920" y="1783080"/>
          <a:ext cx="5432908" cy="914400"/>
        </p:xfrm>
        <a:graphic>
          <a:graphicData uri="http://schemas.openxmlformats.org/drawingml/2006/table">
            <a:tbl>
              <a:tblPr/>
              <a:tblGrid>
                <a:gridCol w="1874520"/>
                <a:gridCol w="868680"/>
                <a:gridCol w="1005840"/>
                <a:gridCol w="640080"/>
                <a:gridCol w="1197864"/>
              </a:tblGrid>
              <a:tr h="256032">
                <a:tc>
                  <a:txBody>
                    <a:bodyPr/>
                    <a:lstStyle/>
                    <a:p>
                      <a:pPr algn="l" indent="0" marL="0">
                        <a:buNone/>
                      </a:pPr>
                      <a:r>
                        <a:rPr lang="en-US" sz="1000" b="1" dirty="0">
                          <a:solidFill>
                            <a:schemeClr val="bg1"/>
                          </a:solidFill>
                        </a:rPr>
                        <a:t>Controller</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Normal day</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With accident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Cost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Worst seed</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dirty="0">
                          <a:solidFill>
                            <a:schemeClr val="tx1"/>
                          </a:solidFill>
                        </a:rPr>
                        <a:t>Fixed 60 s (untuned)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114.1</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417.1</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+303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1189 (gridlock)</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Fixed, tuned (120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72.2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242.1</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+170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400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Optimiser + fallback</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49.4</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225.0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+176</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311</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r>
              <a:tr h="256032">
                <a:tc>
                  <a:txBody>
                    <a:bodyPr/>
                    <a:lstStyle/>
                    <a:p>
                      <a:pPr algn="l" indent="0" marL="0">
                        <a:buNone/>
                      </a:pPr>
                      <a:r>
                        <a:rPr lang="en-US" sz="1050" dirty="0">
                          <a:solidFill>
                            <a:schemeClr val="tx1"/>
                          </a:solidFill>
                        </a:rPr>
                        <a:t>Optimiser, no incident feed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456.5</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1165 (2 gridlocks)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14" name="acc-read"/>
          <p:cNvSpPr txBox="1"/>
          <p:nvPr/>
        </p:nvSpPr>
        <p:spPr>
          <a:xfrm>
            <a:off x="502920" y="3520440"/>
            <a:ext cx="5432908" cy="2788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The accident adds ~170–180 s per car under any controller that keeps moving: there is no rerouting, so cars wait for it to clear.</a:t>
            </a:r>
            <a:endParaRPr lang="en-US" sz="1200" dirty="0"/>
          </a:p>
          <a:p>
            <a:pPr marL="177800" indent="-177800">
              <a:spcAft>
                <a:spcPts val="600"/>
              </a:spcAft>
              <a:buSzPct val="100000"/>
              <a:buChar char="•"/>
            </a:pPr>
            <a:r>
              <a:rPr lang="en-US" sz="1250" dirty="0">
                <a:solidFill>
                  <a:schemeClr val="tx1"/>
                </a:solidFill>
              </a:rPr>
              <a:t>The optimiser wins the day (7%, n.s.) because it is ahead before the accident; the accident itself costs it slightly more.</a:t>
            </a:r>
            <a:endParaRPr lang="en-US" sz="1200" dirty="0"/>
          </a:p>
          <a:p>
            <a:pPr marL="177800" indent="-177800">
              <a:spcAft>
                <a:spcPts val="600"/>
              </a:spcAft>
              <a:buSzPct val="100000"/>
              <a:buChar char="•"/>
            </a:pPr>
            <a:r>
              <a:rPr lang="en-US" sz="1250" dirty="0">
                <a:solidFill>
                  <a:schemeClr val="tx1"/>
                </a:solidFill>
              </a:rPr>
              <a:t>The incident feed is essential: without it, two of ten days gridlock.</a:t>
            </a:r>
            <a:endParaRPr lang="en-US" sz="1200" dirty="0"/>
          </a:p>
        </p:txBody>
      </p:sp>
      <p:sp>
        <p:nvSpPr>
          <p:cNvPr id="15" name="Text 12"/>
          <p:cNvSpPr txBox="1"/>
          <p:nvPr/>
        </p:nvSpPr>
        <p:spPr>
          <a:xfrm>
            <a:off x="6255868" y="1417320"/>
            <a:ext cx="5432908" cy="292608"/>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Stadium event: two entries double for 45 min (10 seeds)</a:t>
            </a:r>
            <a:endParaRPr lang="en-US" sz="1300" dirty="0"/>
          </a:p>
        </p:txBody>
      </p:sp>
      <p:graphicFrame>
        <p:nvGraphicFramePr>
          <p:cNvPr id="45" name="table"/>
          <p:cNvGraphicFramePr>
            <a:graphicFrameLocks noGrp="1"/>
          </p:cNvGraphicFramePr>
          <p:nvPr>
            <p:extLst>
              <p:ext uri="{D42A27DB-BD31-4B8C-83A1-F6EECF244321}">
                <p14:modId xmlns:p14="http://schemas.microsoft.com/office/powerpoint/2010/main" val="1579011935"/>
              </p:ext>
            </p:extLst>
          </p:nvPr>
        </p:nvGraphicFramePr>
        <p:xfrm>
          <a:off x="6255868" y="1783080"/>
          <a:ext cx="5432908" cy="914400"/>
        </p:xfrm>
        <a:graphic>
          <a:graphicData uri="http://schemas.openxmlformats.org/drawingml/2006/table">
            <a:tbl>
              <a:tblPr/>
              <a:tblGrid>
                <a:gridCol w="1783080"/>
                <a:gridCol w="1005840"/>
                <a:gridCol w="822960"/>
                <a:gridCol w="594360"/>
                <a:gridCol w="1225296"/>
              </a:tblGrid>
              <a:tr h="256032">
                <a:tc>
                  <a:txBody>
                    <a:bodyPr/>
                    <a:lstStyle/>
                    <a:p>
                      <a:pPr algn="l" indent="0" marL="0">
                        <a:buNone/>
                      </a:pPr>
                      <a:r>
                        <a:rPr lang="en-US" sz="1000" b="1" dirty="0">
                          <a:solidFill>
                            <a:schemeClr val="bg1"/>
                          </a:solidFill>
                        </a:rPr>
                        <a:t>Controller</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Normal evening</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With event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Cost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Range</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dirty="0">
                          <a:solidFill>
                            <a:schemeClr val="tx1"/>
                          </a:solidFill>
                        </a:rPr>
                        <a:t>Fixed 60 s (untuned)</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238.7</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314.2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+76</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214–440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Fixed, tuned (180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100.1</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138.6</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+39</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100–179</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Optimiser, live forecast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86.2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132.3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+46</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050" b="1" dirty="0">
                          <a:solidFill>
                            <a:schemeClr val="tx1"/>
                          </a:solidFill>
                        </a:rPr>
                        <a:t>83–217</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r>
            </a:tbl>
          </a:graphicData>
        </a:graphic>
      </p:graphicFrame>
      <p:sp>
        <p:nvSpPr>
          <p:cNvPr id="17" name="event-read"/>
          <p:cNvSpPr txBox="1"/>
          <p:nvPr/>
        </p:nvSpPr>
        <p:spPr>
          <a:xfrm>
            <a:off x="6255868" y="3246120"/>
            <a:ext cx="5432908" cy="30632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chemeClr val="tx1"/>
                </a:solidFill>
              </a:rPr>
              <a:t>Ahead on 9 of 10 seeds (by 2–24 s), but one seed (207) goes badly: 217 s vs 149 s.</a:t>
            </a:r>
            <a:endParaRPr lang="en-US" sz="1200" dirty="0"/>
          </a:p>
          <a:p>
            <a:pPr marL="177800" indent="-177800">
              <a:spcAft>
                <a:spcPts val="600"/>
              </a:spcAft>
              <a:buSzPct val="100000"/>
              <a:buChar char="•"/>
            </a:pPr>
            <a:r>
              <a:rPr lang="en-US" sz="1250" dirty="0">
                <a:solidFill>
                  <a:schemeClr val="tx1"/>
                </a:solidFill>
              </a:rPr>
              <a:t>The forecast was right: at 16:10 it predicted 685 cars/h on the eastbound entries vs 392 at the time.</a:t>
            </a:r>
            <a:endParaRPr lang="en-US" sz="1200" dirty="0"/>
          </a:p>
          <a:p>
            <a:pPr marL="177800" indent="-177800">
              <a:spcAft>
                <a:spcPts val="600"/>
              </a:spcAft>
              <a:buSzPct val="100000"/>
              <a:buChar char="•"/>
            </a:pPr>
            <a:r>
              <a:rPr lang="en-US" sz="1250" dirty="0">
                <a:solidFill>
                  <a:schemeClr val="tx1"/>
                </a:solidFill>
              </a:rPr>
              <a:t>The estimate fails: when roads downstream fill, it still assumes full entry roads drain at saturation, and counters go quiet as cars queue outside. It sees an empty approach and starves it: the accident's failure mode, caused by demand.</a:t>
            </a:r>
            <a:endParaRPr lang="en-US" sz="1200" dirty="0"/>
          </a:p>
          <a:p>
            <a:pPr marL="177800" indent="-177800">
              <a:spcAft>
                <a:spcPts val="600"/>
              </a:spcAft>
              <a:buSzPct val="100000"/>
              <a:buChar char="•"/>
            </a:pPr>
            <a:r>
              <a:rPr lang="en-US" sz="1250" dirty="0">
                <a:solidFill>
                  <a:schemeClr val="tx1"/>
                </a:solidFill>
              </a:rPr>
              <a:t>Raising the cycle cap to 180 s made both evening and event worse (tuning seeds); not adopted.</a:t>
            </a:r>
            <a:endParaRPr lang="en-US" sz="12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4 · RESULTS</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Scalability and engineering</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accent1"/>
          </a:solidFill>
          <a:ln w="9525">
            <a:solidFill>
              <a:schemeClr val="accent1"/>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RESULTS</a:t>
            </a:r>
            <a:endParaRPr lang="en-US" sz="800" dirty="0"/>
          </a:p>
        </p:txBody>
      </p:sp>
      <p:graphicFrame>
        <p:nvGraphicFramePr>
          <p:cNvPr id="12" name="chart-scal" descr=""/>
          <p:cNvGraphicFramePr/>
          <p:nvPr/>
        </p:nvGraphicFramePr>
        <p:xfrm>
          <a:off x="502920" y="1371600"/>
          <a:ext cx="539496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table"/>
          <p:cNvGraphicFramePr>
            <a:graphicFrameLocks noGrp="1"/>
          </p:cNvGraphicFramePr>
          <p:nvPr>
            <p:extLst>
              <p:ext uri="{D42A27DB-BD31-4B8C-83A1-F6EECF244321}">
                <p14:modId xmlns:p14="http://schemas.microsoft.com/office/powerpoint/2010/main" val="1579011935"/>
              </p:ext>
            </p:extLst>
          </p:nvPr>
        </p:nvGraphicFramePr>
        <p:xfrm>
          <a:off x="502920" y="4572000"/>
          <a:ext cx="5394960" cy="914400"/>
        </p:xfrm>
        <a:graphic>
          <a:graphicData uri="http://schemas.openxmlformats.org/drawingml/2006/table">
            <a:tbl>
              <a:tblPr/>
              <a:tblGrid>
                <a:gridCol w="731520"/>
                <a:gridCol w="960120"/>
                <a:gridCol w="1508760"/>
                <a:gridCol w="2194560"/>
              </a:tblGrid>
              <a:tr h="256032">
                <a:tc>
                  <a:txBody>
                    <a:bodyPr/>
                    <a:lstStyle/>
                    <a:p>
                      <a:pPr algn="l" indent="0" marL="0">
                        <a:buNone/>
                      </a:pPr>
                      <a:r>
                        <a:rPr lang="en-US" sz="1000" b="1" dirty="0">
                          <a:solidFill>
                            <a:schemeClr val="bg1"/>
                          </a:solidFill>
                        </a:rPr>
                        <a:t>Grid</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Junctions</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Mean / max solve</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Delay: untuned fixed vs optimiser</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dirty="0">
                          <a:solidFill>
                            <a:schemeClr val="tx1"/>
                          </a:solidFill>
                        </a:rPr>
                        <a:t>2x2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4</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38 / 42 ms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45 vs 37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4x4</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16</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203 / 254 ms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79 vs 74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dirty="0">
                          <a:solidFill>
                            <a:schemeClr val="tx1"/>
                          </a:solidFill>
                        </a:rPr>
                        <a:t>6x6</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36</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512 / 591 ms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109 vs 103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dirty="0">
                          <a:solidFill>
                            <a:schemeClr val="tx1"/>
                          </a:solidFill>
                        </a:rPr>
                        <a:t>10x10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100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1.9 / 2.4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147 vs 132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14" name="Text 10"/>
          <p:cNvSpPr txBox="1"/>
          <p:nvPr/>
        </p:nvSpPr>
        <p:spPr>
          <a:xfrm>
            <a:off x="502920" y="5943600"/>
            <a:ext cx="5394960" cy="411480"/>
          </a:xfrm>
          <a:prstGeom prst="rect">
            <a:avLst/>
          </a:prstGeom>
          <a:noFill/>
          <a:ln/>
        </p:spPr>
        <p:txBody>
          <a:bodyPr wrap="square" lIns="0" tIns="0" rIns="0" bIns="0" rtlCol="0" anchor="t"/>
          <a:lstStyle/>
          <a:p>
            <a:pPr indent="0" marL="0">
              <a:buNone/>
            </a:pPr>
            <a:r>
              <a:rPr lang="en-US" sz="950" i="1" dirty="0">
                <a:solidFill>
                  <a:schemeClr val="accent5"/>
                </a:solidFill>
              </a:rPr>
              <a:t>~19 ms per junction against a 60 s budget. Larger grids use the persistence forecast (the GLM is fitted to the 2x2's entries); one seed, 20 min, untuned.</a:t>
            </a:r>
            <a:endParaRPr lang="en-US" sz="950" dirty="0"/>
          </a:p>
        </p:txBody>
      </p:sp>
      <p:sp>
        <p:nvSpPr>
          <p:cNvPr id="15" name="card-33 tests (pytest, ~2"/>
          <p:cNvSpPr/>
          <p:nvPr/>
        </p:nvSpPr>
        <p:spPr>
          <a:xfrm>
            <a:off x="6263640" y="1371600"/>
            <a:ext cx="5425135" cy="2423160"/>
          </a:xfrm>
          <a:prstGeom prst="roundRect">
            <a:avLst>
              <a:gd name="adj" fmla="val 3019"/>
            </a:avLst>
          </a:prstGeom>
          <a:solidFill>
            <a:schemeClr val="bg1"/>
          </a:solidFill>
          <a:ln w="9525">
            <a:solidFill>
              <a:srgbClr val="DDD8CC"/>
            </a:solidFill>
            <a:prstDash val="solid"/>
          </a:ln>
        </p:spPr>
      </p:sp>
      <p:sp>
        <p:nvSpPr>
          <p:cNvPr id="16" name="Shape 12"/>
          <p:cNvSpPr/>
          <p:nvPr/>
        </p:nvSpPr>
        <p:spPr>
          <a:xfrm>
            <a:off x="6428232" y="1554480"/>
            <a:ext cx="384048" cy="45720"/>
          </a:xfrm>
          <a:prstGeom prst="rect">
            <a:avLst/>
          </a:prstGeom>
          <a:solidFill>
            <a:schemeClr val="accent2"/>
          </a:solidFill>
          <a:ln w="12700">
            <a:solidFill>
              <a:schemeClr val="accent2"/>
            </a:solidFill>
            <a:prstDash val="solid"/>
          </a:ln>
        </p:spPr>
      </p:sp>
      <p:sp>
        <p:nvSpPr>
          <p:cNvPr id="17" name="card-head-33 tests (py"/>
          <p:cNvSpPr txBox="1"/>
          <p:nvPr/>
        </p:nvSpPr>
        <p:spPr>
          <a:xfrm>
            <a:off x="6428232" y="1645920"/>
            <a:ext cx="5095951"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33 tests (pytest, ~20 s)</a:t>
            </a:r>
            <a:endParaRPr lang="en-US" sz="1350" dirty="0"/>
          </a:p>
        </p:txBody>
      </p:sp>
      <p:sp>
        <p:nvSpPr>
          <p:cNvPr id="18" name="card-body-33 tests (py"/>
          <p:cNvSpPr txBox="1"/>
          <p:nvPr/>
        </p:nvSpPr>
        <p:spPr>
          <a:xfrm>
            <a:off x="6428232" y="2011680"/>
            <a:ext cx="5095951" cy="1691640"/>
          </a:xfrm>
          <a:prstGeom prst="rect">
            <a:avLst/>
          </a:prstGeom>
          <a:noFill/>
          <a:ln/>
        </p:spPr>
        <p:txBody>
          <a:bodyPr wrap="square" lIns="0" tIns="0" rIns="0" bIns="0" rtlCol="0" anchor="t"/>
          <a:lstStyle/>
          <a:p>
            <a:pPr indent="0" marL="0">
              <a:buNone/>
            </a:pPr>
            <a:endParaRPr lang="en-US" sz="1150" dirty="0"/>
          </a:p>
        </p:txBody>
      </p:sp>
      <p:sp>
        <p:nvSpPr>
          <p:cNvPr id="19" name="tests"/>
          <p:cNvSpPr txBox="1"/>
          <p:nvPr/>
        </p:nvSpPr>
        <p:spPr>
          <a:xfrm>
            <a:off x="6428232" y="2011680"/>
            <a:ext cx="5095951" cy="1737360"/>
          </a:xfrm>
          <a:prstGeom prst="rect">
            <a:avLst/>
          </a:prstGeom>
          <a:noFill/>
          <a:ln/>
        </p:spPr>
        <p:txBody>
          <a:bodyPr wrap="square" lIns="0" tIns="0" rIns="0" bIns="0" rtlCol="0" anchor="t"/>
          <a:lstStyle/>
          <a:p>
            <a:pPr marL="177800" indent="-177800">
              <a:spcAft>
                <a:spcPts val="300"/>
              </a:spcAft>
              <a:buSzPct val="100000"/>
              <a:buChar char="•"/>
            </a:pPr>
            <a:r>
              <a:rPr lang="en-US" sz="1100" b="1" dirty="0">
                <a:solidFill>
                  <a:schemeClr val="tx1"/>
                </a:solidFill>
              </a:rPr>
              <a:t>Simulator: </a:t>
            </a:r>
            <a:pPr indent="0" marL="0">
              <a:buNone/>
            </a:pPr>
            <a:r>
              <a:rPr lang="en-US" sz="1100" dirty="0">
                <a:solidFill>
                  <a:schemeClr val="tx1"/>
                </a:solidFill>
              </a:rPr>
              <a:t>conservation, no overlap, saturation flow, rain, accident, events, reproducibility, common random numbers.</a:t>
            </a:r>
            <a:endParaRPr lang="en-US" sz="1200" dirty="0"/>
          </a:p>
          <a:p>
            <a:pPr marL="177800" indent="-177800">
              <a:spcAft>
                <a:spcPts val="300"/>
              </a:spcAft>
              <a:buSzPct val="100000"/>
              <a:buChar char="•"/>
            </a:pPr>
            <a:r>
              <a:rPr lang="en-US" sz="1100" b="1" dirty="0">
                <a:solidFill>
                  <a:schemeClr val="tx1"/>
                </a:solidFill>
              </a:rPr>
              <a:t>Forecaster: </a:t>
            </a:r>
            <a:pPr indent="0" marL="0">
              <a:buNone/>
            </a:pPr>
            <a:r>
              <a:rPr lang="en-US" sz="1100" dirty="0">
                <a:solidFill>
                  <a:schemeClr val="tx1"/>
                </a:solidFill>
              </a:rPr>
              <a:t>past-only features, no oracle or occupancy columns, whole-day splits, censoring guard.</a:t>
            </a:r>
            <a:endParaRPr lang="en-US" sz="1200" dirty="0"/>
          </a:p>
          <a:p>
            <a:pPr marL="177800" indent="-177800">
              <a:spcAft>
                <a:spcPts val="300"/>
              </a:spcAft>
              <a:buSzPct val="100000"/>
              <a:buChar char="•"/>
            </a:pPr>
            <a:r>
              <a:rPr lang="en-US" sz="1100" b="1" dirty="0">
                <a:solidFill>
                  <a:schemeClr val="tx1"/>
                </a:solidFill>
              </a:rPr>
              <a:t>Optimiser: </a:t>
            </a:r>
            <a:pPr indent="0" marL="0">
              <a:buNone/>
            </a:pPr>
            <a:r>
              <a:rPr lang="en-US" sz="1100" dirty="0">
                <a:solidFill>
                  <a:schemeClr val="tx1"/>
                </a:solidFill>
              </a:rPr>
              <a:t>counts-only observation, bounds hold, splits follow demand, blocked roads get no green, cycle smoothing reaches both caps, fallback window.</a:t>
            </a:r>
            <a:endParaRPr lang="en-US" sz="1200" dirty="0"/>
          </a:p>
        </p:txBody>
      </p:sp>
      <p:sp>
        <p:nvSpPr>
          <p:cNvPr id="20" name="card-Code and reproducibi"/>
          <p:cNvSpPr/>
          <p:nvPr/>
        </p:nvSpPr>
        <p:spPr>
          <a:xfrm>
            <a:off x="6263640" y="3931920"/>
            <a:ext cx="5425135" cy="2377440"/>
          </a:xfrm>
          <a:prstGeom prst="roundRect">
            <a:avLst>
              <a:gd name="adj" fmla="val 3077"/>
            </a:avLst>
          </a:prstGeom>
          <a:solidFill>
            <a:schemeClr val="bg1"/>
          </a:solidFill>
          <a:ln w="9525">
            <a:solidFill>
              <a:srgbClr val="DDD8CC"/>
            </a:solidFill>
            <a:prstDash val="solid"/>
          </a:ln>
        </p:spPr>
      </p:sp>
      <p:sp>
        <p:nvSpPr>
          <p:cNvPr id="21" name="Shape 17"/>
          <p:cNvSpPr/>
          <p:nvPr/>
        </p:nvSpPr>
        <p:spPr>
          <a:xfrm>
            <a:off x="6428232" y="4114800"/>
            <a:ext cx="384048" cy="45720"/>
          </a:xfrm>
          <a:prstGeom prst="rect">
            <a:avLst/>
          </a:prstGeom>
          <a:solidFill>
            <a:schemeClr val="tx2"/>
          </a:solidFill>
          <a:ln w="12700">
            <a:solidFill>
              <a:schemeClr val="tx2"/>
            </a:solidFill>
            <a:prstDash val="solid"/>
          </a:ln>
        </p:spPr>
      </p:sp>
      <p:sp>
        <p:nvSpPr>
          <p:cNvPr id="22" name="card-head-Code and rep"/>
          <p:cNvSpPr txBox="1"/>
          <p:nvPr/>
        </p:nvSpPr>
        <p:spPr>
          <a:xfrm>
            <a:off x="6428232" y="4206240"/>
            <a:ext cx="5095951"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Code and reproducibility</a:t>
            </a:r>
            <a:endParaRPr lang="en-US" sz="1350" dirty="0"/>
          </a:p>
        </p:txBody>
      </p:sp>
      <p:sp>
        <p:nvSpPr>
          <p:cNvPr id="23" name="card-body-Code and rep"/>
          <p:cNvSpPr txBox="1"/>
          <p:nvPr/>
        </p:nvSpPr>
        <p:spPr>
          <a:xfrm>
            <a:off x="6428232" y="4572000"/>
            <a:ext cx="5095951" cy="1645920"/>
          </a:xfrm>
          <a:prstGeom prst="rect">
            <a:avLst/>
          </a:prstGeom>
          <a:noFill/>
          <a:ln/>
        </p:spPr>
        <p:txBody>
          <a:bodyPr wrap="square" lIns="0" tIns="0" rIns="0" bIns="0" rtlCol="0" anchor="t"/>
          <a:lstStyle/>
          <a:p>
            <a:pPr indent="0" marL="0">
              <a:buNone/>
            </a:pPr>
            <a:endParaRPr lang="en-US" sz="1150" dirty="0"/>
          </a:p>
        </p:txBody>
      </p:sp>
      <p:sp>
        <p:nvSpPr>
          <p:cNvPr id="24" name="code"/>
          <p:cNvSpPr txBox="1"/>
          <p:nvPr/>
        </p:nvSpPr>
        <p:spPr>
          <a:xfrm>
            <a:off x="6428232" y="4572000"/>
            <a:ext cx="5095951" cy="169164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chemeClr val="tx1"/>
                </a:solidFill>
              </a:rPr>
              <a:t>src/traffic: simulator, demand, scenarios; controllers (fixed, optimiser); forecasting; experiments; viz.</a:t>
            </a:r>
            <a:endParaRPr lang="en-US" sz="1200" dirty="0"/>
          </a:p>
          <a:p>
            <a:pPr marL="177800" indent="-177800">
              <a:spcAft>
                <a:spcPts val="300"/>
              </a:spcAft>
              <a:buSzPct val="100000"/>
              <a:buChar char="•"/>
            </a:pPr>
            <a:r>
              <a:rPr lang="en-US" sz="1100" dirty="0">
                <a:solidFill>
                  <a:schemeClr val="tx1"/>
                </a:solidFill>
              </a:rPr>
              <a:t>Every grid is generated from rows × cols: 10x10 is a config change.</a:t>
            </a:r>
            <a:endParaRPr lang="en-US" sz="1200" dirty="0"/>
          </a:p>
          <a:p>
            <a:pPr marL="177800" indent="-177800">
              <a:spcAft>
                <a:spcPts val="300"/>
              </a:spcAft>
              <a:buSzPct val="100000"/>
              <a:buChar char="•"/>
            </a:pPr>
            <a:r>
              <a:rPr lang="en-US" sz="1100" dirty="0">
                <a:solidFill>
                  <a:schemeClr val="tx1"/>
                </a:solidFill>
              </a:rPr>
              <a:t>Every number in this deck regenerates from the README Setup commands; long runs are chunked and resumable; seeds are fixed.</a:t>
            </a:r>
            <a:endParaRPr lang="en-US" sz="1200" dirty="0"/>
          </a:p>
          <a:p>
            <a:pPr marL="177800" indent="-177800">
              <a:spcAft>
                <a:spcPts val="300"/>
              </a:spcAft>
              <a:buSzPct val="100000"/>
              <a:buChar char="•"/>
            </a:pPr>
            <a:r>
              <a:rPr lang="en-US" sz="1100" dirty="0">
                <a:solidFill>
                  <a:schemeClr val="tx1"/>
                </a:solidFill>
              </a:rPr>
              <a:t>Controller registry: new controllers plug in with one class.</a:t>
            </a:r>
            <a:endParaRPr lang="en-US" sz="12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WRAP-UP</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Limitations, stated plainly, and what I would do next</a:t>
            </a:r>
            <a:endParaRPr lang="en-US" sz="2500" dirty="0"/>
          </a:p>
        </p:txBody>
      </p:sp>
      <p:sp>
        <p:nvSpPr>
          <p:cNvPr id="4" name="tracker-simulation"/>
          <p:cNvSpPr/>
          <p:nvPr/>
        </p:nvSpPr>
        <p:spPr>
          <a:xfrm>
            <a:off x="7427671" y="310896"/>
            <a:ext cx="1024128" cy="237744"/>
          </a:xfrm>
          <a:prstGeom prst="roundRect">
            <a:avLst>
              <a:gd name="adj" fmla="val 23077"/>
            </a:avLst>
          </a:prstGeom>
          <a:solidFill>
            <a:schemeClr val="bg1"/>
          </a:solidFill>
          <a:ln w="9525">
            <a:solidFill>
              <a:srgbClr val="D9D5CB"/>
            </a:solidFill>
            <a:prstDash val="solid"/>
          </a:ln>
        </p:spPr>
      </p:sp>
      <p:sp>
        <p:nvSpPr>
          <p:cNvPr id="5" name="tracker-label-0"/>
          <p:cNvSpPr txBox="1"/>
          <p:nvPr/>
        </p:nvSpPr>
        <p:spPr>
          <a:xfrm>
            <a:off x="7427671"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SIMULATION</a:t>
            </a:r>
            <a:endParaRPr lang="en-US" sz="800" dirty="0"/>
          </a:p>
        </p:txBody>
      </p:sp>
      <p:sp>
        <p:nvSpPr>
          <p:cNvPr id="6" name="tracker-forecaster"/>
          <p:cNvSpPr/>
          <p:nvPr/>
        </p:nvSpPr>
        <p:spPr>
          <a:xfrm>
            <a:off x="8506663" y="310896"/>
            <a:ext cx="1024128" cy="237744"/>
          </a:xfrm>
          <a:prstGeom prst="roundRect">
            <a:avLst>
              <a:gd name="adj" fmla="val 23077"/>
            </a:avLst>
          </a:prstGeom>
          <a:solidFill>
            <a:schemeClr val="bg1"/>
          </a:solidFill>
          <a:ln w="9525">
            <a:solidFill>
              <a:srgbClr val="D9D5CB"/>
            </a:solidFill>
            <a:prstDash val="solid"/>
          </a:ln>
        </p:spPr>
      </p:sp>
      <p:sp>
        <p:nvSpPr>
          <p:cNvPr id="7" name="tracker-label-1"/>
          <p:cNvSpPr txBox="1"/>
          <p:nvPr/>
        </p:nvSpPr>
        <p:spPr>
          <a:xfrm>
            <a:off x="8506663"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FORECASTER</a:t>
            </a:r>
            <a:endParaRPr lang="en-US" sz="800" dirty="0"/>
          </a:p>
        </p:txBody>
      </p:sp>
      <p:sp>
        <p:nvSpPr>
          <p:cNvPr id="8" name="tracker-optimiser"/>
          <p:cNvSpPr/>
          <p:nvPr/>
        </p:nvSpPr>
        <p:spPr>
          <a:xfrm>
            <a:off x="9585655" y="310896"/>
            <a:ext cx="1024128" cy="237744"/>
          </a:xfrm>
          <a:prstGeom prst="roundRect">
            <a:avLst>
              <a:gd name="adj" fmla="val 23077"/>
            </a:avLst>
          </a:prstGeom>
          <a:solidFill>
            <a:schemeClr val="bg1"/>
          </a:solidFill>
          <a:ln w="9525">
            <a:solidFill>
              <a:srgbClr val="D9D5CB"/>
            </a:solidFill>
            <a:prstDash val="solid"/>
          </a:ln>
        </p:spPr>
      </p:sp>
      <p:sp>
        <p:nvSpPr>
          <p:cNvPr id="9" name="tracker-label-2"/>
          <p:cNvSpPr txBox="1"/>
          <p:nvPr/>
        </p:nvSpPr>
        <p:spPr>
          <a:xfrm>
            <a:off x="9585655" y="310896"/>
            <a:ext cx="1024128" cy="237744"/>
          </a:xfrm>
          <a:prstGeom prst="rect">
            <a:avLst/>
          </a:prstGeom>
          <a:noFill/>
          <a:ln/>
        </p:spPr>
        <p:txBody>
          <a:bodyPr wrap="square" lIns="0" tIns="0" rIns="0" bIns="0" rtlCol="0" anchor="ctr"/>
          <a:lstStyle/>
          <a:p>
            <a:pPr algn="ctr" indent="0" marL="0">
              <a:buNone/>
            </a:pPr>
            <a:r>
              <a:rPr lang="en-US" sz="800" spc="100" kern="0" dirty="0">
                <a:solidFill>
                  <a:schemeClr val="accent5"/>
                </a:solidFill>
              </a:rPr>
              <a:t>OPTIMISER</a:t>
            </a:r>
            <a:endParaRPr lang="en-US" sz="800" dirty="0"/>
          </a:p>
        </p:txBody>
      </p:sp>
      <p:sp>
        <p:nvSpPr>
          <p:cNvPr id="10" name="tracker-results"/>
          <p:cNvSpPr/>
          <p:nvPr/>
        </p:nvSpPr>
        <p:spPr>
          <a:xfrm>
            <a:off x="10664647" y="310896"/>
            <a:ext cx="1024128" cy="237744"/>
          </a:xfrm>
          <a:prstGeom prst="roundRect">
            <a:avLst>
              <a:gd name="adj" fmla="val 23077"/>
            </a:avLst>
          </a:prstGeom>
          <a:solidFill>
            <a:schemeClr val="accent1"/>
          </a:solidFill>
          <a:ln w="9525">
            <a:solidFill>
              <a:schemeClr val="accent1"/>
            </a:solidFill>
            <a:prstDash val="solid"/>
          </a:ln>
        </p:spPr>
      </p:sp>
      <p:sp>
        <p:nvSpPr>
          <p:cNvPr id="11" name="tracker-label-3"/>
          <p:cNvSpPr txBox="1"/>
          <p:nvPr/>
        </p:nvSpPr>
        <p:spPr>
          <a:xfrm>
            <a:off x="10664647" y="310896"/>
            <a:ext cx="1024128" cy="237744"/>
          </a:xfrm>
          <a:prstGeom prst="rect">
            <a:avLst/>
          </a:prstGeom>
          <a:noFill/>
          <a:ln/>
        </p:spPr>
        <p:txBody>
          <a:bodyPr wrap="square" lIns="0" tIns="0" rIns="0" bIns="0" rtlCol="0" anchor="ctr"/>
          <a:lstStyle/>
          <a:p>
            <a:pPr algn="ctr" indent="0" marL="0">
              <a:buNone/>
            </a:pPr>
            <a:r>
              <a:rPr lang="en-US" sz="800" b="1" spc="100" kern="0" dirty="0">
                <a:solidFill>
                  <a:schemeClr val="tx1"/>
                </a:solidFill>
              </a:rPr>
              <a:t>RESULTS</a:t>
            </a:r>
            <a:endParaRPr lang="en-US" sz="800" dirty="0"/>
          </a:p>
        </p:txBody>
      </p:sp>
      <p:sp>
        <p:nvSpPr>
          <p:cNvPr id="12" name="card-Limitations"/>
          <p:cNvSpPr/>
          <p:nvPr/>
        </p:nvSpPr>
        <p:spPr>
          <a:xfrm>
            <a:off x="502920" y="1417320"/>
            <a:ext cx="5432908" cy="4892040"/>
          </a:xfrm>
          <a:prstGeom prst="roundRect">
            <a:avLst>
              <a:gd name="adj" fmla="val 1495"/>
            </a:avLst>
          </a:prstGeom>
          <a:solidFill>
            <a:schemeClr val="bg1"/>
          </a:solidFill>
          <a:ln w="9525">
            <a:solidFill>
              <a:srgbClr val="DDD8CC"/>
            </a:solidFill>
            <a:prstDash val="solid"/>
          </a:ln>
        </p:spPr>
      </p:sp>
      <p:sp>
        <p:nvSpPr>
          <p:cNvPr id="13" name="Shape 11"/>
          <p:cNvSpPr/>
          <p:nvPr/>
        </p:nvSpPr>
        <p:spPr>
          <a:xfrm>
            <a:off x="667512" y="1600200"/>
            <a:ext cx="384048" cy="45720"/>
          </a:xfrm>
          <a:prstGeom prst="rect">
            <a:avLst/>
          </a:prstGeom>
          <a:solidFill>
            <a:schemeClr val="accent3"/>
          </a:solidFill>
          <a:ln w="12700">
            <a:solidFill>
              <a:schemeClr val="accent3"/>
            </a:solidFill>
            <a:prstDash val="solid"/>
          </a:ln>
        </p:spPr>
      </p:sp>
      <p:sp>
        <p:nvSpPr>
          <p:cNvPr id="14" name="card-head-Limitations"/>
          <p:cNvSpPr txBox="1"/>
          <p:nvPr/>
        </p:nvSpPr>
        <p:spPr>
          <a:xfrm>
            <a:off x="667512" y="1691640"/>
            <a:ext cx="510372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Limitations</a:t>
            </a:r>
            <a:endParaRPr lang="en-US" sz="1350" dirty="0"/>
          </a:p>
        </p:txBody>
      </p:sp>
      <p:sp>
        <p:nvSpPr>
          <p:cNvPr id="15" name="card-body-Limitations"/>
          <p:cNvSpPr txBox="1"/>
          <p:nvPr/>
        </p:nvSpPr>
        <p:spPr>
          <a:xfrm>
            <a:off x="667512" y="2057400"/>
            <a:ext cx="5103724" cy="4160520"/>
          </a:xfrm>
          <a:prstGeom prst="rect">
            <a:avLst/>
          </a:prstGeom>
          <a:noFill/>
          <a:ln/>
        </p:spPr>
        <p:txBody>
          <a:bodyPr wrap="square" lIns="0" tIns="0" rIns="0" bIns="0" rtlCol="0" anchor="t"/>
          <a:lstStyle/>
          <a:p>
            <a:pPr indent="0" marL="0">
              <a:buNone/>
            </a:pPr>
            <a:endParaRPr lang="en-US" sz="1150" dirty="0"/>
          </a:p>
        </p:txBody>
      </p:sp>
      <p:sp>
        <p:nvSpPr>
          <p:cNvPr id="16" name="limits"/>
          <p:cNvSpPr txBox="1"/>
          <p:nvPr/>
        </p:nvSpPr>
        <p:spPr>
          <a:xfrm>
            <a:off x="667512" y="2057400"/>
            <a:ext cx="5103724" cy="4160520"/>
          </a:xfrm>
          <a:prstGeom prst="rect">
            <a:avLst/>
          </a:prstGeom>
          <a:noFill/>
          <a:ln/>
        </p:spPr>
        <p:txBody>
          <a:bodyPr wrap="square" lIns="0" tIns="0" rIns="0" bIns="0" rtlCol="0" anchor="t"/>
          <a:lstStyle/>
          <a:p>
            <a:pPr marL="177800" indent="-177800">
              <a:spcAft>
                <a:spcPts val="700"/>
              </a:spcAft>
              <a:buSzPct val="100000"/>
              <a:buChar char="•"/>
            </a:pPr>
            <a:r>
              <a:rPr lang="en-US" sz="1350" b="1" dirty="0">
                <a:solidFill>
                  <a:schemeClr val="tx1"/>
                </a:solidFill>
              </a:rPr>
              <a:t>The forecast adds little to control, </a:t>
            </a:r>
            <a:pPr indent="0" marL="0">
              <a:buNone/>
            </a:pPr>
            <a:r>
              <a:rPr lang="en-US" sz="1350" dirty="0">
                <a:solidFill>
                  <a:schemeClr val="tx1"/>
                </a:solidFill>
              </a:rPr>
              <a:t>even in the event it predicts well. Against the brief's expectation that ML drives the gain.</a:t>
            </a:r>
            <a:endParaRPr lang="en-US" sz="1200" dirty="0"/>
          </a:p>
          <a:p>
            <a:pPr marL="177800" indent="-177800">
              <a:spcAft>
                <a:spcPts val="700"/>
              </a:spcAft>
              <a:buSzPct val="100000"/>
              <a:buChar char="•"/>
            </a:pPr>
            <a:r>
              <a:rPr lang="en-US" sz="1350" b="1" dirty="0">
                <a:solidFill>
                  <a:schemeClr val="tx1"/>
                </a:solidFill>
              </a:rPr>
              <a:t>20% vs the tuned plan </a:t>
            </a:r>
            <a:pPr indent="0" marL="0">
              <a:buNone/>
            </a:pPr>
            <a:r>
              <a:rPr lang="en-US" sz="1350" dirty="0">
                <a:solidFill>
                  <a:schemeClr val="tx1"/>
                </a:solidFill>
              </a:rPr>
              <a:t>only on the mornings; storm 15%, evening 14%, accident and event not significant.</a:t>
            </a:r>
            <a:endParaRPr lang="en-US" sz="1200" dirty="0"/>
          </a:p>
          <a:p>
            <a:pPr marL="177800" indent="-177800">
              <a:spcAft>
                <a:spcPts val="700"/>
              </a:spcAft>
              <a:buSzPct val="100000"/>
              <a:buChar char="•"/>
            </a:pPr>
            <a:r>
              <a:rPr lang="en-US" sz="1350" b="1" dirty="0">
                <a:solidFill>
                  <a:schemeClr val="tx1"/>
                </a:solidFill>
              </a:rPr>
              <a:t>The queue estimate has no correction </a:t>
            </a:r>
            <a:pPr indent="0" marL="0">
              <a:buNone/>
            </a:pPr>
            <a:r>
              <a:rPr lang="en-US" sz="1350" dirty="0">
                <a:solidFill>
                  <a:schemeClr val="tx1"/>
                </a:solidFill>
              </a:rPr>
              <a:t>from inside the network: it drifts in storms and fails after accidents and in event surges.</a:t>
            </a:r>
            <a:endParaRPr lang="en-US" sz="1200" dirty="0"/>
          </a:p>
          <a:p>
            <a:pPr marL="177800" indent="-177800">
              <a:spcAft>
                <a:spcPts val="700"/>
              </a:spcAft>
              <a:buSzPct val="100000"/>
              <a:buChar char="•"/>
            </a:pPr>
            <a:r>
              <a:rPr lang="en-US" sz="1350" b="1" dirty="0">
                <a:solidFill>
                  <a:schemeClr val="tx1"/>
                </a:solidFill>
              </a:rPr>
              <a:t>Synthetic data: </a:t>
            </a:r>
            <a:pPr indent="0" marL="0">
              <a:buNone/>
            </a:pPr>
            <a:r>
              <a:rPr lang="en-US" sz="1350" dirty="0">
                <a:solidFill>
                  <a:schemeClr val="tx1"/>
                </a:solidFill>
              </a:rPr>
              <a:t>the forecaster recovers a process I wrote; rates of rain, accidents and events are assumptions.</a:t>
            </a:r>
            <a:endParaRPr lang="en-US" sz="1200" dirty="0"/>
          </a:p>
          <a:p>
            <a:pPr marL="177800" indent="-177800">
              <a:spcAft>
                <a:spcPts val="700"/>
              </a:spcAft>
              <a:buSzPct val="100000"/>
              <a:buChar char="•"/>
            </a:pPr>
            <a:r>
              <a:rPr lang="en-US" sz="1350" b="1" dirty="0">
                <a:solidFill>
                  <a:schemeClr val="tx1"/>
                </a:solidFill>
              </a:rPr>
              <a:t>Simplified network: </a:t>
            </a:r>
            <a:pPr indent="0" marL="0">
              <a:buNone/>
            </a:pPr>
            <a:r>
              <a:rPr lang="en-US" sz="1350" dirty="0">
                <a:solidFill>
                  <a:schemeClr val="tx1"/>
                </a:solidFill>
              </a:rPr>
              <a:t>one lane, two phases, no rerouting, no pedestrians; offsets not optimised.</a:t>
            </a:r>
            <a:endParaRPr lang="en-US" sz="1200" dirty="0"/>
          </a:p>
          <a:p>
            <a:pPr marL="177800" indent="-177800">
              <a:spcAft>
                <a:spcPts val="700"/>
              </a:spcAft>
              <a:buSzPct val="100000"/>
              <a:buChar char="•"/>
            </a:pPr>
            <a:r>
              <a:rPr lang="en-US" sz="1350" b="1" dirty="0">
                <a:solidFill>
                  <a:schemeClr val="tx1"/>
                </a:solidFill>
              </a:rPr>
              <a:t>Few seeds </a:t>
            </a:r>
            <a:pPr indent="0" marL="0">
              <a:buNone/>
            </a:pPr>
            <a:r>
              <a:rPr lang="en-US" sz="1350" dirty="0">
                <a:solidFill>
                  <a:schemeClr val="tx1"/>
                </a:solidFill>
              </a:rPr>
              <a:t>for busy and storm (3), so wide intervals.</a:t>
            </a:r>
            <a:endParaRPr lang="en-US" sz="1200" dirty="0"/>
          </a:p>
        </p:txBody>
      </p:sp>
      <p:sp>
        <p:nvSpPr>
          <p:cNvPr id="17" name="card-Next steps, by expec"/>
          <p:cNvSpPr/>
          <p:nvPr/>
        </p:nvSpPr>
        <p:spPr>
          <a:xfrm>
            <a:off x="6255868" y="1417320"/>
            <a:ext cx="5432908" cy="4892040"/>
          </a:xfrm>
          <a:prstGeom prst="roundRect">
            <a:avLst>
              <a:gd name="adj" fmla="val 1495"/>
            </a:avLst>
          </a:prstGeom>
          <a:solidFill>
            <a:schemeClr val="bg1"/>
          </a:solidFill>
          <a:ln w="9525">
            <a:solidFill>
              <a:srgbClr val="DDD8CC"/>
            </a:solidFill>
            <a:prstDash val="solid"/>
          </a:ln>
        </p:spPr>
      </p:sp>
      <p:sp>
        <p:nvSpPr>
          <p:cNvPr id="18" name="Shape 16"/>
          <p:cNvSpPr/>
          <p:nvPr/>
        </p:nvSpPr>
        <p:spPr>
          <a:xfrm>
            <a:off x="6420460" y="1600200"/>
            <a:ext cx="384048" cy="45720"/>
          </a:xfrm>
          <a:prstGeom prst="rect">
            <a:avLst/>
          </a:prstGeom>
          <a:solidFill>
            <a:schemeClr val="accent2"/>
          </a:solidFill>
          <a:ln w="12700">
            <a:solidFill>
              <a:schemeClr val="accent2"/>
            </a:solidFill>
            <a:prstDash val="solid"/>
          </a:ln>
        </p:spPr>
      </p:sp>
      <p:sp>
        <p:nvSpPr>
          <p:cNvPr id="19" name="card-head-Next steps, "/>
          <p:cNvSpPr txBox="1"/>
          <p:nvPr/>
        </p:nvSpPr>
        <p:spPr>
          <a:xfrm>
            <a:off x="6420460" y="1691640"/>
            <a:ext cx="5103724"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Next steps, by expected value</a:t>
            </a:r>
            <a:endParaRPr lang="en-US" sz="1350" dirty="0"/>
          </a:p>
        </p:txBody>
      </p:sp>
      <p:sp>
        <p:nvSpPr>
          <p:cNvPr id="20" name="card-body-Next steps, "/>
          <p:cNvSpPr txBox="1"/>
          <p:nvPr/>
        </p:nvSpPr>
        <p:spPr>
          <a:xfrm>
            <a:off x="6420460" y="2057400"/>
            <a:ext cx="5103724" cy="4160520"/>
          </a:xfrm>
          <a:prstGeom prst="rect">
            <a:avLst/>
          </a:prstGeom>
          <a:noFill/>
          <a:ln/>
        </p:spPr>
        <p:txBody>
          <a:bodyPr wrap="square" lIns="0" tIns="0" rIns="0" bIns="0" rtlCol="0" anchor="t"/>
          <a:lstStyle/>
          <a:p>
            <a:pPr indent="0" marL="0">
              <a:buNone/>
            </a:pPr>
            <a:endParaRPr lang="en-US" sz="1150" dirty="0"/>
          </a:p>
        </p:txBody>
      </p:sp>
      <p:sp>
        <p:nvSpPr>
          <p:cNvPr id="21" name="next"/>
          <p:cNvSpPr txBox="1"/>
          <p:nvPr/>
        </p:nvSpPr>
        <p:spPr>
          <a:xfrm>
            <a:off x="6420460" y="2057400"/>
            <a:ext cx="5103724" cy="4160520"/>
          </a:xfrm>
          <a:prstGeom prst="rect">
            <a:avLst/>
          </a:prstGeom>
          <a:noFill/>
          <a:ln/>
        </p:spPr>
        <p:txBody>
          <a:bodyPr wrap="square" lIns="0" tIns="0" rIns="0" bIns="0" rtlCol="0" anchor="t"/>
          <a:lstStyle/>
          <a:p>
            <a:pPr marL="177800" indent="-177800">
              <a:spcAft>
                <a:spcPts val="700"/>
              </a:spcAft>
              <a:buSzPct val="100000"/>
              <a:buChar char="•"/>
            </a:pPr>
            <a:r>
              <a:rPr lang="en-US" sz="1350" b="1" dirty="0">
                <a:solidFill>
                  <a:schemeClr val="tx1"/>
                </a:solidFill>
              </a:rPr>
              <a:t>1. A stop-line counter per road: </a:t>
            </a:r>
            <a:pPr indent="0" marL="0">
              <a:buNone/>
            </a:pPr>
            <a:r>
              <a:rPr lang="en-US" sz="1350" dirty="0">
                <a:solidFill>
                  <a:schemeClr val="tx1"/>
                </a:solidFill>
              </a:rPr>
              <a:t>corrects the estimate directly; attacks the main error source.</a:t>
            </a:r>
            <a:endParaRPr lang="en-US" sz="1200" dirty="0"/>
          </a:p>
          <a:p>
            <a:pPr marL="177800" indent="-177800">
              <a:spcAft>
                <a:spcPts val="700"/>
              </a:spcAft>
              <a:buSzPct val="100000"/>
              <a:buChar char="•"/>
            </a:pPr>
            <a:r>
              <a:rPr lang="en-US" sz="1350" b="1" dirty="0">
                <a:solidFill>
                  <a:schemeClr val="tx1"/>
                </a:solidFill>
              </a:rPr>
              <a:t>2. Detect full entry roads: </a:t>
            </a:r>
            <a:pPr indent="0" marL="0">
              <a:buNone/>
            </a:pPr>
            <a:r>
              <a:rPr lang="en-US" sz="1350" dirty="0">
                <a:solidFill>
                  <a:schemeClr val="tx1"/>
                </a:solidFill>
              </a:rPr>
              <a:t>a counter that goes quiet while the calendar says a crowd is coming → treat the road as full, or a calendar-triggered fallback.</a:t>
            </a:r>
            <a:endParaRPr lang="en-US" sz="1200" dirty="0"/>
          </a:p>
          <a:p>
            <a:pPr marL="177800" indent="-177800">
              <a:spcAft>
                <a:spcPts val="700"/>
              </a:spcAft>
              <a:buSzPct val="100000"/>
              <a:buChar char="•"/>
            </a:pPr>
            <a:r>
              <a:rPr lang="en-US" sz="1350" b="1" dirty="0">
                <a:solidFill>
                  <a:schemeClr val="tx1"/>
                </a:solidFill>
              </a:rPr>
              <a:t>3. Robust optimisation </a:t>
            </a:r>
            <a:pPr indent="0" marL="0">
              <a:buNone/>
            </a:pPr>
            <a:r>
              <a:rPr lang="en-US" sz="1350" dirty="0">
                <a:solidFill>
                  <a:schemeClr val="tx1"/>
                </a:solidFill>
              </a:rPr>
              <a:t>over forecast and estimate uncertainty (scenario or chance-constrained QP).</a:t>
            </a:r>
            <a:endParaRPr lang="en-US" sz="1200" dirty="0"/>
          </a:p>
          <a:p>
            <a:pPr marL="177800" indent="-177800">
              <a:spcAft>
                <a:spcPts val="700"/>
              </a:spcAft>
              <a:buSzPct val="100000"/>
              <a:buChar char="•"/>
            </a:pPr>
            <a:r>
              <a:rPr lang="en-US" sz="1350" b="1" dirty="0">
                <a:solidFill>
                  <a:schemeClr val="tx1"/>
                </a:solidFill>
              </a:rPr>
              <a:t>4. More seeds </a:t>
            </a:r>
            <a:pPr indent="0" marL="0">
              <a:buNone/>
            </a:pPr>
            <a:r>
              <a:rPr lang="en-US" sz="1350" dirty="0">
                <a:solidFill>
                  <a:schemeClr val="tx1"/>
                </a:solidFill>
              </a:rPr>
              <a:t>for busy and storm; tuning on disturbed days.</a:t>
            </a:r>
            <a:endParaRPr lang="en-US" sz="1200" dirty="0"/>
          </a:p>
          <a:p>
            <a:pPr marL="177800" indent="-177800">
              <a:spcAft>
                <a:spcPts val="700"/>
              </a:spcAft>
              <a:buSzPct val="100000"/>
              <a:buChar char="•"/>
            </a:pPr>
            <a:r>
              <a:rPr lang="en-US" sz="1350" b="1" dirty="0">
                <a:solidFill>
                  <a:schemeClr val="tx1"/>
                </a:solidFill>
              </a:rPr>
              <a:t>5. Coordination offsets </a:t>
            </a:r>
            <a:pPr indent="0" marL="0">
              <a:buNone/>
            </a:pPr>
            <a:r>
              <a:rPr lang="en-US" sz="1350" dirty="0">
                <a:solidFill>
                  <a:schemeClr val="tx1"/>
                </a:solidFill>
              </a:rPr>
              <a:t>chosen by the optimiser; rerouting in the simulator.</a:t>
            </a:r>
            <a:endParaRPr lang="en-US" sz="1200" dirty="0"/>
          </a:p>
          <a:p>
            <a:pPr marL="177800" indent="-177800">
              <a:spcAft>
                <a:spcPts val="700"/>
              </a:spcAft>
              <a:buSzPct val="100000"/>
              <a:buChar char="•"/>
            </a:pPr>
            <a:r>
              <a:rPr lang="en-US" sz="1350" b="1" dirty="0">
                <a:solidFill>
                  <a:schemeClr val="tx1"/>
                </a:solidFill>
              </a:rPr>
              <a:t>6. Real data: </a:t>
            </a:r>
            <a:pPr indent="0" marL="0">
              <a:buNone/>
            </a:pPr>
            <a:r>
              <a:rPr lang="en-US" sz="1350" dirty="0">
                <a:solidFill>
                  <a:schemeClr val="tx1"/>
                </a:solidFill>
              </a:rPr>
              <a:t>calibrate demand and saturation flow on a city's loop-detector feed.</a:t>
            </a:r>
            <a:endParaRPr lang="en-US" sz="12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SUMMARY</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bg1"/>
                </a:solidFill>
              </a:rPr>
              <a:t>What I'd want you to remember</a:t>
            </a:r>
            <a:endParaRPr lang="en-US" sz="2500" dirty="0"/>
          </a:p>
        </p:txBody>
      </p:sp>
      <p:sp>
        <p:nvSpPr>
          <p:cNvPr id="4" name="sum-dot-0"/>
          <p:cNvSpPr/>
          <p:nvPr/>
        </p:nvSpPr>
        <p:spPr>
          <a:xfrm>
            <a:off x="502920" y="1554480"/>
            <a:ext cx="384048" cy="384048"/>
          </a:xfrm>
          <a:prstGeom prst="ellipse">
            <a:avLst/>
          </a:prstGeom>
          <a:solidFill>
            <a:schemeClr val="accent5"/>
          </a:solidFill>
          <a:ln w="12700">
            <a:solidFill>
              <a:schemeClr val="accent5"/>
            </a:solidFill>
            <a:prstDash val="solid"/>
          </a:ln>
        </p:spPr>
      </p:sp>
      <p:sp>
        <p:nvSpPr>
          <p:cNvPr id="5" name="Text 3"/>
          <p:cNvSpPr txBox="1"/>
          <p:nvPr/>
        </p:nvSpPr>
        <p:spPr>
          <a:xfrm>
            <a:off x="1097280" y="1463040"/>
            <a:ext cx="2103120" cy="54864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Simulation</a:t>
            </a:r>
            <a:endParaRPr lang="en-US" sz="1700" dirty="0"/>
          </a:p>
        </p:txBody>
      </p:sp>
      <p:sp>
        <p:nvSpPr>
          <p:cNvPr id="6" name="Text 4"/>
          <p:cNvSpPr txBox="1"/>
          <p:nvPr/>
        </p:nvSpPr>
        <p:spPr>
          <a:xfrm>
            <a:off x="3291840" y="1417320"/>
            <a:ext cx="6309360" cy="1097280"/>
          </a:xfrm>
          <a:prstGeom prst="rect">
            <a:avLst/>
          </a:prstGeom>
          <a:noFill/>
          <a:ln/>
        </p:spPr>
        <p:txBody>
          <a:bodyPr wrap="square" lIns="0" tIns="0" rIns="0" bIns="0" rtlCol="0" anchor="t"/>
          <a:lstStyle/>
          <a:p>
            <a:pPr indent="0" marL="0">
              <a:buNone/>
            </a:pPr>
            <a:r>
              <a:rPr lang="en-US" sz="1400" dirty="0">
                <a:solidFill>
                  <a:srgbClr val="D8D4CA"/>
                </a:solidFill>
              </a:rPr>
              <a:t>A vehicle-level simulator that is richer than the controller's model, so results include model error. Counts-only sensing, enforced by tests.</a:t>
            </a:r>
            <a:endParaRPr lang="en-US" sz="1400" dirty="0"/>
          </a:p>
        </p:txBody>
      </p:sp>
      <p:sp>
        <p:nvSpPr>
          <p:cNvPr id="7" name="sum-dot-1"/>
          <p:cNvSpPr/>
          <p:nvPr/>
        </p:nvSpPr>
        <p:spPr>
          <a:xfrm>
            <a:off x="502920" y="2743200"/>
            <a:ext cx="384048" cy="384048"/>
          </a:xfrm>
          <a:prstGeom prst="ellipse">
            <a:avLst/>
          </a:prstGeom>
          <a:solidFill>
            <a:schemeClr val="accent4"/>
          </a:solidFill>
          <a:ln w="12700">
            <a:solidFill>
              <a:schemeClr val="accent4"/>
            </a:solidFill>
            <a:prstDash val="solid"/>
          </a:ln>
        </p:spPr>
      </p:sp>
      <p:sp>
        <p:nvSpPr>
          <p:cNvPr id="8" name="Text 6"/>
          <p:cNvSpPr txBox="1"/>
          <p:nvPr/>
        </p:nvSpPr>
        <p:spPr>
          <a:xfrm>
            <a:off x="1097280" y="2651760"/>
            <a:ext cx="2103120" cy="54864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ML</a:t>
            </a:r>
            <a:endParaRPr lang="en-US" sz="1700" dirty="0"/>
          </a:p>
        </p:txBody>
      </p:sp>
      <p:sp>
        <p:nvSpPr>
          <p:cNvPr id="9" name="Text 7"/>
          <p:cNvSpPr txBox="1"/>
          <p:nvPr/>
        </p:nvSpPr>
        <p:spPr>
          <a:xfrm>
            <a:off x="3291840" y="2606040"/>
            <a:ext cx="6309360" cy="1097280"/>
          </a:xfrm>
          <a:prstGeom prst="rect">
            <a:avLst/>
          </a:prstGeom>
          <a:noFill/>
          <a:ln/>
        </p:spPr>
        <p:txBody>
          <a:bodyPr wrap="square" lIns="0" tIns="0" rIns="0" bIns="0" rtlCol="0" anchor="t"/>
          <a:lstStyle/>
          <a:p>
            <a:pPr indent="0" marL="0">
              <a:buNone/>
            </a:pPr>
            <a:r>
              <a:rPr lang="en-US" sz="1400" dirty="0">
                <a:solidFill>
                  <a:srgbClr val="D8D4CA"/>
                </a:solidFill>
              </a:rPr>
              <a:t>A Poisson GLM matched to the data: 7.1% error, a third better than the profile, and it predicts event surges from the calendar. Validated on whole held-out days; censoring caught and fixed.</a:t>
            </a:r>
            <a:endParaRPr lang="en-US" sz="1400" dirty="0"/>
          </a:p>
        </p:txBody>
      </p:sp>
      <p:sp>
        <p:nvSpPr>
          <p:cNvPr id="10" name="sum-dot-2"/>
          <p:cNvSpPr/>
          <p:nvPr/>
        </p:nvSpPr>
        <p:spPr>
          <a:xfrm>
            <a:off x="502920" y="3931920"/>
            <a:ext cx="384048" cy="384048"/>
          </a:xfrm>
          <a:prstGeom prst="ellipse">
            <a:avLst/>
          </a:prstGeom>
          <a:solidFill>
            <a:schemeClr val="accent1"/>
          </a:solidFill>
          <a:ln w="12700">
            <a:solidFill>
              <a:schemeClr val="accent1"/>
            </a:solidFill>
            <a:prstDash val="solid"/>
          </a:ln>
        </p:spPr>
      </p:sp>
      <p:sp>
        <p:nvSpPr>
          <p:cNvPr id="11" name="Text 9"/>
          <p:cNvSpPr txBox="1"/>
          <p:nvPr/>
        </p:nvSpPr>
        <p:spPr>
          <a:xfrm>
            <a:off x="1097280" y="3840480"/>
            <a:ext cx="2103120" cy="54864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Optimisation</a:t>
            </a:r>
            <a:endParaRPr lang="en-US" sz="1700" dirty="0"/>
          </a:p>
        </p:txBody>
      </p:sp>
      <p:sp>
        <p:nvSpPr>
          <p:cNvPr id="12" name="Text 10"/>
          <p:cNvSpPr txBox="1"/>
          <p:nvPr/>
        </p:nvSpPr>
        <p:spPr>
          <a:xfrm>
            <a:off x="3291840" y="3794760"/>
            <a:ext cx="6309360" cy="1097280"/>
          </a:xfrm>
          <a:prstGeom prst="rect">
            <a:avLst/>
          </a:prstGeom>
          <a:noFill/>
          <a:ln/>
        </p:spPr>
        <p:txBody>
          <a:bodyPr wrap="square" lIns="0" tIns="0" rIns="0" bIns="0" rtlCol="0" anchor="t"/>
          <a:lstStyle/>
          <a:p>
            <a:pPr indent="0" marL="0">
              <a:buNone/>
            </a:pPr>
            <a:r>
              <a:rPr lang="en-US" sz="1400" dirty="0">
                <a:solidFill>
                  <a:srgbClr val="D8D4CA"/>
                </a:solidFill>
              </a:rPr>
              <a:t>A convex QP on a store-and-forward model, Webster cycle outside, receding horizon, gap-out and an incident fallback. 38 ms per solve; 1.9 s at 100 junctions.</a:t>
            </a:r>
            <a:endParaRPr lang="en-US" sz="1400" dirty="0"/>
          </a:p>
        </p:txBody>
      </p:sp>
      <p:sp>
        <p:nvSpPr>
          <p:cNvPr id="13" name="sum-dot-3"/>
          <p:cNvSpPr/>
          <p:nvPr/>
        </p:nvSpPr>
        <p:spPr>
          <a:xfrm>
            <a:off x="502920" y="5120640"/>
            <a:ext cx="384048" cy="384048"/>
          </a:xfrm>
          <a:prstGeom prst="ellipse">
            <a:avLst/>
          </a:prstGeom>
          <a:solidFill>
            <a:schemeClr val="accent2"/>
          </a:solidFill>
          <a:ln w="12700">
            <a:solidFill>
              <a:schemeClr val="accent2"/>
            </a:solidFill>
            <a:prstDash val="solid"/>
          </a:ln>
        </p:spPr>
      </p:sp>
      <p:sp>
        <p:nvSpPr>
          <p:cNvPr id="14" name="Text 12"/>
          <p:cNvSpPr txBox="1"/>
          <p:nvPr/>
        </p:nvSpPr>
        <p:spPr>
          <a:xfrm>
            <a:off x="1097280" y="5029200"/>
            <a:ext cx="2103120" cy="548640"/>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Result</a:t>
            </a:r>
            <a:endParaRPr lang="en-US" sz="1700" dirty="0"/>
          </a:p>
        </p:txBody>
      </p:sp>
      <p:sp>
        <p:nvSpPr>
          <p:cNvPr id="15" name="Text 13"/>
          <p:cNvSpPr txBox="1"/>
          <p:nvPr/>
        </p:nvSpPr>
        <p:spPr>
          <a:xfrm>
            <a:off x="3291840" y="4983480"/>
            <a:ext cx="6309360" cy="1097280"/>
          </a:xfrm>
          <a:prstGeom prst="rect">
            <a:avLst/>
          </a:prstGeom>
          <a:noFill/>
          <a:ln/>
        </p:spPr>
        <p:txBody>
          <a:bodyPr wrap="square" lIns="0" tIns="0" rIns="0" bIns="0" rtlCol="0" anchor="t"/>
          <a:lstStyle/>
          <a:p>
            <a:pPr indent="0" marL="0">
              <a:buNone/>
            </a:pPr>
            <a:r>
              <a:rPr lang="en-US" sz="1400" dirty="0">
                <a:solidFill>
                  <a:srgbClr val="D8D4CA"/>
                </a:solidFill>
              </a:rPr>
              <a:t>32% less delay than a tuned fixed plan on a normal morning, 43–64% vs untuned, ahead in all six scenarios. The gain comes from the queue model, not the forecast; next is a queue sensor.</a:t>
            </a:r>
            <a:endParaRPr lang="en-US" sz="1400" dirty="0"/>
          </a:p>
        </p:txBody>
      </p:sp>
      <p:sp>
        <p:nvSpPr>
          <p:cNvPr id="16" name="signal-head"/>
          <p:cNvSpPr/>
          <p:nvPr/>
        </p:nvSpPr>
        <p:spPr>
          <a:xfrm>
            <a:off x="10332720" y="2011680"/>
            <a:ext cx="907085" cy="2487168"/>
          </a:xfrm>
          <a:prstGeom prst="roundRect">
            <a:avLst>
              <a:gd name="adj" fmla="val 19355"/>
            </a:avLst>
          </a:prstGeom>
          <a:solidFill>
            <a:srgbClr val="2E353E"/>
          </a:solidFill>
          <a:ln w="12700">
            <a:solidFill>
              <a:srgbClr val="48515C"/>
            </a:solidFill>
            <a:prstDash val="solid"/>
          </a:ln>
        </p:spPr>
      </p:sp>
      <p:sp>
        <p:nvSpPr>
          <p:cNvPr id="17" name="signal-lamp-0"/>
          <p:cNvSpPr/>
          <p:nvPr/>
        </p:nvSpPr>
        <p:spPr>
          <a:xfrm>
            <a:off x="10493654" y="2201875"/>
            <a:ext cx="585216" cy="585216"/>
          </a:xfrm>
          <a:prstGeom prst="ellipse">
            <a:avLst/>
          </a:prstGeom>
          <a:solidFill>
            <a:srgbClr val="C8443A">
              <a:alpha val="22000"/>
            </a:srgbClr>
          </a:solidFill>
          <a:ln w="6350">
            <a:solidFill>
              <a:srgbClr val="C8443A">
                <a:alpha val="40000"/>
              </a:srgbClr>
            </a:solidFill>
            <a:prstDash val="solid"/>
          </a:ln>
        </p:spPr>
      </p:sp>
      <p:sp>
        <p:nvSpPr>
          <p:cNvPr id="18" name="signal-lamp-1"/>
          <p:cNvSpPr/>
          <p:nvPr/>
        </p:nvSpPr>
        <p:spPr>
          <a:xfrm>
            <a:off x="10493654" y="2962656"/>
            <a:ext cx="585216" cy="585216"/>
          </a:xfrm>
          <a:prstGeom prst="ellipse">
            <a:avLst/>
          </a:prstGeom>
          <a:solidFill>
            <a:srgbClr val="D9930D">
              <a:alpha val="22000"/>
            </a:srgbClr>
          </a:solidFill>
          <a:ln w="6350">
            <a:solidFill>
              <a:srgbClr val="D9930D">
                <a:alpha val="40000"/>
              </a:srgbClr>
            </a:solidFill>
            <a:prstDash val="solid"/>
          </a:ln>
        </p:spPr>
      </p:sp>
      <p:sp>
        <p:nvSpPr>
          <p:cNvPr id="19" name="signal-lamp-2"/>
          <p:cNvSpPr/>
          <p:nvPr/>
        </p:nvSpPr>
        <p:spPr>
          <a:xfrm>
            <a:off x="10493654" y="3723437"/>
            <a:ext cx="585216" cy="585216"/>
          </a:xfrm>
          <a:prstGeom prst="ellipse">
            <a:avLst/>
          </a:prstGeom>
          <a:solidFill>
            <a:srgbClr val="2E8B57"/>
          </a:solidFill>
          <a:ln w="6350">
            <a:solidFill>
              <a:srgbClr val="2E8B57"/>
            </a:solidFill>
            <a:prstDash val="solid"/>
          </a:ln>
        </p:spPr>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BACKUP</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Intelligent Driver Model and saturation flow</a:t>
            </a:r>
            <a:endParaRPr lang="en-US" sz="2500" dirty="0"/>
          </a:p>
        </p:txBody>
      </p:sp>
      <p:sp>
        <p:nvSpPr>
          <p:cNvPr id="4" name="idm-box"/>
          <p:cNvSpPr/>
          <p:nvPr/>
        </p:nvSpPr>
        <p:spPr>
          <a:xfrm>
            <a:off x="502920" y="1463040"/>
            <a:ext cx="6583680" cy="1645920"/>
          </a:xfrm>
          <a:prstGeom prst="roundRect">
            <a:avLst>
              <a:gd name="adj" fmla="val 4444"/>
            </a:avLst>
          </a:prstGeom>
          <a:solidFill>
            <a:schemeClr val="tx1"/>
          </a:solidFill>
          <a:ln w="12700">
            <a:solidFill>
              <a:schemeClr val="tx1"/>
            </a:solidFill>
            <a:prstDash val="solid"/>
          </a:ln>
        </p:spPr>
      </p:sp>
      <p:sp>
        <p:nvSpPr>
          <p:cNvPr id="5" name="idm"/>
          <p:cNvSpPr txBox="1"/>
          <p:nvPr/>
        </p:nvSpPr>
        <p:spPr>
          <a:xfrm>
            <a:off x="731520" y="1600200"/>
            <a:ext cx="6217920" cy="1417320"/>
          </a:xfrm>
          <a:prstGeom prst="rect">
            <a:avLst/>
          </a:prstGeom>
          <a:noFill/>
          <a:ln/>
        </p:spPr>
        <p:txBody>
          <a:bodyPr wrap="square" lIns="0" tIns="0" rIns="0" bIns="0" rtlCol="0" anchor="t"/>
          <a:lstStyle/>
          <a:p>
            <a:pPr indent="0" marL="0">
              <a:buNone/>
            </a:pPr>
            <a:r>
              <a:rPr lang="en-US" sz="1500" dirty="0">
                <a:solidFill>
                  <a:schemeClr val="bg1"/>
                </a:solidFill>
                <a:latin typeface="Consolas" pitchFamily="34" charset="0"/>
                <a:ea typeface="Consolas" pitchFamily="34" charset="-122"/>
                <a:cs typeface="Consolas" pitchFamily="34" charset="-120"/>
              </a:rPr>
              <a:t>dv/dt = a · [ 1 − (v / v₀)⁴ − (s* / s)² ]</a:t>
            </a:r>
            <a:endParaRPr lang="en-US" sz="1500" dirty="0"/>
          </a:p>
          <a:p>
            <a:pPr indent="0" marL="0">
              <a:buNone/>
            </a:pPr>
            <a:r>
              <a:rPr lang="en-US" sz="600" dirty="0">
                <a:solidFill>
                  <a:schemeClr val="bg1"/>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chemeClr val="bg1"/>
                </a:solidFill>
                <a:latin typeface="Consolas" pitchFamily="34" charset="0"/>
                <a:ea typeface="Consolas" pitchFamily="34" charset="-122"/>
                <a:cs typeface="Consolas" pitchFamily="34" charset="-120"/>
              </a:rPr>
              <a:t>s*    = s₀ + v·T + v·Δv / (2·√(a·b))</a:t>
            </a:r>
            <a:endParaRPr lang="en-US" sz="1500" dirty="0"/>
          </a:p>
          <a:p>
            <a:pPr indent="0" marL="0">
              <a:buNone/>
            </a:pPr>
            <a:r>
              <a:rPr lang="en-US" sz="600" dirty="0">
                <a:solidFill>
                  <a:schemeClr val="bg1"/>
                </a:solidFill>
                <a:latin typeface="Consolas" pitchFamily="34" charset="0"/>
                <a:ea typeface="Consolas" pitchFamily="34" charset="-122"/>
                <a:cs typeface="Consolas" pitchFamily="34" charset="-120"/>
              </a:rPr>
              <a:t> </a:t>
            </a:r>
            <a:endParaRPr lang="en-US" sz="1500" dirty="0"/>
          </a:p>
          <a:p>
            <a:pPr indent="0" marL="0">
              <a:buNone/>
            </a:pPr>
            <a:r>
              <a:rPr lang="en-US" sz="1100" dirty="0">
                <a:solidFill>
                  <a:srgbClr val="C9C4B8"/>
                </a:solidFill>
                <a:latin typeface="Consolas" pitchFamily="34" charset="0"/>
                <a:ea typeface="Consolas" pitchFamily="34" charset="-122"/>
                <a:cs typeface="Consolas" pitchFamily="34" charset="-120"/>
              </a:rPr>
              <a:t>ballistic update, Δt = 0.5 s; red light = a stopped virtual car at the stop line</a:t>
            </a:r>
            <a:endParaRPr lang="en-US" sz="1500" dirty="0"/>
          </a:p>
        </p:txBody>
      </p:sp>
      <p:graphicFrame>
        <p:nvGraphicFramePr>
          <p:cNvPr id="27" name="table"/>
          <p:cNvGraphicFramePr>
            <a:graphicFrameLocks noGrp="1"/>
          </p:cNvGraphicFramePr>
          <p:nvPr>
            <p:extLst>
              <p:ext uri="{D42A27DB-BD31-4B8C-83A1-F6EECF244321}">
                <p14:modId xmlns:p14="http://schemas.microsoft.com/office/powerpoint/2010/main" val="1579011935"/>
              </p:ext>
            </p:extLst>
          </p:nvPr>
        </p:nvGraphicFramePr>
        <p:xfrm>
          <a:off x="502920" y="3291840"/>
          <a:ext cx="6583680" cy="914400"/>
        </p:xfrm>
        <a:graphic>
          <a:graphicData uri="http://schemas.openxmlformats.org/drawingml/2006/table">
            <a:tbl>
              <a:tblPr/>
              <a:tblGrid>
                <a:gridCol w="2743200"/>
                <a:gridCol w="2194560"/>
                <a:gridCol w="1645920"/>
              </a:tblGrid>
              <a:tr h="256032">
                <a:tc>
                  <a:txBody>
                    <a:bodyPr/>
                    <a:lstStyle/>
                    <a:p>
                      <a:pPr algn="l" indent="0" marL="0">
                        <a:buNone/>
                      </a:pPr>
                      <a:r>
                        <a:rPr lang="en-US" sz="1050" b="1" dirty="0">
                          <a:solidFill>
                            <a:schemeClr val="bg1"/>
                          </a:solidFill>
                        </a:rPr>
                        <a:t>Parameter</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Dry</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Full rain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100" b="1" dirty="0">
                          <a:solidFill>
                            <a:schemeClr val="tx1"/>
                          </a:solidFill>
                        </a:rPr>
                        <a:t>Free speed v₀</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13.9 m/s</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−20%</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b="1" dirty="0">
                          <a:solidFill>
                            <a:schemeClr val="tx1"/>
                          </a:solidFill>
                        </a:rPr>
                        <a:t>Time headway T</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1.5 s</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+30%</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100" b="1" dirty="0">
                          <a:solidFill>
                            <a:schemeClr val="tx1"/>
                          </a:solidFill>
                        </a:rPr>
                        <a:t>Max acceleration a</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1.5 m/s²</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−15%</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b="1" dirty="0">
                          <a:solidFill>
                            <a:schemeClr val="tx1"/>
                          </a:solidFill>
                        </a:rPr>
                        <a:t>Comfortable braking b</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2.0 m/s²</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100" b="1" dirty="0">
                          <a:solidFill>
                            <a:schemeClr val="tx1"/>
                          </a:solidFill>
                        </a:rPr>
                        <a:t>Standstill gap s₀ / car length</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 m / 4.5 m</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b="1" dirty="0">
                          <a:solidFill>
                            <a:schemeClr val="tx1"/>
                          </a:solidFill>
                        </a:rPr>
                        <a:t>Measured saturation flow</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0.40 veh/s (2.5 s headway)</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0.33 veh/s</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7" name="card-Why it matters"/>
          <p:cNvSpPr/>
          <p:nvPr/>
        </p:nvSpPr>
        <p:spPr>
          <a:xfrm>
            <a:off x="7406640" y="1463040"/>
            <a:ext cx="4282135" cy="4846320"/>
          </a:xfrm>
          <a:prstGeom prst="roundRect">
            <a:avLst>
              <a:gd name="adj" fmla="val 1708"/>
            </a:avLst>
          </a:prstGeom>
          <a:solidFill>
            <a:schemeClr val="bg1"/>
          </a:solidFill>
          <a:ln w="9525">
            <a:solidFill>
              <a:srgbClr val="DDD8CC"/>
            </a:solidFill>
            <a:prstDash val="solid"/>
          </a:ln>
        </p:spPr>
      </p:sp>
      <p:sp>
        <p:nvSpPr>
          <p:cNvPr id="8" name="Shape 5"/>
          <p:cNvSpPr/>
          <p:nvPr/>
        </p:nvSpPr>
        <p:spPr>
          <a:xfrm>
            <a:off x="7571232" y="1645920"/>
            <a:ext cx="384048" cy="45720"/>
          </a:xfrm>
          <a:prstGeom prst="rect">
            <a:avLst/>
          </a:prstGeom>
          <a:solidFill>
            <a:schemeClr val="accent1"/>
          </a:solidFill>
          <a:ln w="12700">
            <a:solidFill>
              <a:schemeClr val="accent1"/>
            </a:solidFill>
            <a:prstDash val="solid"/>
          </a:ln>
        </p:spPr>
      </p:sp>
      <p:sp>
        <p:nvSpPr>
          <p:cNvPr id="9" name="card-head-Why it matte"/>
          <p:cNvSpPr txBox="1"/>
          <p:nvPr/>
        </p:nvSpPr>
        <p:spPr>
          <a:xfrm>
            <a:off x="7571232" y="1737360"/>
            <a:ext cx="3952951" cy="329184"/>
          </a:xfrm>
          <a:prstGeom prst="rect">
            <a:avLst/>
          </a:prstGeom>
          <a:noFill/>
          <a:ln/>
        </p:spPr>
        <p:txBody>
          <a:bodyPr wrap="square" lIns="0" tIns="0" rIns="0" bIns="0" rtlCol="0" anchor="t"/>
          <a:lstStyle/>
          <a:p>
            <a:pPr indent="0" marL="0">
              <a:buNone/>
            </a:pPr>
            <a:r>
              <a:rPr lang="en-US" sz="1350" b="1" dirty="0">
                <a:solidFill>
                  <a:schemeClr val="tx1"/>
                </a:solidFill>
                <a:latin typeface="Cambria" pitchFamily="34" charset="0"/>
                <a:ea typeface="Cambria" pitchFamily="34" charset="-122"/>
                <a:cs typeface="Cambria" pitchFamily="34" charset="-120"/>
              </a:rPr>
              <a:t>Why it matters</a:t>
            </a:r>
            <a:endParaRPr lang="en-US" sz="1350" dirty="0"/>
          </a:p>
        </p:txBody>
      </p:sp>
      <p:sp>
        <p:nvSpPr>
          <p:cNvPr id="10" name="card-body-Why it matte"/>
          <p:cNvSpPr txBox="1"/>
          <p:nvPr/>
        </p:nvSpPr>
        <p:spPr>
          <a:xfrm>
            <a:off x="7571232" y="2103120"/>
            <a:ext cx="3952951" cy="4114800"/>
          </a:xfrm>
          <a:prstGeom prst="rect">
            <a:avLst/>
          </a:prstGeom>
          <a:noFill/>
          <a:ln/>
        </p:spPr>
        <p:txBody>
          <a:bodyPr wrap="square" lIns="0" tIns="0" rIns="0" bIns="0" rtlCol="0" anchor="t"/>
          <a:lstStyle/>
          <a:p>
            <a:pPr indent="0" marL="0">
              <a:buNone/>
            </a:pPr>
            <a:r>
              <a:rPr lang="en-US" sz="1150" dirty="0">
                <a:solidFill>
                  <a:schemeClr val="tx1"/>
                </a:solidFill>
              </a:rPr>
              <a:t>Saturation flow is the single most important number for both the estimator and the QP. Because it emerges from IDM, the controller's nominal value (0.40, −17.5% in rain) is a calibrated estimate of the simulator, not the simulator's own parameter; there is genuine model error.</a:t>
            </a:r>
            <a:endParaRPr lang="en-US" sz="1150" dirty="0"/>
          </a:p>
          <a:p>
            <a:pPr indent="0" marL="0">
              <a:buNone/>
            </a:pPr>
            <a:endParaRPr lang="en-US" sz="1150" dirty="0"/>
          </a:p>
          <a:p>
            <a:pPr indent="0" marL="0">
              <a:buNone/>
            </a:pPr>
            <a:r>
              <a:rPr lang="en-US" sz="1150" dirty="0">
                <a:solidFill>
                  <a:schemeClr val="tx1"/>
                </a:solidFill>
              </a:rPr>
              <a:t>Dilemma-zone rule: at amber, a car that cannot stop with braking ≤ 4.5 m/s² continues through (Gazis, Herman &amp; Maradudin 1960).</a:t>
            </a:r>
            <a:endParaRPr lang="en-US" sz="1150" dirty="0"/>
          </a:p>
          <a:p>
            <a:pPr indent="0" marL="0">
              <a:buNone/>
            </a:pPr>
            <a:endParaRPr lang="en-US" sz="1150" dirty="0"/>
          </a:p>
          <a:p>
            <a:pPr indent="0" marL="0">
              <a:buNone/>
            </a:pPr>
            <a:r>
              <a:rPr lang="en-US" sz="1150" dirty="0">
                <a:solidFill>
                  <a:schemeClr val="tx1"/>
                </a:solidFill>
              </a:rPr>
              <a:t>Tested: saturation flow matches config; rain cuts it.</a:t>
            </a:r>
            <a:endParaRPr lang="en-US" sz="115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BACKUP</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Webster's cycle and the cap check</a:t>
            </a:r>
            <a:endParaRPr lang="en-US" sz="2500" dirty="0"/>
          </a:p>
        </p:txBody>
      </p:sp>
      <p:sp>
        <p:nvSpPr>
          <p:cNvPr id="4" name="webster-box"/>
          <p:cNvSpPr/>
          <p:nvPr/>
        </p:nvSpPr>
        <p:spPr>
          <a:xfrm>
            <a:off x="502920" y="1463040"/>
            <a:ext cx="5760720" cy="1554480"/>
          </a:xfrm>
          <a:prstGeom prst="roundRect">
            <a:avLst>
              <a:gd name="adj" fmla="val 4706"/>
            </a:avLst>
          </a:prstGeom>
          <a:solidFill>
            <a:schemeClr val="tx1"/>
          </a:solidFill>
          <a:ln w="12700">
            <a:solidFill>
              <a:schemeClr val="tx1"/>
            </a:solidFill>
            <a:prstDash val="solid"/>
          </a:ln>
        </p:spPr>
      </p:sp>
      <p:sp>
        <p:nvSpPr>
          <p:cNvPr id="5" name="webster"/>
          <p:cNvSpPr txBox="1"/>
          <p:nvPr/>
        </p:nvSpPr>
        <p:spPr>
          <a:xfrm>
            <a:off x="731520" y="1600200"/>
            <a:ext cx="5394960" cy="1325880"/>
          </a:xfrm>
          <a:prstGeom prst="rect">
            <a:avLst/>
          </a:prstGeom>
          <a:noFill/>
          <a:ln/>
        </p:spPr>
        <p:txBody>
          <a:bodyPr wrap="square" lIns="0" tIns="0" rIns="0" bIns="0" rtlCol="0" anchor="t"/>
          <a:lstStyle/>
          <a:p>
            <a:pPr indent="0" marL="0">
              <a:buNone/>
            </a:pPr>
            <a:r>
              <a:rPr lang="en-US" sz="1600" dirty="0">
                <a:solidFill>
                  <a:schemeClr val="bg1"/>
                </a:solidFill>
                <a:latin typeface="Consolas" pitchFamily="34" charset="0"/>
                <a:ea typeface="Consolas" pitchFamily="34" charset="-122"/>
                <a:cs typeface="Consolas" pitchFamily="34" charset="-120"/>
              </a:rPr>
              <a:t>C* = (1.5·L + 5) / (1 − Y)</a:t>
            </a:r>
            <a:endParaRPr lang="en-US" sz="1600" dirty="0"/>
          </a:p>
          <a:p>
            <a:pPr indent="0" marL="0">
              <a:buNone/>
            </a:pPr>
            <a:r>
              <a:rPr lang="en-US" sz="1200" dirty="0">
                <a:solidFill>
                  <a:schemeClr val="bg1"/>
                </a:solidFill>
                <a:latin typeface="Consolas" pitchFamily="34" charset="0"/>
                <a:ea typeface="Consolas" pitchFamily="34" charset="-122"/>
                <a:cs typeface="Consolas" pitchFamily="34" charset="-120"/>
              </a:rPr>
              <a:t>Y  = max over junctions of y_NS + y_EW,  y = q / s</a:t>
            </a:r>
            <a:endParaRPr lang="en-US" sz="1600" dirty="0"/>
          </a:p>
          <a:p>
            <a:pPr indent="0" marL="0">
              <a:buNone/>
            </a:pPr>
            <a:r>
              <a:rPr lang="en-US" sz="1200" dirty="0">
                <a:solidFill>
                  <a:schemeClr val="bg1"/>
                </a:solidFill>
                <a:latin typeface="Consolas" pitchFamily="34" charset="0"/>
                <a:ea typeface="Consolas" pitchFamily="34" charset="-122"/>
                <a:cs typeface="Consolas" pitchFamily="34" charset="-120"/>
              </a:rPr>
              <a:t>L  = 12 s effective lost time per cycle</a:t>
            </a:r>
            <a:endParaRPr lang="en-US" sz="1600" dirty="0"/>
          </a:p>
        </p:txBody>
      </p:sp>
      <p:sp>
        <p:nvSpPr>
          <p:cNvPr id="6" name="webster-read"/>
          <p:cNvSpPr txBox="1"/>
          <p:nvPr/>
        </p:nvSpPr>
        <p:spPr>
          <a:xfrm>
            <a:off x="502920" y="3200400"/>
            <a:ext cx="5760720" cy="2011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Webster (1958): the cycle that minimises average delay at an isolated junction for given flows. Y from the forecast flows.</a:t>
            </a:r>
            <a:endParaRPr lang="en-US" sz="1200" dirty="0"/>
          </a:p>
          <a:p>
            <a:pPr marL="177800" indent="-177800">
              <a:spcAft>
                <a:spcPts val="600"/>
              </a:spcAft>
              <a:buSzPct val="100000"/>
              <a:buChar char="•"/>
            </a:pPr>
            <a:r>
              <a:rPr lang="en-US" sz="1200" dirty="0">
                <a:solidFill>
                  <a:schemeClr val="tx1"/>
                </a:solidFill>
              </a:rPr>
              <a:t>Smoothed: C_s ← 0.6·C_s + 0.4·C*; executed C = round(C_s / 5)·5, clamped to 40–120 s.</a:t>
            </a:r>
            <a:endParaRPr lang="en-US" sz="1200" dirty="0"/>
          </a:p>
          <a:p>
            <a:pPr marL="177800" indent="-177800">
              <a:spcAft>
                <a:spcPts val="600"/>
              </a:spcAft>
              <a:buSzPct val="100000"/>
              <a:buChar char="•"/>
            </a:pPr>
            <a:r>
              <a:rPr lang="en-US" sz="1200" dirty="0">
                <a:solidFill>
                  <a:schemeClr val="tx1"/>
                </a:solidFill>
              </a:rPr>
              <a:t>Why outside the QP: green = share × C is bilinear; fixing C per decision keeps the QP convex.</a:t>
            </a:r>
            <a:endParaRPr lang="en-US" sz="1200" dirty="0"/>
          </a:p>
        </p:txBody>
      </p:sp>
      <p:sp>
        <p:nvSpPr>
          <p:cNvPr id="7" name="Text 5"/>
          <p:cNvSpPr txBox="1"/>
          <p:nvPr/>
        </p:nvSpPr>
        <p:spPr>
          <a:xfrm>
            <a:off x="6629400" y="1463040"/>
            <a:ext cx="5029200" cy="292608"/>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Cycle cap 120 vs 180 s (tuning seeds 100–104)</a:t>
            </a:r>
            <a:endParaRPr lang="en-US" sz="1300" dirty="0"/>
          </a:p>
        </p:txBody>
      </p:sp>
      <p:graphicFrame>
        <p:nvGraphicFramePr>
          <p:cNvPr id="28" name="table"/>
          <p:cNvGraphicFramePr>
            <a:graphicFrameLocks noGrp="1"/>
          </p:cNvGraphicFramePr>
          <p:nvPr>
            <p:extLst>
              <p:ext uri="{D42A27DB-BD31-4B8C-83A1-F6EECF244321}">
                <p14:modId xmlns:p14="http://schemas.microsoft.com/office/powerpoint/2010/main" val="1579011935"/>
              </p:ext>
            </p:extLst>
          </p:nvPr>
        </p:nvGraphicFramePr>
        <p:xfrm>
          <a:off x="6629400" y="1828800"/>
          <a:ext cx="5059375" cy="914400"/>
        </p:xfrm>
        <a:graphic>
          <a:graphicData uri="http://schemas.openxmlformats.org/drawingml/2006/table">
            <a:tbl>
              <a:tblPr/>
              <a:tblGrid>
                <a:gridCol w="1463040"/>
                <a:gridCol w="914400"/>
                <a:gridCol w="914400"/>
                <a:gridCol w="868680"/>
                <a:gridCol w="896112"/>
              </a:tblGrid>
              <a:tr h="256032">
                <a:tc>
                  <a:txBody>
                    <a:bodyPr/>
                    <a:lstStyle/>
                    <a:p>
                      <a:pPr algn="l" indent="0" marL="0">
                        <a:buNone/>
                      </a:pPr>
                      <a:r>
                        <a:rPr lang="en-US" sz="1000" b="1" dirty="0">
                          <a:solidFill>
                            <a:schemeClr val="bg1"/>
                          </a:solidFill>
                        </a:rPr>
                        <a:t>Forecast</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Evening, cap 120</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Evening, cap 180</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Event, cap 120</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00" b="1" dirty="0">
                          <a:solidFill>
                            <a:schemeClr val="bg1"/>
                          </a:solidFill>
                        </a:rPr>
                        <a:t>Event, cap 180</a:t>
                      </a:r>
                      <a:endParaRPr lang="en-US" sz="10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050" b="1" dirty="0">
                          <a:solidFill>
                            <a:schemeClr val="tx1"/>
                          </a:solidFill>
                        </a:rPr>
                        <a:t>Persistence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110.3</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127.9</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169.5</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184.8</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Live</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107.2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129.0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174.2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185.2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050" b="1" dirty="0">
                          <a:solidFill>
                            <a:schemeClr val="tx1"/>
                          </a:solidFill>
                        </a:rPr>
                        <a:t>Perfect</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112.0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131.2</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178.9</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050" dirty="0">
                          <a:solidFill>
                            <a:schemeClr val="tx1"/>
                          </a:solidFill>
                        </a:rPr>
                        <a:t>189.0</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050" b="1" dirty="0">
                          <a:solidFill>
                            <a:schemeClr val="tx1"/>
                          </a:solidFill>
                        </a:rPr>
                        <a:t>Tuned fixed (180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124.1</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050" dirty="0">
                          <a:solidFill>
                            <a:schemeClr val="tx1"/>
                          </a:solidFill>
                        </a:rPr>
                        <a:t>175.8</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bl>
          </a:graphicData>
        </a:graphic>
      </p:graphicFrame>
      <p:sp>
        <p:nvSpPr>
          <p:cNvPr id="9" name="Text 6"/>
          <p:cNvSpPr txBox="1"/>
          <p:nvPr/>
        </p:nvSpPr>
        <p:spPr>
          <a:xfrm>
            <a:off x="6629400" y="4023360"/>
            <a:ext cx="5059375" cy="731520"/>
          </a:xfrm>
          <a:prstGeom prst="rect">
            <a:avLst/>
          </a:prstGeom>
          <a:noFill/>
          <a:ln/>
        </p:spPr>
        <p:txBody>
          <a:bodyPr wrap="square" lIns="0" tIns="0" rIns="0" bIns="0" rtlCol="0" anchor="t"/>
          <a:lstStyle/>
          <a:p>
            <a:pPr indent="0" marL="0">
              <a:buNone/>
            </a:pPr>
            <a:r>
              <a:rPr lang="en-US" sz="1150" dirty="0">
                <a:solidFill>
                  <a:schemeClr val="tx1"/>
                </a:solidFill>
              </a:rPr>
              <a:t>The tuned evening plan uses 180 s, so a 180 s cap was the natural question. It is worse in both scenarios: the 120 s cap stays.</a:t>
            </a:r>
            <a:endParaRPr lang="en-US" sz="115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BACKUP</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Optimiser settings: one-at-a-time check on tuning seeds</a:t>
            </a:r>
            <a:endParaRPr lang="en-US" sz="2500" dirty="0"/>
          </a:p>
        </p:txBody>
      </p:sp>
      <p:graphicFrame>
        <p:nvGraphicFramePr>
          <p:cNvPr id="29"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3657600"/>
                <a:gridCol w="2011680"/>
                <a:gridCol w="2011680"/>
                <a:gridCol w="1737360"/>
                <a:gridCol w="1755648"/>
              </a:tblGrid>
              <a:tr h="256032">
                <a:tc>
                  <a:txBody>
                    <a:bodyPr/>
                    <a:lstStyle/>
                    <a:p>
                      <a:pPr algn="l" indent="0" marL="0">
                        <a:buNone/>
                      </a:pPr>
                      <a:r>
                        <a:rPr lang="en-US" sz="1050" b="1" dirty="0">
                          <a:solidFill>
                            <a:schemeClr val="bg1"/>
                          </a:solidFill>
                        </a:rPr>
                        <a:t>Change from defaults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Typical morning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Evening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Score (mean)</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050" b="1" dirty="0">
                          <a:solidFill>
                            <a:schemeClr val="bg1"/>
                          </a:solidFill>
                        </a:rPr>
                        <a:t>p95 (s)</a:t>
                      </a:r>
                      <a:endParaRPr lang="en-US" sz="10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256032">
                <a:tc>
                  <a:txBody>
                    <a:bodyPr/>
                    <a:lstStyle/>
                    <a:p>
                      <a:pPr algn="l" indent="0" marL="0">
                        <a:buNone/>
                      </a:pPr>
                      <a:r>
                        <a:rPr lang="en-US" sz="1100" b="1" dirty="0">
                          <a:solidFill>
                            <a:schemeClr val="tx1"/>
                          </a:solidFill>
                        </a:rPr>
                        <a:t>Defaults</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00" b="1" dirty="0">
                          <a:solidFill>
                            <a:schemeClr val="tx1"/>
                          </a:solidFill>
                        </a:rPr>
                        <a:t>46.6</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00" b="1" dirty="0">
                          <a:solidFill>
                            <a:schemeClr val="tx1"/>
                          </a:solidFill>
                        </a:rPr>
                        <a:t>110.3</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00" b="1" dirty="0">
                          <a:solidFill>
                            <a:schemeClr val="tx1"/>
                          </a:solidFill>
                        </a:rPr>
                        <a:t>78.5</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100" b="1" dirty="0">
                          <a:solidFill>
                            <a:schemeClr val="tx1"/>
                          </a:solidFill>
                        </a:rPr>
                        <a:t>254</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r>
              <a:tr h="256032">
                <a:tc>
                  <a:txBody>
                    <a:bodyPr/>
                    <a:lstStyle/>
                    <a:p>
                      <a:pPr algn="l" indent="0" marL="0">
                        <a:buNone/>
                      </a:pPr>
                      <a:r>
                        <a:rPr lang="en-US" sz="1100" b="1" dirty="0">
                          <a:solidFill>
                            <a:schemeClr val="tx1"/>
                          </a:solidFill>
                        </a:rPr>
                        <a:t>Switching weight 0.5 / 5.0 (default 2)</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45.7 / 46.8</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112.0 / 107.7</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78.8 / 77.3</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263 / 256</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100" b="1" dirty="0">
                          <a:solidFill>
                            <a:schemeClr val="tx1"/>
                          </a:solidFill>
                        </a:rPr>
                        <a:t>Quadratic weight 1 / 10 (default 3)</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46.2 / 46.9</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111.4 / 108.4</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78.8 / 77.6</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257 / 248</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b="1" dirty="0">
                          <a:solidFill>
                            <a:schemeClr val="tx1"/>
                          </a:solidFill>
                        </a:rPr>
                        <a:t>Terminal weight 1 / 6 (default 3)</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47.0 / 46.6</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110.3 / 111.4</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78.7 / 79.0</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257 / 263</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100" b="1" dirty="0">
                          <a:solidFill>
                            <a:schemeClr val="tx1"/>
                          </a:solidFill>
                        </a:rPr>
                        <a:t>Webster lost time 8 / 16 s (default 12)</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45.9 / 46.1</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110.7 / 109.6</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78.3 / 77.9</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255 / 254</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256032">
                <a:tc>
                  <a:txBody>
                    <a:bodyPr/>
                    <a:lstStyle/>
                    <a:p>
                      <a:pPr algn="l" indent="0" marL="0">
                        <a:buNone/>
                      </a:pPr>
                      <a:r>
                        <a:rPr lang="en-US" sz="1100" b="1" dirty="0">
                          <a:solidFill>
                            <a:schemeClr val="tx1"/>
                          </a:solidFill>
                        </a:rPr>
                        <a:t>Gap-out off</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56.7</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118.3</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87.5</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100" dirty="0">
                          <a:solidFill>
                            <a:schemeClr val="tx1"/>
                          </a:solidFill>
                        </a:rPr>
                        <a:t>271</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256032">
                <a:tc>
                  <a:txBody>
                    <a:bodyPr/>
                    <a:lstStyle/>
                    <a:p>
                      <a:pPr algn="l" indent="0" marL="0">
                        <a:buNone/>
                      </a:pPr>
                      <a:r>
                        <a:rPr lang="en-US" sz="1100" b="1" dirty="0">
                          <a:solidFill>
                            <a:schemeClr val="tx1"/>
                          </a:solidFill>
                        </a:rPr>
                        <a:t>Gap-out window 2 / 8 s (default 4)</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45.2 / 53.0</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107.8 / 113.8</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76.5 / 83.4</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tx1"/>
                          </a:solidFill>
                        </a:rPr>
                        <a:t>251 / 254</a:t>
                      </a:r>
                      <a:endParaRPr lang="en-US" sz="11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bl>
          </a:graphicData>
        </a:graphic>
      </p:graphicFrame>
      <p:sp>
        <p:nvSpPr>
          <p:cNvPr id="5" name="sweep-read"/>
          <p:cNvSpPr txBox="1"/>
          <p:nvPr/>
        </p:nvSpPr>
        <p:spPr>
          <a:xfrm>
            <a:off x="502920" y="4343400"/>
            <a:ext cx="11185855"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Everything lands within ~2 s of the defaults except gap-out (off: +9 s). The surface is flat, so the defaults were kept rather than chasing tuning-seed noise.</a:t>
            </a:r>
            <a:endParaRPr lang="en-US" sz="1200" dirty="0"/>
          </a:p>
          <a:p>
            <a:pPr marL="177800" indent="-177800">
              <a:spcAft>
                <a:spcPts val="600"/>
              </a:spcAft>
              <a:buSzPct val="100000"/>
              <a:buChar char="•"/>
            </a:pPr>
            <a:r>
              <a:rPr lang="en-US" sz="1300" dirty="0">
                <a:solidFill>
                  <a:schemeClr val="tx1"/>
                </a:solidFill>
              </a:rPr>
              <a:t>Weights are in “cars” units: the quadratic term is divided by 10 inside the program (0.3 per car² per minute).</a:t>
            </a:r>
            <a:endParaRPr lang="en-US" sz="1200" dirty="0"/>
          </a:p>
          <a:p>
            <a:pPr marL="177800" indent="-177800">
              <a:spcAft>
                <a:spcPts val="600"/>
              </a:spcAft>
              <a:buSzPct val="100000"/>
              <a:buChar char="•"/>
            </a:pPr>
            <a:r>
              <a:rPr lang="en-US" sz="1300" dirty="0">
                <a:solidFill>
                  <a:schemeClr val="tx1"/>
                </a:solidFill>
              </a:rPr>
              <a:t>Source: outputs/sweep_summary.csv (scripts/sweep.py).</a:t>
            </a:r>
            <a:endParaRPr lang="en-US" sz="12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BACKUP</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Earlier camera version and max-pressure (seeds 200–202)</a:t>
            </a:r>
            <a:endParaRPr lang="en-US" sz="2500" dirty="0"/>
          </a:p>
        </p:txBody>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502920" y="1463040"/>
          <a:ext cx="11185855" cy="914400"/>
        </p:xfrm>
        <a:graphic>
          <a:graphicData uri="http://schemas.openxmlformats.org/drawingml/2006/table">
            <a:tbl>
              <a:tblPr/>
              <a:tblGrid>
                <a:gridCol w="4206240"/>
                <a:gridCol w="1371600"/>
                <a:gridCol w="1371600"/>
                <a:gridCol w="1371600"/>
                <a:gridCol w="1371600"/>
                <a:gridCol w="1481328"/>
              </a:tblGrid>
              <a:tr h="329184">
                <a:tc>
                  <a:txBody>
                    <a:bodyPr/>
                    <a:lstStyle/>
                    <a:p>
                      <a:pPr algn="l" indent="0" marL="0">
                        <a:buNone/>
                      </a:pPr>
                      <a:r>
                        <a:rPr lang="en-US" sz="1150" b="1" dirty="0">
                          <a:solidFill>
                            <a:schemeClr val="bg1"/>
                          </a:solidFill>
                        </a:rPr>
                        <a:t>Controller (mean delay per car, s)</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Typical</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Busy</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Storm</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Evening</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c>
                  <a:txBody>
                    <a:bodyPr/>
                    <a:lstStyle/>
                    <a:p>
                      <a:pPr algn="ctr" indent="0" marL="0">
                        <a:buNone/>
                      </a:pPr>
                      <a:r>
                        <a:rPr lang="en-US" sz="1150" b="1" dirty="0">
                          <a:solidFill>
                            <a:schemeClr val="bg1"/>
                          </a:solidFill>
                        </a:rPr>
                        <a:t>Accident</a:t>
                      </a:r>
                      <a:endParaRPr lang="en-US" sz="115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tx2"/>
                    </a:solidFill>
                  </a:tcPr>
                </a:tc>
              </a:tr>
              <a:tr h="329184">
                <a:tc>
                  <a:txBody>
                    <a:bodyPr/>
                    <a:lstStyle/>
                    <a:p>
                      <a:pPr algn="l" indent="0" marL="0">
                        <a:buNone/>
                      </a:pPr>
                      <a:r>
                        <a:rPr lang="en-US" sz="1200" dirty="0">
                          <a:solidFill>
                            <a:schemeClr val="tx1"/>
                          </a:solidFill>
                        </a:rPr>
                        <a:t>Fixed, tuned green wave</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59.9</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142.1</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199.6</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95.0</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199.8</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329184">
                <a:tc>
                  <a:txBody>
                    <a:bodyPr/>
                    <a:lstStyle/>
                    <a:p>
                      <a:pPr algn="l" indent="0" marL="0">
                        <a:buNone/>
                      </a:pPr>
                      <a:r>
                        <a:rPr lang="en-US" sz="1200" dirty="0">
                          <a:solidFill>
                            <a:schemeClr val="tx1"/>
                          </a:solidFill>
                        </a:rPr>
                        <a:t>Max-pressure (true queues from cameras)</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200" dirty="0">
                          <a:solidFill>
                            <a:schemeClr val="tx1"/>
                          </a:solidFill>
                        </a:rPr>
                        <a:t>58.3</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200" dirty="0">
                          <a:solidFill>
                            <a:schemeClr val="tx1"/>
                          </a:solidFill>
                        </a:rPr>
                        <a:t>177.7</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200" dirty="0">
                          <a:solidFill>
                            <a:schemeClr val="tx1"/>
                          </a:solidFill>
                        </a:rPr>
                        <a:t>229.7</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200" dirty="0">
                          <a:solidFill>
                            <a:schemeClr val="tx1"/>
                          </a:solidFill>
                        </a:rPr>
                        <a:t>137.3</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c>
                  <a:txBody>
                    <a:bodyPr/>
                    <a:lstStyle/>
                    <a:p>
                      <a:pPr algn="ctr" indent="0" marL="0">
                        <a:buNone/>
                      </a:pPr>
                      <a:r>
                        <a:rPr lang="en-US" sz="1200" dirty="0">
                          <a:solidFill>
                            <a:schemeClr val="tx1"/>
                          </a:solidFill>
                        </a:rPr>
                        <a:t>243.7</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8F6F1"/>
                    </a:solidFill>
                  </a:tcPr>
                </a:tc>
              </a:tr>
              <a:tr h="329184">
                <a:tc>
                  <a:txBody>
                    <a:bodyPr/>
                    <a:lstStyle/>
                    <a:p>
                      <a:pPr algn="l" indent="0" marL="0">
                        <a:buNone/>
                      </a:pPr>
                      <a:r>
                        <a:rPr lang="en-US" sz="1200" dirty="0">
                          <a:solidFill>
                            <a:schemeClr val="tx1"/>
                          </a:solidFill>
                        </a:rPr>
                        <a:t>Optimiser (true queues from cameras)</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46.5</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111.3</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167.7</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91.7</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c>
                  <a:txBody>
                    <a:bodyPr/>
                    <a:lstStyle/>
                    <a:p>
                      <a:pPr algn="ctr" indent="0" marL="0">
                        <a:buNone/>
                      </a:pPr>
                      <a:r>
                        <a:rPr lang="en-US" sz="1200" dirty="0">
                          <a:solidFill>
                            <a:schemeClr val="tx1"/>
                          </a:solidFill>
                        </a:rPr>
                        <a:t>206.6</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chemeClr val="bg1"/>
                    </a:solidFill>
                  </a:tcPr>
                </a:tc>
              </a:tr>
              <a:tr h="329184">
                <a:tc>
                  <a:txBody>
                    <a:bodyPr/>
                    <a:lstStyle/>
                    <a:p>
                      <a:pPr algn="l" indent="0" marL="0">
                        <a:buNone/>
                      </a:pPr>
                      <a:r>
                        <a:rPr lang="en-US" sz="1200" b="1" dirty="0">
                          <a:solidFill>
                            <a:schemeClr val="tx1"/>
                          </a:solidFill>
                        </a:rPr>
                        <a:t>Optimiser (counts only, this version)</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200" b="1" dirty="0">
                          <a:solidFill>
                            <a:schemeClr val="tx1"/>
                          </a:solidFill>
                        </a:rPr>
                        <a:t>42.0</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200" b="1" dirty="0">
                          <a:solidFill>
                            <a:schemeClr val="tx1"/>
                          </a:solidFill>
                        </a:rPr>
                        <a:t>110.7</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200" b="1" dirty="0">
                          <a:solidFill>
                            <a:schemeClr val="tx1"/>
                          </a:solidFill>
                        </a:rPr>
                        <a:t>169.1</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200" b="1" dirty="0">
                          <a:solidFill>
                            <a:schemeClr val="tx1"/>
                          </a:solidFill>
                        </a:rPr>
                        <a:t>83.2</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c>
                  <a:txBody>
                    <a:bodyPr/>
                    <a:lstStyle/>
                    <a:p>
                      <a:pPr algn="ctr" indent="0" marL="0">
                        <a:buNone/>
                      </a:pPr>
                      <a:r>
                        <a:rPr lang="en-US" sz="1200" b="1" dirty="0">
                          <a:solidFill>
                            <a:schemeClr val="tx1"/>
                          </a:solidFill>
                        </a:rPr>
                        <a:t>190.7</a:t>
                      </a:r>
                      <a:endParaRPr lang="en-US" sz="1200" dirty="0"/>
                    </a:p>
                  </a:txBody>
                  <a:tcPr marL="63500" marR="63500" marT="38100" marB="38100" anchor="ctr">
                    <a:lnL w="6350" cap="flat" cmpd="sng" algn="ctr">
                      <a:solidFill>
                        <a:srgbClr val="DDD8CC"/>
                      </a:solidFill>
                      <a:prstDash val="solid"/>
                      <a:round/>
                      <a:headEnd type="none" w="med" len="med"/>
                      <a:tailEnd type="none" w="med" len="med"/>
                    </a:lnL>
                    <a:lnR w="6350" cap="flat" cmpd="sng" algn="ctr">
                      <a:solidFill>
                        <a:srgbClr val="DDD8CC"/>
                      </a:solidFill>
                      <a:prstDash val="solid"/>
                      <a:round/>
                      <a:headEnd type="none" w="med" len="med"/>
                      <a:tailEnd type="none" w="med" len="med"/>
                    </a:lnR>
                    <a:lnT w="6350" cap="flat" cmpd="sng" algn="ctr">
                      <a:solidFill>
                        <a:srgbClr val="DDD8CC"/>
                      </a:solidFill>
                      <a:prstDash val="solid"/>
                      <a:round/>
                      <a:headEnd type="none" w="med" len="med"/>
                      <a:tailEnd type="none" w="med" len="med"/>
                    </a:lnT>
                    <a:lnB w="6350" cap="flat" cmpd="sng" algn="ctr">
                      <a:solidFill>
                        <a:srgbClr val="DDD8CC"/>
                      </a:solidFill>
                      <a:prstDash val="solid"/>
                      <a:round/>
                      <a:headEnd type="none" w="med" len="med"/>
                      <a:tailEnd type="none" w="med" len="med"/>
                    </a:lnB>
                    <a:solidFill>
                      <a:srgbClr val="FBEFD5"/>
                    </a:solidFill>
                  </a:tcPr>
                </a:tc>
              </a:tr>
            </a:tbl>
          </a:graphicData>
        </a:graphic>
      </p:graphicFrame>
      <p:sp>
        <p:nvSpPr>
          <p:cNvPr id="5" name="camera-read"/>
          <p:cNvSpPr txBox="1"/>
          <p:nvPr/>
        </p:nvSpPr>
        <p:spPr>
          <a:xfrm>
            <a:off x="502920" y="3566160"/>
            <a:ext cx="11185855" cy="265176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chemeClr val="tx1"/>
                </a:solidFill>
              </a:rPr>
              <a:t>Max-pressure: </a:t>
            </a:r>
            <a:pPr indent="0" marL="0">
              <a:buNone/>
            </a:pPr>
            <a:r>
              <a:rPr lang="en-US" sz="1400" dirty="0">
                <a:solidFill>
                  <a:schemeClr val="tx1"/>
                </a:solidFill>
              </a:rPr>
              <a:t>each moment, green goes to the phase with the largest (own queue − downstream queue). Throughput-optimal and stable, but myopic: it does not minimise delay and has no use for a forecast. With true queues it lost to the optimiser in every scenario and to the tuned plan in four of five.</a:t>
            </a:r>
            <a:endParaRPr lang="en-US" sz="1200" dirty="0"/>
          </a:p>
          <a:p>
            <a:pPr marL="177800" indent="-177800">
              <a:spcAft>
                <a:spcPts val="800"/>
              </a:spcAft>
              <a:buSzPct val="100000"/>
              <a:buChar char="•"/>
            </a:pPr>
            <a:r>
              <a:rPr lang="en-US" sz="1400" b="1" dirty="0">
                <a:solidFill>
                  <a:schemeClr val="tx1"/>
                </a:solidFill>
              </a:rPr>
              <a:t>Counts only cost nothing: </a:t>
            </a:r>
            <a:pPr indent="0" marL="0">
              <a:buNone/>
            </a:pPr>
            <a:r>
              <a:rPr lang="en-US" sz="1400" dirty="0">
                <a:solidFill>
                  <a:schemeClr val="tx1"/>
                </a:solidFill>
              </a:rPr>
              <a:t>the counts-only optimiser matches or beats the camera one, because model-based gap-out works on the estimate. The camera code has been replaced; these numbers are kept for reference.</a:t>
            </a:r>
            <a:endParaRPr lang="en-US" sz="12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BACKUP</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AI use</a:t>
            </a:r>
            <a:endParaRPr lang="en-US" sz="2500" dirty="0"/>
          </a:p>
        </p:txBody>
      </p:sp>
      <p:sp>
        <p:nvSpPr>
          <p:cNvPr id="4" name="ai"/>
          <p:cNvSpPr txBox="1"/>
          <p:nvPr/>
        </p:nvSpPr>
        <p:spPr>
          <a:xfrm>
            <a:off x="502920" y="1554480"/>
            <a:ext cx="7498080" cy="45720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Anthropic's Claude (via Claude Code) was used throughout as a pair-programmer: it wrote or drafted most of the simulator, forecasting pipeline, optimiser, tests, viewer and README, working from the brief and my direction.</a:t>
            </a:r>
            <a:endParaRPr lang="en-US" sz="1200" dirty="0"/>
          </a:p>
          <a:p>
            <a:pPr marL="177800" indent="-177800">
              <a:spcAft>
                <a:spcPts val="1000"/>
              </a:spcAft>
              <a:buSzPct val="100000"/>
              <a:buChar char="•"/>
            </a:pPr>
            <a:r>
              <a:rPr lang="en-US" sz="1400" dirty="0">
                <a:solidFill>
                  <a:schemeClr val="tx1"/>
                </a:solidFill>
              </a:rPr>
              <a:t>I set the framing and made the decisions: forecasting true rates rather than sensor counts, the counts-only sensing assumption, the time-stepped simulator, the headline baseline, the event experiment, and how the limits are presented.</a:t>
            </a:r>
            <a:endParaRPr lang="en-US" sz="1200" dirty="0"/>
          </a:p>
          <a:p>
            <a:pPr marL="177800" indent="-177800">
              <a:spcAft>
                <a:spcPts val="1000"/>
              </a:spcAft>
              <a:buSzPct val="100000"/>
              <a:buChar char="•"/>
            </a:pPr>
            <a:r>
              <a:rPr lang="en-US" sz="1400" dirty="0">
                <a:solidFill>
                  <a:schemeClr val="tx1"/>
                </a:solidFill>
              </a:rPr>
              <a:t>I reviewed the outputs, and that is how problems were found: for example the cycle that never moved, spotted in the demo, traced to the smoothing code, fixed and rerun.</a:t>
            </a:r>
            <a:endParaRPr lang="en-US" sz="1200" dirty="0"/>
          </a:p>
          <a:p>
            <a:pPr marL="177800" indent="-177800">
              <a:spcAft>
                <a:spcPts val="1000"/>
              </a:spcAft>
              <a:buSzPct val="100000"/>
              <a:buChar char="•"/>
            </a:pPr>
            <a:r>
              <a:rPr lang="en-US" sz="1400" dirty="0">
                <a:solidFill>
                  <a:schemeClr val="tx1"/>
                </a:solidFill>
              </a:rPr>
              <a:t>Every reported number comes from code in the repository; the held-out results regenerate from the README Setup commands; 33 tests guard the experiment's rules.</a:t>
            </a:r>
            <a:endParaRPr lang="en-US" sz="1200" dirty="0"/>
          </a:p>
        </p:txBody>
      </p:sp>
      <p:sp>
        <p:nvSpPr>
          <p:cNvPr id="5" name="signal-head"/>
          <p:cNvSpPr/>
          <p:nvPr/>
        </p:nvSpPr>
        <p:spPr>
          <a:xfrm>
            <a:off x="9692640" y="1828800"/>
            <a:ext cx="1077163" cy="2953512"/>
          </a:xfrm>
          <a:prstGeom prst="roundRect">
            <a:avLst>
              <a:gd name="adj" fmla="val 19355"/>
            </a:avLst>
          </a:prstGeom>
          <a:solidFill>
            <a:srgbClr val="2E353E"/>
          </a:solidFill>
          <a:ln w="12700">
            <a:solidFill>
              <a:srgbClr val="48515C"/>
            </a:solidFill>
            <a:prstDash val="solid"/>
          </a:ln>
        </p:spPr>
      </p:sp>
      <p:sp>
        <p:nvSpPr>
          <p:cNvPr id="6" name="signal-lamp-0"/>
          <p:cNvSpPr/>
          <p:nvPr/>
        </p:nvSpPr>
        <p:spPr>
          <a:xfrm>
            <a:off x="9883750" y="2054657"/>
            <a:ext cx="694944" cy="694944"/>
          </a:xfrm>
          <a:prstGeom prst="ellipse">
            <a:avLst/>
          </a:prstGeom>
          <a:solidFill>
            <a:srgbClr val="C8443A">
              <a:alpha val="22000"/>
            </a:srgbClr>
          </a:solidFill>
          <a:ln w="6350">
            <a:solidFill>
              <a:srgbClr val="C8443A">
                <a:alpha val="40000"/>
              </a:srgbClr>
            </a:solidFill>
            <a:prstDash val="solid"/>
          </a:ln>
        </p:spPr>
      </p:sp>
      <p:sp>
        <p:nvSpPr>
          <p:cNvPr id="7" name="signal-lamp-1"/>
          <p:cNvSpPr/>
          <p:nvPr/>
        </p:nvSpPr>
        <p:spPr>
          <a:xfrm>
            <a:off x="9883750" y="2958084"/>
            <a:ext cx="694944" cy="694944"/>
          </a:xfrm>
          <a:prstGeom prst="ellipse">
            <a:avLst/>
          </a:prstGeom>
          <a:solidFill>
            <a:srgbClr val="D9930D"/>
          </a:solidFill>
          <a:ln w="6350">
            <a:solidFill>
              <a:srgbClr val="D9930D"/>
            </a:solidFill>
            <a:prstDash val="solid"/>
          </a:ln>
        </p:spPr>
      </p:sp>
      <p:sp>
        <p:nvSpPr>
          <p:cNvPr id="8" name="signal-lamp-2"/>
          <p:cNvSpPr/>
          <p:nvPr/>
        </p:nvSpPr>
        <p:spPr>
          <a:xfrm>
            <a:off x="9883750" y="3861511"/>
            <a:ext cx="694944" cy="694944"/>
          </a:xfrm>
          <a:prstGeom prst="ellipse">
            <a:avLst/>
          </a:prstGeom>
          <a:solidFill>
            <a:srgbClr val="2E8B57">
              <a:alpha val="22000"/>
            </a:srgbClr>
          </a:solidFill>
          <a:ln w="6350">
            <a:solidFill>
              <a:srgbClr val="2E8B57">
                <a:alpha val="40000"/>
              </a:srgbClr>
            </a:solidFill>
            <a:prstDash val="solid"/>
          </a:ln>
        </p:spPr>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5486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BACKUP</a:t>
            </a:r>
            <a:endParaRPr lang="en-US" sz="1100" dirty="0"/>
          </a:p>
        </p:txBody>
      </p:sp>
      <p:sp>
        <p:nvSpPr>
          <p:cNvPr id="3" name="Text 0"/>
          <p:cNvSpPr/>
          <p:nvPr>
            <p:ph idx="101" type="title" hasCustomPrompt="1"/>
          </p:nvPr>
        </p:nvSpPr>
        <p:spPr>
          <a:xfrm>
            <a:off x="502920" y="566928"/>
            <a:ext cx="11185855" cy="658368"/>
          </a:xfrm>
          <a:prstGeom prst="rect">
            <a:avLst/>
          </a:prstGeom>
          <a:noFill/>
          <a:ln/>
        </p:spPr>
        <p:txBody>
          <a:bodyPr wrap="square" lIns="0" tIns="0" rIns="0" bIns="0" rtlCol="0" anchor="t"/>
          <a:lstStyle/>
          <a:p>
            <a:pPr indent="0" marL="0">
              <a:buNone/>
            </a:pPr>
            <a:r>
              <a:rPr lang="en-US" sz="2500" b="1" dirty="0">
                <a:solidFill>
                  <a:schemeClr val="tx1"/>
                </a:solidFill>
              </a:rPr>
              <a:t>References</a:t>
            </a:r>
            <a:endParaRPr lang="en-US" sz="2500" dirty="0"/>
          </a:p>
        </p:txBody>
      </p:sp>
      <p:sp>
        <p:nvSpPr>
          <p:cNvPr id="4" name="Text 2"/>
          <p:cNvSpPr txBox="1"/>
          <p:nvPr/>
        </p:nvSpPr>
        <p:spPr>
          <a:xfrm>
            <a:off x="502920" y="1417320"/>
            <a:ext cx="5669280" cy="274320"/>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Simulation, signal control and optimisation</a:t>
            </a:r>
            <a:endParaRPr lang="en-US" sz="1250" dirty="0"/>
          </a:p>
        </p:txBody>
      </p:sp>
      <p:sp>
        <p:nvSpPr>
          <p:cNvPr id="5" name="refs1"/>
          <p:cNvSpPr txBox="1"/>
          <p:nvPr/>
        </p:nvSpPr>
        <p:spPr>
          <a:xfrm>
            <a:off x="502920" y="1783080"/>
            <a:ext cx="5669280" cy="44805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Treiber, Hennecke &amp; Helbing (2000), Congested traffic states…, Phys. Rev. E 62(2); Treiber &amp; Kesting (2013), Traffic Flow Dynamics, Springer</a:t>
            </a:r>
            <a:endParaRPr lang="en-US" sz="1200" dirty="0"/>
          </a:p>
          <a:p>
            <a:pPr marL="177800" indent="-177800">
              <a:spcAft>
                <a:spcPts val="600"/>
              </a:spcAft>
              <a:buSzPct val="100000"/>
              <a:buChar char="•"/>
            </a:pPr>
            <a:r>
              <a:rPr lang="en-US" sz="1200" dirty="0">
                <a:solidFill>
                  <a:schemeClr val="tx1"/>
                </a:solidFill>
              </a:rPr>
              <a:t>Gazis, Herman &amp; Maradudin (1960), The problem of the amber signal light in traffic flow, Operations Research 8(1)</a:t>
            </a:r>
            <a:endParaRPr lang="en-US" sz="1200" dirty="0"/>
          </a:p>
          <a:p>
            <a:pPr marL="177800" indent="-177800">
              <a:spcAft>
                <a:spcPts val="600"/>
              </a:spcAft>
              <a:buSzPct val="100000"/>
              <a:buChar char="•"/>
            </a:pPr>
            <a:r>
              <a:rPr lang="en-US" sz="1200" dirty="0">
                <a:solidFill>
                  <a:schemeClr val="tx1"/>
                </a:solidFill>
              </a:rPr>
              <a:t>Law (2015), Simulation Modeling and Analysis, 5th ed., ch. 11 (common random numbers)</a:t>
            </a:r>
            <a:endParaRPr lang="en-US" sz="1200" dirty="0"/>
          </a:p>
          <a:p>
            <a:pPr marL="177800" indent="-177800">
              <a:spcAft>
                <a:spcPts val="600"/>
              </a:spcAft>
              <a:buSzPct val="100000"/>
              <a:buChar char="•"/>
            </a:pPr>
            <a:r>
              <a:rPr lang="en-US" sz="1200" dirty="0">
                <a:solidFill>
                  <a:schemeClr val="tx1"/>
                </a:solidFill>
              </a:rPr>
              <a:t>Webster (1958), Traffic Signal Settings, Road Research Technical Paper 39, HMSO</a:t>
            </a:r>
            <a:endParaRPr lang="en-US" sz="1200" dirty="0"/>
          </a:p>
          <a:p>
            <a:pPr marL="177800" indent="-177800">
              <a:spcAft>
                <a:spcPts val="600"/>
              </a:spcAft>
              <a:buSzPct val="100000"/>
              <a:buChar char="•"/>
            </a:pPr>
            <a:r>
              <a:rPr lang="en-US" sz="1200" dirty="0">
                <a:solidFill>
                  <a:schemeClr val="tx1"/>
                </a:solidFill>
              </a:rPr>
              <a:t>Gazis &amp; Potts (1963), The oversaturated intersection; Aboudolas, Papageorgiou &amp; Kosmatopoulos (2009), Transp. Res. C 17(2)</a:t>
            </a:r>
            <a:endParaRPr lang="en-US" sz="1200" dirty="0"/>
          </a:p>
          <a:p>
            <a:pPr marL="177800" indent="-177800">
              <a:spcAft>
                <a:spcPts val="600"/>
              </a:spcAft>
              <a:buSzPct val="100000"/>
              <a:buChar char="•"/>
            </a:pPr>
            <a:r>
              <a:rPr lang="en-US" sz="1200" dirty="0">
                <a:solidFill>
                  <a:schemeClr val="tx1"/>
                </a:solidFill>
              </a:rPr>
              <a:t>Mayne, Rawlings, Rao &amp; Scokaert (2000), Constrained model predictive control, Automatica 36(6)</a:t>
            </a:r>
            <a:endParaRPr lang="en-US" sz="1200" dirty="0"/>
          </a:p>
          <a:p>
            <a:pPr marL="177800" indent="-177800">
              <a:spcAft>
                <a:spcPts val="600"/>
              </a:spcAft>
              <a:buSzPct val="100000"/>
              <a:buChar char="•"/>
            </a:pPr>
            <a:r>
              <a:rPr lang="en-US" sz="1200" dirty="0">
                <a:solidFill>
                  <a:schemeClr val="tx1"/>
                </a:solidFill>
              </a:rPr>
              <a:t>Varaiya (2013), Max pressure control of a network of signalized intersections, Transp. Res. C 36</a:t>
            </a:r>
            <a:endParaRPr lang="en-US" sz="1200" dirty="0"/>
          </a:p>
          <a:p>
            <a:pPr marL="177800" indent="-177800">
              <a:spcAft>
                <a:spcPts val="600"/>
              </a:spcAft>
              <a:buSzPct val="100000"/>
              <a:buChar char="•"/>
            </a:pPr>
            <a:r>
              <a:rPr lang="en-US" sz="1200" dirty="0">
                <a:solidFill>
                  <a:schemeClr val="tx1"/>
                </a:solidFill>
              </a:rPr>
              <a:t>Koonce et al. (2008), Traffic Signal Timing Manual, FHWA-HOP-08-024</a:t>
            </a:r>
            <a:endParaRPr lang="en-US" sz="1200" dirty="0"/>
          </a:p>
        </p:txBody>
      </p:sp>
      <p:sp>
        <p:nvSpPr>
          <p:cNvPr id="6" name="Text 4"/>
          <p:cNvSpPr txBox="1"/>
          <p:nvPr/>
        </p:nvSpPr>
        <p:spPr>
          <a:xfrm>
            <a:off x="6400800" y="1417320"/>
            <a:ext cx="5303520" cy="274320"/>
          </a:xfrm>
          <a:prstGeom prst="rect">
            <a:avLst/>
          </a:prstGeom>
          <a:noFill/>
          <a:ln/>
        </p:spPr>
        <p:txBody>
          <a:bodyPr wrap="square" lIns="0" tIns="0" rIns="0" bIns="0" rtlCol="0" anchor="t"/>
          <a:lstStyle/>
          <a:p>
            <a:pPr indent="0" marL="0">
              <a:buNone/>
            </a:pPr>
            <a:r>
              <a:rPr lang="en-US" sz="1250" b="1" dirty="0">
                <a:solidFill>
                  <a:schemeClr val="tx1"/>
                </a:solidFill>
                <a:latin typeface="Cambria" pitchFamily="34" charset="0"/>
                <a:ea typeface="Cambria" pitchFamily="34" charset="-122"/>
                <a:cs typeface="Cambria" pitchFamily="34" charset="-120"/>
              </a:rPr>
              <a:t>Forecasting and software</a:t>
            </a:r>
            <a:endParaRPr lang="en-US" sz="1250" dirty="0"/>
          </a:p>
        </p:txBody>
      </p:sp>
      <p:sp>
        <p:nvSpPr>
          <p:cNvPr id="7" name="refs2"/>
          <p:cNvSpPr txBox="1"/>
          <p:nvPr/>
        </p:nvSpPr>
        <p:spPr>
          <a:xfrm>
            <a:off x="6400800" y="1783080"/>
            <a:ext cx="5287975" cy="44805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Nelder &amp; Wedderburn (1972), Generalized linear models, JRSS A 135(3)</a:t>
            </a:r>
            <a:endParaRPr lang="en-US" sz="1200" dirty="0"/>
          </a:p>
          <a:p>
            <a:pPr marL="177800" indent="-177800">
              <a:spcAft>
                <a:spcPts val="600"/>
              </a:spcAft>
              <a:buSzPct val="100000"/>
              <a:buChar char="•"/>
            </a:pPr>
            <a:r>
              <a:rPr lang="en-US" sz="1200" dirty="0">
                <a:solidFill>
                  <a:schemeClr val="tx1"/>
                </a:solidFill>
              </a:rPr>
              <a:t>Ke et al. (2017), LightGBM, NeurIPS 30 (scikit-learn's HistGradientBoosting follows it)</a:t>
            </a:r>
            <a:endParaRPr lang="en-US" sz="1200" dirty="0"/>
          </a:p>
          <a:p>
            <a:pPr marL="177800" indent="-177800">
              <a:spcAft>
                <a:spcPts val="600"/>
              </a:spcAft>
              <a:buSzPct val="100000"/>
              <a:buChar char="•"/>
            </a:pPr>
            <a:r>
              <a:rPr lang="en-US" sz="1200" dirty="0">
                <a:solidFill>
                  <a:schemeClr val="tx1"/>
                </a:solidFill>
              </a:rPr>
              <a:t>Hyndman &amp; Athanasopoulos (2021), Forecasting: Principles and Practice, 3rd ed.</a:t>
            </a:r>
            <a:endParaRPr lang="en-US" sz="1200" dirty="0"/>
          </a:p>
          <a:p>
            <a:pPr marL="177800" indent="-177800">
              <a:spcAft>
                <a:spcPts val="600"/>
              </a:spcAft>
              <a:buSzPct val="100000"/>
              <a:buChar char="•"/>
            </a:pPr>
            <a:r>
              <a:rPr lang="en-US" sz="1200" dirty="0">
                <a:solidFill>
                  <a:schemeClr val="tx1"/>
                </a:solidFill>
              </a:rPr>
              <a:t>Diamond &amp; Boyd (2016), CVXPY, JMLR 17(83)</a:t>
            </a:r>
            <a:endParaRPr lang="en-US" sz="1200" dirty="0"/>
          </a:p>
          <a:p>
            <a:pPr marL="177800" indent="-177800">
              <a:spcAft>
                <a:spcPts val="600"/>
              </a:spcAft>
              <a:buSzPct val="100000"/>
              <a:buChar char="•"/>
            </a:pPr>
            <a:r>
              <a:rPr lang="en-US" sz="1200" dirty="0">
                <a:solidFill>
                  <a:schemeClr val="tx1"/>
                </a:solidFill>
              </a:rPr>
              <a:t>Goulart &amp; Chen (2024), Clarabel, arXiv:2405.12762</a:t>
            </a:r>
            <a:endParaRPr lang="en-US" sz="1200" dirty="0"/>
          </a:p>
          <a:p>
            <a:pPr marL="177800" indent="-177800">
              <a:spcAft>
                <a:spcPts val="600"/>
              </a:spcAft>
              <a:buSzPct val="100000"/>
              <a:buChar char="•"/>
            </a:pPr>
            <a:r>
              <a:rPr lang="en-US" sz="1200" dirty="0">
                <a:solidFill>
                  <a:schemeClr val="tx1"/>
                </a:solidFill>
              </a:rPr>
              <a:t>Pedregosa et al. (2011), Scikit-learn, JMLR 12</a:t>
            </a:r>
            <a:endParaRPr lang="en-US" sz="1200" dirty="0"/>
          </a:p>
          <a:p>
            <a:pPr marL="177800" indent="-177800">
              <a:spcAft>
                <a:spcPts val="600"/>
              </a:spcAft>
              <a:buSzPct val="100000"/>
              <a:buChar char="•"/>
            </a:pPr>
            <a:r>
              <a:rPr lang="en-US" sz="1200" dirty="0">
                <a:solidFill>
                  <a:schemeClr val="tx1"/>
                </a:solidFill>
              </a:rPr>
              <a:t>NumPy (Harris et al. 2020), SciPy (Virtanen et al. 2020), pandas, matplotlib</a:t>
            </a:r>
            <a:endParaRPr lang="en-US" sz="1200" dirty="0"/>
          </a:p>
        </p:txBody>
      </p:sp>
      <p:sp>
        <p:nvSpPr>
          <p:cNvPr id="25" name="Slide Number Placeholder 0"/>
          <p:cNvSpPr>
            <a:spLocks noGrp="1"/>
          </p:cNvSpPr>
          <p:nvPr>
            <p:ph type="sldNum" sz="quarter" idx="4294967295"/>
          </p:nvPr>
        </p:nvSpPr>
        <p:spPr>
          <a:xfrm>
            <a:off x="11140135" y="6473952"/>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A8794"/>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Signal">
  <a:themeElements>
    <a:clrScheme name="Signal">
      <a:dk1>
        <a:srgbClr val="1B1F24"/>
      </a:dk1>
      <a:lt1>
        <a:srgbClr val="FFFFFF"/>
      </a:lt1>
      <a:dk2>
        <a:srgbClr val="2B3440"/>
      </a:dk2>
      <a:lt2>
        <a:srgbClr val="F4F2EC"/>
      </a:lt2>
      <a:accent1>
        <a:srgbClr val="D9930D"/>
      </a:accent1>
      <a:accent2>
        <a:srgbClr val="2E8B57"/>
      </a:accent2>
      <a:accent3>
        <a:srgbClr val="C8443A"/>
      </a:accent3>
      <a:accent4>
        <a:srgbClr val="3A6EA5"/>
      </a:accent4>
      <a:accent5>
        <a:srgbClr val="7A8794"/>
      </a:accent5>
      <a:accent6>
        <a:srgbClr val="8E5BB5"/>
      </a:accent6>
      <a:hlink>
        <a:srgbClr val="3A6EA5"/>
      </a:hlink>
      <a:folHlink>
        <a:srgbClr val="8E5BB5"/>
      </a:folHlink>
    </a:clrScheme>
    <a:fontScheme name="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traffic signals from entrance counts</dc:title>
  <dc:subject>PptxGenJS Presentation</dc:subject>
  <dc:creator>Glen McKenzie</dc:creator>
  <cp:lastModifiedBy>Glen McKenzie</cp:lastModifiedBy>
  <cp:revision>1</cp:revision>
  <dcterms:created xsi:type="dcterms:W3CDTF">2026-10-27T19:02:51Z</dcterms:created>
  <dcterms:modified xsi:type="dcterms:W3CDTF">2026-10-27T19:02:51Z</dcterms:modified>
</cp:coreProperties>
</file>